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9" roundtripDataSignature="AMtx7mgc0Gc0RmnynR0YArcwWguKjxfr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1225F4-141A-4D9D-BF19-C0078CF44FF6}">
  <a:tblStyle styleId="{B61225F4-141A-4D9D-BF19-C0078CF44FF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3E9"/>
          </a:solidFill>
        </a:fill>
      </a:tcStyle>
    </a:wholeTbl>
    <a:band1H>
      <a:tcTxStyle/>
      <a:tcStyle>
        <a:fill>
          <a:solidFill>
            <a:srgbClr val="DEE7D0"/>
          </a:solidFill>
        </a:fill>
      </a:tcStyle>
    </a:band1H>
    <a:band2H>
      <a:tcTxStyle/>
    </a:band2H>
    <a:band1V>
      <a:tcTxStyle/>
      <a:tcStyle>
        <a:fill>
          <a:solidFill>
            <a:srgbClr val="DEE7D0"/>
          </a:solidFill>
        </a:fill>
      </a:tcStyle>
    </a:band1V>
    <a:band2V>
      <a:tcTxStyle/>
    </a:band2V>
    <a:lastCol>
      <a:tcTxStyle b="on" i="off">
        <a:font>
          <a:latin typeface="Calibri"/>
          <a:ea typeface="Calibri"/>
          <a:cs typeface="Calibri"/>
        </a:font>
        <a:schemeClr val="lt1"/>
      </a:tcTxStyle>
      <a:tcStyle>
        <a:fill>
          <a:solidFill>
            <a:schemeClr val="accent3"/>
          </a:solidFill>
        </a:fill>
      </a:tcStyle>
    </a:lastCol>
    <a:firstCol>
      <a:tcTxStyle b="on" i="off">
        <a:font>
          <a:latin typeface="Calibri"/>
          <a:ea typeface="Calibri"/>
          <a:cs typeface="Calibri"/>
        </a:font>
        <a:schemeClr val="lt1"/>
      </a:tcTxStyle>
      <a:tcStyle>
        <a:fill>
          <a:solidFill>
            <a:schemeClr val="accent3"/>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 styleId="{EB370B70-F218-4A60-A2C0-7AD5B634E1D6}"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1: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1:notes"/>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2: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2:notes"/>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3: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jpg"/><Relationship Id="rId3" Type="http://schemas.openxmlformats.org/officeDocument/2006/relationships/image" Target="../media/image41.jp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16" name="Shape 16"/>
        <p:cNvGrpSpPr/>
        <p:nvPr/>
      </p:nvGrpSpPr>
      <p:grpSpPr>
        <a:xfrm>
          <a:off x="0" y="0"/>
          <a:ext cx="0" cy="0"/>
          <a:chOff x="0" y="0"/>
          <a:chExt cx="0" cy="0"/>
        </a:xfrm>
      </p:grpSpPr>
      <p:pic>
        <p:nvPicPr>
          <p:cNvPr id="17" name="Google Shape;17;p14"/>
          <p:cNvPicPr preferRelativeResize="0"/>
          <p:nvPr/>
        </p:nvPicPr>
        <p:blipFill rotWithShape="1">
          <a:blip r:embed="rId2">
            <a:alphaModFix/>
          </a:blip>
          <a:srcRect b="0" l="0" r="0" t="0"/>
          <a:stretch/>
        </p:blipFill>
        <p:spPr>
          <a:xfrm>
            <a:off x="5091751" y="0"/>
            <a:ext cx="4052248" cy="5143500"/>
          </a:xfrm>
          <a:prstGeom prst="rect">
            <a:avLst/>
          </a:prstGeom>
          <a:noFill/>
          <a:ln>
            <a:noFill/>
          </a:ln>
        </p:spPr>
      </p:pic>
      <p:pic>
        <p:nvPicPr>
          <p:cNvPr id="18" name="Google Shape;18;p14"/>
          <p:cNvPicPr preferRelativeResize="0"/>
          <p:nvPr/>
        </p:nvPicPr>
        <p:blipFill rotWithShape="1">
          <a:blip r:embed="rId3">
            <a:alphaModFix/>
          </a:blip>
          <a:srcRect b="0" l="0" r="0" t="0"/>
          <a:stretch/>
        </p:blipFill>
        <p:spPr>
          <a:xfrm>
            <a:off x="0" y="0"/>
            <a:ext cx="5403432" cy="5141640"/>
          </a:xfrm>
          <a:prstGeom prst="rect">
            <a:avLst/>
          </a:prstGeom>
          <a:noFill/>
          <a:ln>
            <a:noFill/>
          </a:ln>
        </p:spPr>
      </p:pic>
      <p:sp>
        <p:nvSpPr>
          <p:cNvPr id="19" name="Google Shape;19;p14"/>
          <p:cNvSpPr/>
          <p:nvPr/>
        </p:nvSpPr>
        <p:spPr>
          <a:xfrm>
            <a:off x="0" y="4888991"/>
            <a:ext cx="9144000" cy="254509"/>
          </a:xfrm>
          <a:custGeom>
            <a:rect b="b" l="l" r="r" t="t"/>
            <a:pathLst>
              <a:path extrusionOk="0" h="247650" w="9144000">
                <a:moveTo>
                  <a:pt x="0" y="0"/>
                </a:moveTo>
                <a:lnTo>
                  <a:pt x="9144000" y="0"/>
                </a:lnTo>
                <a:lnTo>
                  <a:pt x="9144000" y="247650"/>
                </a:lnTo>
                <a:lnTo>
                  <a:pt x="0" y="247650"/>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0" name="Google Shape;20;p14"/>
          <p:cNvPicPr preferRelativeResize="0"/>
          <p:nvPr/>
        </p:nvPicPr>
        <p:blipFill rotWithShape="1">
          <a:blip r:embed="rId4">
            <a:alphaModFix/>
          </a:blip>
          <a:srcRect b="0" l="0" r="0" t="0"/>
          <a:stretch/>
        </p:blipFill>
        <p:spPr>
          <a:xfrm>
            <a:off x="1213103" y="3337559"/>
            <a:ext cx="6815328" cy="1551432"/>
          </a:xfrm>
          <a:prstGeom prst="rect">
            <a:avLst/>
          </a:prstGeom>
          <a:noFill/>
          <a:ln>
            <a:noFill/>
          </a:ln>
        </p:spPr>
      </p:pic>
      <p:sp>
        <p:nvSpPr>
          <p:cNvPr id="21" name="Google Shape;21;p14"/>
          <p:cNvSpPr/>
          <p:nvPr/>
        </p:nvSpPr>
        <p:spPr>
          <a:xfrm>
            <a:off x="1613918" y="3628663"/>
            <a:ext cx="5960745" cy="931544"/>
          </a:xfrm>
          <a:custGeom>
            <a:rect b="b" l="l" r="r" t="t"/>
            <a:pathLst>
              <a:path extrusionOk="0" h="931545" w="5960745">
                <a:moveTo>
                  <a:pt x="5494897" y="0"/>
                </a:moveTo>
                <a:lnTo>
                  <a:pt x="465721" y="0"/>
                </a:lnTo>
                <a:lnTo>
                  <a:pt x="418104" y="2404"/>
                </a:lnTo>
                <a:lnTo>
                  <a:pt x="371862" y="9461"/>
                </a:lnTo>
                <a:lnTo>
                  <a:pt x="327230" y="20937"/>
                </a:lnTo>
                <a:lnTo>
                  <a:pt x="284441" y="36598"/>
                </a:lnTo>
                <a:lnTo>
                  <a:pt x="243730" y="56210"/>
                </a:lnTo>
                <a:lnTo>
                  <a:pt x="205331" y="79538"/>
                </a:lnTo>
                <a:lnTo>
                  <a:pt x="169479" y="106348"/>
                </a:lnTo>
                <a:lnTo>
                  <a:pt x="136406" y="136406"/>
                </a:lnTo>
                <a:lnTo>
                  <a:pt x="106347" y="169479"/>
                </a:lnTo>
                <a:lnTo>
                  <a:pt x="79537" y="205332"/>
                </a:lnTo>
                <a:lnTo>
                  <a:pt x="56209" y="243731"/>
                </a:lnTo>
                <a:lnTo>
                  <a:pt x="36598" y="284441"/>
                </a:lnTo>
                <a:lnTo>
                  <a:pt x="20937" y="327230"/>
                </a:lnTo>
                <a:lnTo>
                  <a:pt x="9461" y="371862"/>
                </a:lnTo>
                <a:lnTo>
                  <a:pt x="2404" y="418104"/>
                </a:lnTo>
                <a:lnTo>
                  <a:pt x="0" y="465715"/>
                </a:lnTo>
                <a:lnTo>
                  <a:pt x="2404" y="513332"/>
                </a:lnTo>
                <a:lnTo>
                  <a:pt x="9461" y="559574"/>
                </a:lnTo>
                <a:lnTo>
                  <a:pt x="20937" y="604207"/>
                </a:lnTo>
                <a:lnTo>
                  <a:pt x="36598" y="646995"/>
                </a:lnTo>
                <a:lnTo>
                  <a:pt x="56209" y="687706"/>
                </a:lnTo>
                <a:lnTo>
                  <a:pt x="79537" y="726105"/>
                </a:lnTo>
                <a:lnTo>
                  <a:pt x="106347" y="761958"/>
                </a:lnTo>
                <a:lnTo>
                  <a:pt x="136406" y="795031"/>
                </a:lnTo>
                <a:lnTo>
                  <a:pt x="169479" y="825089"/>
                </a:lnTo>
                <a:lnTo>
                  <a:pt x="205331" y="851900"/>
                </a:lnTo>
                <a:lnTo>
                  <a:pt x="243730" y="875228"/>
                </a:lnTo>
                <a:lnTo>
                  <a:pt x="284441" y="894839"/>
                </a:lnTo>
                <a:lnTo>
                  <a:pt x="327230" y="910500"/>
                </a:lnTo>
                <a:lnTo>
                  <a:pt x="371862" y="921976"/>
                </a:lnTo>
                <a:lnTo>
                  <a:pt x="418104" y="929033"/>
                </a:lnTo>
                <a:lnTo>
                  <a:pt x="465721" y="931438"/>
                </a:lnTo>
                <a:lnTo>
                  <a:pt x="5494891" y="931444"/>
                </a:lnTo>
                <a:lnTo>
                  <a:pt x="5542508" y="929040"/>
                </a:lnTo>
                <a:lnTo>
                  <a:pt x="5588750" y="921982"/>
                </a:lnTo>
                <a:lnTo>
                  <a:pt x="5633382" y="910506"/>
                </a:lnTo>
                <a:lnTo>
                  <a:pt x="5676170" y="894845"/>
                </a:lnTo>
                <a:lnTo>
                  <a:pt x="5716881" y="875234"/>
                </a:lnTo>
                <a:lnTo>
                  <a:pt x="5755280" y="851906"/>
                </a:lnTo>
                <a:lnTo>
                  <a:pt x="5791133" y="825096"/>
                </a:lnTo>
                <a:lnTo>
                  <a:pt x="5824206" y="795037"/>
                </a:lnTo>
                <a:lnTo>
                  <a:pt x="5854264" y="761964"/>
                </a:lnTo>
                <a:lnTo>
                  <a:pt x="5881074" y="726111"/>
                </a:lnTo>
                <a:lnTo>
                  <a:pt x="5904402" y="687712"/>
                </a:lnTo>
                <a:lnTo>
                  <a:pt x="5924014" y="647002"/>
                </a:lnTo>
                <a:lnTo>
                  <a:pt x="5939674" y="604213"/>
                </a:lnTo>
                <a:lnTo>
                  <a:pt x="5951151" y="559581"/>
                </a:lnTo>
                <a:lnTo>
                  <a:pt x="5958208" y="513339"/>
                </a:lnTo>
                <a:lnTo>
                  <a:pt x="5960619" y="465721"/>
                </a:lnTo>
                <a:lnTo>
                  <a:pt x="5958214" y="418104"/>
                </a:lnTo>
                <a:lnTo>
                  <a:pt x="5951157" y="371862"/>
                </a:lnTo>
                <a:lnTo>
                  <a:pt x="5939681" y="327230"/>
                </a:lnTo>
                <a:lnTo>
                  <a:pt x="5924020" y="284441"/>
                </a:lnTo>
                <a:lnTo>
                  <a:pt x="5904409" y="243731"/>
                </a:lnTo>
                <a:lnTo>
                  <a:pt x="5881081" y="205332"/>
                </a:lnTo>
                <a:lnTo>
                  <a:pt x="5854270" y="169479"/>
                </a:lnTo>
                <a:lnTo>
                  <a:pt x="5824212" y="136406"/>
                </a:lnTo>
                <a:lnTo>
                  <a:pt x="5791139" y="106348"/>
                </a:lnTo>
                <a:lnTo>
                  <a:pt x="5755286" y="79538"/>
                </a:lnTo>
                <a:lnTo>
                  <a:pt x="5716887" y="56210"/>
                </a:lnTo>
                <a:lnTo>
                  <a:pt x="5676177" y="36598"/>
                </a:lnTo>
                <a:lnTo>
                  <a:pt x="5633388" y="20937"/>
                </a:lnTo>
                <a:lnTo>
                  <a:pt x="5588756" y="9461"/>
                </a:lnTo>
                <a:lnTo>
                  <a:pt x="5542514" y="2404"/>
                </a:lnTo>
                <a:lnTo>
                  <a:pt x="5494897" y="0"/>
                </a:lnTo>
                <a:close/>
              </a:path>
            </a:pathLst>
          </a:custGeom>
          <a:solidFill>
            <a:srgbClr val="20AAA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 name="Google Shape;22;p14"/>
          <p:cNvSpPr txBox="1"/>
          <p:nvPr>
            <p:ph idx="11" type="ftr"/>
          </p:nvPr>
        </p:nvSpPr>
        <p:spPr>
          <a:xfrm>
            <a:off x="4163942" y="4931490"/>
            <a:ext cx="946150" cy="180339"/>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0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15"/>
          <p:cNvSpPr txBox="1"/>
          <p:nvPr>
            <p:ph type="title"/>
          </p:nvPr>
        </p:nvSpPr>
        <p:spPr>
          <a:xfrm>
            <a:off x="1365784" y="311403"/>
            <a:ext cx="3212465" cy="2692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600">
                <a:solidFill>
                  <a:srgbClr val="38B3BF"/>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body"/>
          </p:nvPr>
        </p:nvSpPr>
        <p:spPr>
          <a:xfrm>
            <a:off x="1032307" y="1628179"/>
            <a:ext cx="5226685" cy="30480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5"/>
          <p:cNvSpPr txBox="1"/>
          <p:nvPr>
            <p:ph idx="11" type="ftr"/>
          </p:nvPr>
        </p:nvSpPr>
        <p:spPr>
          <a:xfrm>
            <a:off x="4163942" y="4931490"/>
            <a:ext cx="946150" cy="180339"/>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0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a:p>
        </p:txBody>
      </p:sp>
      <p:sp>
        <p:nvSpPr>
          <p:cNvPr id="31" name="Google Shape;31;p15"/>
          <p:cNvSpPr txBox="1"/>
          <p:nvPr/>
        </p:nvSpPr>
        <p:spPr>
          <a:xfrm rot="-5400000">
            <a:off x="-584813" y="1283990"/>
            <a:ext cx="1815027" cy="153888"/>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s-ES" sz="1000">
                <a:solidFill>
                  <a:schemeClr val="dk1"/>
                </a:solidFill>
                <a:latin typeface="Verdana"/>
                <a:ea typeface="Verdana"/>
                <a:cs typeface="Verdana"/>
                <a:sym typeface="Verdana"/>
              </a:rPr>
              <a:t>Transversales  CF</a:t>
            </a:r>
            <a:endParaRPr b="1" sz="1000">
              <a:solidFill>
                <a:schemeClr val="dk1"/>
              </a:solidFill>
              <a:latin typeface="Verdana"/>
              <a:ea typeface="Verdana"/>
              <a:cs typeface="Verdana"/>
              <a:sym typeface="Verdan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2" name="Shape 32"/>
        <p:cNvGrpSpPr/>
        <p:nvPr/>
      </p:nvGrpSpPr>
      <p:grpSpPr>
        <a:xfrm>
          <a:off x="0" y="0"/>
          <a:ext cx="0" cy="0"/>
          <a:chOff x="0" y="0"/>
          <a:chExt cx="0" cy="0"/>
        </a:xfrm>
      </p:grpSpPr>
      <p:sp>
        <p:nvSpPr>
          <p:cNvPr id="33" name="Google Shape;33;p16"/>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600">
                <a:solidFill>
                  <a:srgbClr val="38B3BF"/>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6"/>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1" type="ftr"/>
          </p:nvPr>
        </p:nvSpPr>
        <p:spPr>
          <a:xfrm>
            <a:off x="4163942" y="4931490"/>
            <a:ext cx="946150" cy="180339"/>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0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8" name="Shape 38"/>
        <p:cNvGrpSpPr/>
        <p:nvPr/>
      </p:nvGrpSpPr>
      <p:grpSpPr>
        <a:xfrm>
          <a:off x="0" y="0"/>
          <a:ext cx="0" cy="0"/>
          <a:chOff x="0" y="0"/>
          <a:chExt cx="0" cy="0"/>
        </a:xfrm>
      </p:grpSpPr>
      <p:sp>
        <p:nvSpPr>
          <p:cNvPr id="39" name="Google Shape;39;p17"/>
          <p:cNvSpPr txBox="1"/>
          <p:nvPr>
            <p:ph type="title"/>
          </p:nvPr>
        </p:nvSpPr>
        <p:spPr>
          <a:xfrm>
            <a:off x="1365784" y="311403"/>
            <a:ext cx="3212465" cy="2692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600">
                <a:solidFill>
                  <a:srgbClr val="38B3BF"/>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7"/>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7"/>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17"/>
          <p:cNvSpPr txBox="1"/>
          <p:nvPr>
            <p:ph idx="11" type="ftr"/>
          </p:nvPr>
        </p:nvSpPr>
        <p:spPr>
          <a:xfrm>
            <a:off x="4163942" y="4931490"/>
            <a:ext cx="946150" cy="180339"/>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0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5" name="Shape 45"/>
        <p:cNvGrpSpPr/>
        <p:nvPr/>
      </p:nvGrpSpPr>
      <p:grpSpPr>
        <a:xfrm>
          <a:off x="0" y="0"/>
          <a:ext cx="0" cy="0"/>
          <a:chOff x="0" y="0"/>
          <a:chExt cx="0" cy="0"/>
        </a:xfrm>
      </p:grpSpPr>
      <p:sp>
        <p:nvSpPr>
          <p:cNvPr id="46" name="Google Shape;46;p18"/>
          <p:cNvSpPr txBox="1"/>
          <p:nvPr>
            <p:ph type="title"/>
          </p:nvPr>
        </p:nvSpPr>
        <p:spPr>
          <a:xfrm>
            <a:off x="1365784" y="311403"/>
            <a:ext cx="3212465" cy="2692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600">
                <a:solidFill>
                  <a:srgbClr val="38B3BF"/>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1" type="ftr"/>
          </p:nvPr>
        </p:nvSpPr>
        <p:spPr>
          <a:xfrm>
            <a:off x="4163942" y="4931490"/>
            <a:ext cx="946150" cy="180339"/>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000">
                <a:solidFill>
                  <a:schemeClr val="dk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p:nvPr/>
        </p:nvSpPr>
        <p:spPr>
          <a:xfrm>
            <a:off x="0" y="4895849"/>
            <a:ext cx="9144000" cy="247650"/>
          </a:xfrm>
          <a:custGeom>
            <a:rect b="b" l="l" r="r" t="t"/>
            <a:pathLst>
              <a:path extrusionOk="0" h="247650" w="9144000">
                <a:moveTo>
                  <a:pt x="0" y="0"/>
                </a:moveTo>
                <a:lnTo>
                  <a:pt x="9144000" y="0"/>
                </a:lnTo>
                <a:lnTo>
                  <a:pt x="9144000" y="247650"/>
                </a:lnTo>
                <a:lnTo>
                  <a:pt x="0" y="247650"/>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 name="Google Shape;11;p13"/>
          <p:cNvSpPr txBox="1"/>
          <p:nvPr>
            <p:ph type="title"/>
          </p:nvPr>
        </p:nvSpPr>
        <p:spPr>
          <a:xfrm>
            <a:off x="1365784" y="311403"/>
            <a:ext cx="3212465" cy="26924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600" u="none" cap="none" strike="noStrike">
                <a:solidFill>
                  <a:srgbClr val="38B3BF"/>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3"/>
          <p:cNvSpPr txBox="1"/>
          <p:nvPr>
            <p:ph idx="1" type="body"/>
          </p:nvPr>
        </p:nvSpPr>
        <p:spPr>
          <a:xfrm>
            <a:off x="1032307" y="1628179"/>
            <a:ext cx="5226685" cy="30480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3" name="Google Shape;13;p13"/>
          <p:cNvSpPr txBox="1"/>
          <p:nvPr>
            <p:ph idx="11" type="ftr"/>
          </p:nvPr>
        </p:nvSpPr>
        <p:spPr>
          <a:xfrm>
            <a:off x="4163942" y="4931490"/>
            <a:ext cx="946150" cy="180339"/>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000">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17.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5.png"/><Relationship Id="rId11" Type="http://schemas.openxmlformats.org/officeDocument/2006/relationships/image" Target="../media/image2.png"/><Relationship Id="rId10" Type="http://schemas.openxmlformats.org/officeDocument/2006/relationships/image" Target="../media/image6.png"/><Relationship Id="rId12" Type="http://schemas.openxmlformats.org/officeDocument/2006/relationships/image" Target="../media/image34.png"/><Relationship Id="rId9"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7.png"/><Relationship Id="rId7" Type="http://schemas.openxmlformats.org/officeDocument/2006/relationships/image" Target="../media/image34.png"/><Relationship Id="rId8"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30.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23.png"/><Relationship Id="rId8"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27.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29.png"/><Relationship Id="rId8"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4.png"/><Relationship Id="rId10" Type="http://schemas.openxmlformats.org/officeDocument/2006/relationships/image" Target="../media/image30.png"/><Relationship Id="rId9" Type="http://schemas.openxmlformats.org/officeDocument/2006/relationships/image" Target="../media/image32.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36.jpg"/><Relationship Id="rId8"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35.png"/><Relationship Id="rId7" Type="http://schemas.openxmlformats.org/officeDocument/2006/relationships/image" Target="../media/image39.png"/><Relationship Id="rId8"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accent1"/>
        </a:solidFill>
      </p:bgPr>
    </p:bg>
    <p:spTree>
      <p:nvGrpSpPr>
        <p:cNvPr id="54" name="Shape 54"/>
        <p:cNvGrpSpPr/>
        <p:nvPr/>
      </p:nvGrpSpPr>
      <p:grpSpPr>
        <a:xfrm>
          <a:off x="0" y="0"/>
          <a:ext cx="0" cy="0"/>
          <a:chOff x="0" y="0"/>
          <a:chExt cx="0" cy="0"/>
        </a:xfrm>
      </p:grpSpPr>
      <p:pic>
        <p:nvPicPr>
          <p:cNvPr id="55" name="Google Shape;55;p1"/>
          <p:cNvPicPr preferRelativeResize="0"/>
          <p:nvPr/>
        </p:nvPicPr>
        <p:blipFill rotWithShape="1">
          <a:blip r:embed="rId3">
            <a:alphaModFix/>
          </a:blip>
          <a:srcRect b="9668" l="7075" r="5333" t="0"/>
          <a:stretch/>
        </p:blipFill>
        <p:spPr>
          <a:xfrm>
            <a:off x="-1" y="0"/>
            <a:ext cx="9144001" cy="5143500"/>
          </a:xfrm>
          <a:prstGeom prst="rect">
            <a:avLst/>
          </a:prstGeom>
          <a:noFill/>
          <a:ln>
            <a:noFill/>
          </a:ln>
        </p:spPr>
      </p:pic>
      <p:sp>
        <p:nvSpPr>
          <p:cNvPr id="56" name="Google Shape;56;p1"/>
          <p:cNvSpPr/>
          <p:nvPr/>
        </p:nvSpPr>
        <p:spPr>
          <a:xfrm>
            <a:off x="151203" y="2571750"/>
            <a:ext cx="369570" cy="2241215"/>
          </a:xfrm>
          <a:custGeom>
            <a:rect b="b" l="l" r="r" t="t"/>
            <a:pathLst>
              <a:path extrusionOk="0" h="2493010" w="369570">
                <a:moveTo>
                  <a:pt x="369332" y="0"/>
                </a:moveTo>
                <a:lnTo>
                  <a:pt x="0" y="0"/>
                </a:lnTo>
                <a:lnTo>
                  <a:pt x="0" y="2492402"/>
                </a:lnTo>
                <a:lnTo>
                  <a:pt x="369332" y="2492402"/>
                </a:lnTo>
                <a:lnTo>
                  <a:pt x="369332" y="0"/>
                </a:lnTo>
                <a:close/>
              </a:path>
            </a:pathLst>
          </a:custGeom>
          <a:solidFill>
            <a:srgbClr val="FFFFFF">
              <a:alpha val="7058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 name="Google Shape;57;p1"/>
          <p:cNvSpPr txBox="1"/>
          <p:nvPr/>
        </p:nvSpPr>
        <p:spPr>
          <a:xfrm rot="-5400000">
            <a:off x="-1409242" y="2865793"/>
            <a:ext cx="3455885" cy="276999"/>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s-ES" sz="1800">
                <a:solidFill>
                  <a:schemeClr val="dk1"/>
                </a:solidFill>
                <a:latin typeface="Verdana"/>
                <a:ea typeface="Verdana"/>
                <a:cs typeface="Verdana"/>
                <a:sym typeface="Verdana"/>
              </a:rPr>
              <a:t>Transversales  CF</a:t>
            </a:r>
            <a:endParaRPr b="1" sz="1800">
              <a:solidFill>
                <a:schemeClr val="dk1"/>
              </a:solidFill>
              <a:latin typeface="Verdana"/>
              <a:ea typeface="Verdana"/>
              <a:cs typeface="Verdana"/>
              <a:sym typeface="Verdana"/>
            </a:endParaRPr>
          </a:p>
        </p:txBody>
      </p:sp>
      <p:sp>
        <p:nvSpPr>
          <p:cNvPr id="58" name="Google Shape;58;p1"/>
          <p:cNvSpPr/>
          <p:nvPr/>
        </p:nvSpPr>
        <p:spPr>
          <a:xfrm>
            <a:off x="2753956" y="3638550"/>
            <a:ext cx="3775727" cy="943570"/>
          </a:xfrm>
          <a:prstGeom prst="roundRect">
            <a:avLst>
              <a:gd fmla="val 16667" name="adj"/>
            </a:avLst>
          </a:prstGeom>
          <a:solidFill>
            <a:srgbClr val="20AAAF"/>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59" name="Google Shape;59;p1"/>
          <p:cNvSpPr txBox="1"/>
          <p:nvPr/>
        </p:nvSpPr>
        <p:spPr>
          <a:xfrm>
            <a:off x="3038521" y="3703637"/>
            <a:ext cx="3276600" cy="795089"/>
          </a:xfrm>
          <a:prstGeom prst="rect">
            <a:avLst/>
          </a:prstGeom>
          <a:noFill/>
          <a:ln>
            <a:noFill/>
          </a:ln>
        </p:spPr>
        <p:txBody>
          <a:bodyPr anchorCtr="0" anchor="t" bIns="0" lIns="0" spcFirstLastPara="1" rIns="0" wrap="square" tIns="12700">
            <a:spAutoFit/>
          </a:bodyPr>
          <a:lstStyle/>
          <a:p>
            <a:pPr indent="-457200" lvl="0" marL="469900" marR="5080" rtl="0" algn="l">
              <a:lnSpc>
                <a:spcPct val="100000"/>
              </a:lnSpc>
              <a:spcBef>
                <a:spcPts val="0"/>
              </a:spcBef>
              <a:spcAft>
                <a:spcPts val="0"/>
              </a:spcAft>
              <a:buClr>
                <a:schemeClr val="lt1"/>
              </a:buClr>
              <a:buSzPts val="2500"/>
              <a:buFont typeface="Verdana"/>
              <a:buAutoNum type="arabicPeriod"/>
            </a:pPr>
            <a:r>
              <a:rPr lang="es-ES" sz="2500">
                <a:solidFill>
                  <a:schemeClr val="lt1"/>
                </a:solidFill>
                <a:latin typeface="Verdana"/>
                <a:ea typeface="Verdana"/>
                <a:cs typeface="Verdana"/>
                <a:sym typeface="Verdana"/>
              </a:rPr>
              <a:t>La sostenibilidad</a:t>
            </a:r>
            <a:endParaRPr/>
          </a:p>
          <a:p>
            <a:pPr indent="0" lvl="0" marL="12700" marR="5080" rtl="0" algn="l">
              <a:lnSpc>
                <a:spcPct val="100000"/>
              </a:lnSpc>
              <a:spcBef>
                <a:spcPts val="100"/>
              </a:spcBef>
              <a:spcAft>
                <a:spcPts val="0"/>
              </a:spcAft>
              <a:buNone/>
            </a:pPr>
            <a:r>
              <a:rPr lang="es-ES" sz="2500">
                <a:solidFill>
                  <a:schemeClr val="lt1"/>
                </a:solidFill>
                <a:latin typeface="Verdana"/>
                <a:ea typeface="Verdana"/>
                <a:cs typeface="Verdana"/>
                <a:sym typeface="Verdana"/>
              </a:rPr>
              <a:t>y sus retos</a:t>
            </a:r>
            <a:endParaRPr/>
          </a:p>
        </p:txBody>
      </p:sp>
      <p:grpSp>
        <p:nvGrpSpPr>
          <p:cNvPr id="60" name="Google Shape;60;p1"/>
          <p:cNvGrpSpPr/>
          <p:nvPr/>
        </p:nvGrpSpPr>
        <p:grpSpPr>
          <a:xfrm>
            <a:off x="4156100" y="159295"/>
            <a:ext cx="831850" cy="852169"/>
            <a:chOff x="4156100" y="159295"/>
            <a:chExt cx="831850" cy="852169"/>
          </a:xfrm>
        </p:grpSpPr>
        <p:sp>
          <p:nvSpPr>
            <p:cNvPr id="61" name="Google Shape;61;p1"/>
            <p:cNvSpPr/>
            <p:nvPr/>
          </p:nvSpPr>
          <p:spPr>
            <a:xfrm>
              <a:off x="4156100" y="159295"/>
              <a:ext cx="831850" cy="852169"/>
            </a:xfrm>
            <a:custGeom>
              <a:rect b="b" l="l" r="r" t="t"/>
              <a:pathLst>
                <a:path extrusionOk="0" h="852169" w="831850">
                  <a:moveTo>
                    <a:pt x="831587" y="0"/>
                  </a:moveTo>
                  <a:lnTo>
                    <a:pt x="0" y="0"/>
                  </a:lnTo>
                  <a:lnTo>
                    <a:pt x="0" y="851841"/>
                  </a:lnTo>
                  <a:lnTo>
                    <a:pt x="831587" y="851841"/>
                  </a:lnTo>
                  <a:lnTo>
                    <a:pt x="831587"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 name="Google Shape;62;p1"/>
            <p:cNvSpPr/>
            <p:nvPr/>
          </p:nvSpPr>
          <p:spPr>
            <a:xfrm>
              <a:off x="4223890" y="228132"/>
              <a:ext cx="257175" cy="207010"/>
            </a:xfrm>
            <a:custGeom>
              <a:rect b="b" l="l" r="r" t="t"/>
              <a:pathLst>
                <a:path extrusionOk="0" h="207009" w="257175">
                  <a:moveTo>
                    <a:pt x="234262" y="0"/>
                  </a:moveTo>
                  <a:lnTo>
                    <a:pt x="176598" y="0"/>
                  </a:lnTo>
                  <a:lnTo>
                    <a:pt x="129349" y="142133"/>
                  </a:lnTo>
                  <a:lnTo>
                    <a:pt x="78854" y="0"/>
                  </a:lnTo>
                  <a:lnTo>
                    <a:pt x="21178" y="0"/>
                  </a:lnTo>
                  <a:lnTo>
                    <a:pt x="0" y="206543"/>
                  </a:lnTo>
                  <a:lnTo>
                    <a:pt x="47242" y="206543"/>
                  </a:lnTo>
                  <a:lnTo>
                    <a:pt x="57022" y="68751"/>
                  </a:lnTo>
                  <a:lnTo>
                    <a:pt x="104583" y="206543"/>
                  </a:lnTo>
                  <a:lnTo>
                    <a:pt x="148902" y="206543"/>
                  </a:lnTo>
                  <a:lnTo>
                    <a:pt x="194190" y="69047"/>
                  </a:lnTo>
                  <a:lnTo>
                    <a:pt x="206894" y="206543"/>
                  </a:lnTo>
                  <a:lnTo>
                    <a:pt x="256741" y="206543"/>
                  </a:lnTo>
                  <a:lnTo>
                    <a:pt x="23426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3" name="Google Shape;63;p1"/>
            <p:cNvPicPr preferRelativeResize="0"/>
            <p:nvPr/>
          </p:nvPicPr>
          <p:blipFill rotWithShape="1">
            <a:blip r:embed="rId4">
              <a:alphaModFix/>
            </a:blip>
            <a:srcRect b="0" l="0" r="0" t="0"/>
            <a:stretch/>
          </p:blipFill>
          <p:spPr>
            <a:xfrm>
              <a:off x="4504283" y="276444"/>
              <a:ext cx="137537" cy="162864"/>
            </a:xfrm>
            <a:prstGeom prst="rect">
              <a:avLst/>
            </a:prstGeom>
            <a:noFill/>
            <a:ln>
              <a:noFill/>
            </a:ln>
          </p:spPr>
        </p:pic>
        <p:sp>
          <p:nvSpPr>
            <p:cNvPr id="64" name="Google Shape;64;p1"/>
            <p:cNvSpPr/>
            <p:nvPr/>
          </p:nvSpPr>
          <p:spPr>
            <a:xfrm>
              <a:off x="4223905" y="732129"/>
              <a:ext cx="433070" cy="210185"/>
            </a:xfrm>
            <a:custGeom>
              <a:rect b="b" l="l" r="r" t="t"/>
              <a:pathLst>
                <a:path extrusionOk="0" h="210184" w="433070">
                  <a:moveTo>
                    <a:pt x="166560" y="3200"/>
                  </a:moveTo>
                  <a:lnTo>
                    <a:pt x="116801" y="3200"/>
                  </a:lnTo>
                  <a:lnTo>
                    <a:pt x="116801" y="81940"/>
                  </a:lnTo>
                  <a:lnTo>
                    <a:pt x="49745" y="81940"/>
                  </a:lnTo>
                  <a:lnTo>
                    <a:pt x="49745" y="3200"/>
                  </a:lnTo>
                  <a:lnTo>
                    <a:pt x="0" y="3200"/>
                  </a:lnTo>
                  <a:lnTo>
                    <a:pt x="0" y="81940"/>
                  </a:lnTo>
                  <a:lnTo>
                    <a:pt x="0" y="122580"/>
                  </a:lnTo>
                  <a:lnTo>
                    <a:pt x="0" y="208940"/>
                  </a:lnTo>
                  <a:lnTo>
                    <a:pt x="49745" y="208940"/>
                  </a:lnTo>
                  <a:lnTo>
                    <a:pt x="49745" y="122580"/>
                  </a:lnTo>
                  <a:lnTo>
                    <a:pt x="116801" y="122580"/>
                  </a:lnTo>
                  <a:lnTo>
                    <a:pt x="116801" y="208940"/>
                  </a:lnTo>
                  <a:lnTo>
                    <a:pt x="166560" y="208940"/>
                  </a:lnTo>
                  <a:lnTo>
                    <a:pt x="166560" y="122580"/>
                  </a:lnTo>
                  <a:lnTo>
                    <a:pt x="166560" y="81940"/>
                  </a:lnTo>
                  <a:lnTo>
                    <a:pt x="166560" y="3200"/>
                  </a:lnTo>
                  <a:close/>
                </a:path>
                <a:path extrusionOk="0" h="210184" w="433070">
                  <a:moveTo>
                    <a:pt x="257022" y="76987"/>
                  </a:moveTo>
                  <a:lnTo>
                    <a:pt x="208495" y="76987"/>
                  </a:lnTo>
                  <a:lnTo>
                    <a:pt x="208495" y="209562"/>
                  </a:lnTo>
                  <a:lnTo>
                    <a:pt x="257022" y="209562"/>
                  </a:lnTo>
                  <a:lnTo>
                    <a:pt x="257022" y="76987"/>
                  </a:lnTo>
                  <a:close/>
                </a:path>
                <a:path extrusionOk="0" h="210184" w="433070">
                  <a:moveTo>
                    <a:pt x="258546" y="26543"/>
                  </a:moveTo>
                  <a:lnTo>
                    <a:pt x="256565" y="16129"/>
                  </a:lnTo>
                  <a:lnTo>
                    <a:pt x="251142" y="7696"/>
                  </a:lnTo>
                  <a:lnTo>
                    <a:pt x="243052" y="2057"/>
                  </a:lnTo>
                  <a:lnTo>
                    <a:pt x="233057" y="0"/>
                  </a:lnTo>
                  <a:lnTo>
                    <a:pt x="223024" y="2057"/>
                  </a:lnTo>
                  <a:lnTo>
                    <a:pt x="214820" y="7696"/>
                  </a:lnTo>
                  <a:lnTo>
                    <a:pt x="209308" y="16129"/>
                  </a:lnTo>
                  <a:lnTo>
                    <a:pt x="207276" y="26543"/>
                  </a:lnTo>
                  <a:lnTo>
                    <a:pt x="209308" y="37020"/>
                  </a:lnTo>
                  <a:lnTo>
                    <a:pt x="214820" y="45554"/>
                  </a:lnTo>
                  <a:lnTo>
                    <a:pt x="223024" y="51308"/>
                  </a:lnTo>
                  <a:lnTo>
                    <a:pt x="233057" y="53416"/>
                  </a:lnTo>
                  <a:lnTo>
                    <a:pt x="243052" y="51308"/>
                  </a:lnTo>
                  <a:lnTo>
                    <a:pt x="251142" y="45554"/>
                  </a:lnTo>
                  <a:lnTo>
                    <a:pt x="256565" y="37020"/>
                  </a:lnTo>
                  <a:lnTo>
                    <a:pt x="258546" y="26543"/>
                  </a:lnTo>
                  <a:close/>
                </a:path>
                <a:path extrusionOk="0" h="210184" w="433070">
                  <a:moveTo>
                    <a:pt x="344779" y="3022"/>
                  </a:moveTo>
                  <a:lnTo>
                    <a:pt x="298653" y="3022"/>
                  </a:lnTo>
                  <a:lnTo>
                    <a:pt x="298653" y="209562"/>
                  </a:lnTo>
                  <a:lnTo>
                    <a:pt x="344779" y="209562"/>
                  </a:lnTo>
                  <a:lnTo>
                    <a:pt x="344779" y="3022"/>
                  </a:lnTo>
                  <a:close/>
                </a:path>
                <a:path extrusionOk="0" h="210184" w="433070">
                  <a:moveTo>
                    <a:pt x="432828" y="3022"/>
                  </a:moveTo>
                  <a:lnTo>
                    <a:pt x="386715" y="3022"/>
                  </a:lnTo>
                  <a:lnTo>
                    <a:pt x="386715" y="209562"/>
                  </a:lnTo>
                  <a:lnTo>
                    <a:pt x="432828" y="209562"/>
                  </a:lnTo>
                  <a:lnTo>
                    <a:pt x="432828" y="302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5" name="Google Shape;65;p1"/>
            <p:cNvPicPr preferRelativeResize="0"/>
            <p:nvPr/>
          </p:nvPicPr>
          <p:blipFill rotWithShape="1">
            <a:blip r:embed="rId5">
              <a:alphaModFix/>
            </a:blip>
            <a:srcRect b="0" l="0" r="0" t="0"/>
            <a:stretch/>
          </p:blipFill>
          <p:spPr>
            <a:xfrm>
              <a:off x="4209079" y="474379"/>
              <a:ext cx="181390" cy="217093"/>
            </a:xfrm>
            <a:prstGeom prst="rect">
              <a:avLst/>
            </a:prstGeom>
            <a:noFill/>
            <a:ln>
              <a:noFill/>
            </a:ln>
          </p:spPr>
        </p:pic>
        <p:pic>
          <p:nvPicPr>
            <p:cNvPr id="66" name="Google Shape;66;p1"/>
            <p:cNvPicPr preferRelativeResize="0"/>
            <p:nvPr/>
          </p:nvPicPr>
          <p:blipFill rotWithShape="1">
            <a:blip r:embed="rId6">
              <a:alphaModFix/>
            </a:blip>
            <a:srcRect b="0" l="0" r="0" t="0"/>
            <a:stretch/>
          </p:blipFill>
          <p:spPr>
            <a:xfrm>
              <a:off x="4693759" y="528916"/>
              <a:ext cx="226726" cy="153596"/>
            </a:xfrm>
            <a:prstGeom prst="rect">
              <a:avLst/>
            </a:prstGeom>
            <a:noFill/>
            <a:ln>
              <a:noFill/>
            </a:ln>
          </p:spPr>
        </p:pic>
        <p:pic>
          <p:nvPicPr>
            <p:cNvPr id="67" name="Google Shape;67;p1"/>
            <p:cNvPicPr preferRelativeResize="0"/>
            <p:nvPr/>
          </p:nvPicPr>
          <p:blipFill rotWithShape="1">
            <a:blip r:embed="rId7">
              <a:alphaModFix/>
            </a:blip>
            <a:srcRect b="0" l="0" r="0" t="0"/>
            <a:stretch/>
          </p:blipFill>
          <p:spPr>
            <a:xfrm>
              <a:off x="4432402" y="524048"/>
              <a:ext cx="241733" cy="163205"/>
            </a:xfrm>
            <a:prstGeom prst="rect">
              <a:avLst/>
            </a:prstGeom>
            <a:noFill/>
            <a:ln>
              <a:noFill/>
            </a:ln>
          </p:spPr>
        </p:pic>
      </p:grpSp>
      <p:pic>
        <p:nvPicPr>
          <p:cNvPr id="68" name="Google Shape;68;p1"/>
          <p:cNvPicPr preferRelativeResize="0"/>
          <p:nvPr/>
        </p:nvPicPr>
        <p:blipFill rotWithShape="1">
          <a:blip r:embed="rId8">
            <a:alphaModFix/>
          </a:blip>
          <a:srcRect b="0" l="0" r="0" t="0"/>
          <a:stretch/>
        </p:blipFill>
        <p:spPr>
          <a:xfrm>
            <a:off x="3138237" y="1038394"/>
            <a:ext cx="2867525" cy="2676356"/>
          </a:xfrm>
          <a:prstGeom prst="rect">
            <a:avLst/>
          </a:prstGeom>
          <a:noFill/>
          <a:ln>
            <a:noFill/>
          </a:ln>
        </p:spPr>
      </p:pic>
      <p:sp>
        <p:nvSpPr>
          <p:cNvPr id="69" name="Google Shape;69;p1"/>
          <p:cNvSpPr/>
          <p:nvPr/>
        </p:nvSpPr>
        <p:spPr>
          <a:xfrm>
            <a:off x="0" y="4900544"/>
            <a:ext cx="9144000" cy="254509"/>
          </a:xfrm>
          <a:custGeom>
            <a:rect b="b" l="l" r="r" t="t"/>
            <a:pathLst>
              <a:path extrusionOk="0" h="247650" w="9144000">
                <a:moveTo>
                  <a:pt x="0" y="0"/>
                </a:moveTo>
                <a:lnTo>
                  <a:pt x="9144000" y="0"/>
                </a:lnTo>
                <a:lnTo>
                  <a:pt x="9144000" y="247650"/>
                </a:lnTo>
                <a:lnTo>
                  <a:pt x="0" y="247650"/>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1"/>
          <p:cNvSpPr txBox="1"/>
          <p:nvPr/>
        </p:nvSpPr>
        <p:spPr>
          <a:xfrm>
            <a:off x="0" y="4951757"/>
            <a:ext cx="9144000" cy="153888"/>
          </a:xfrm>
          <a:prstGeom prst="rect">
            <a:avLst/>
          </a:prstGeom>
          <a:noFill/>
          <a:ln>
            <a:noFill/>
          </a:ln>
        </p:spPr>
        <p:txBody>
          <a:bodyPr anchorCtr="0" anchor="t" bIns="0" lIns="0" spcFirstLastPara="1" rIns="0" wrap="square" tIns="0">
            <a:spAutoFit/>
          </a:bodyPr>
          <a:lstStyle/>
          <a:p>
            <a:pPr indent="0" lvl="0" marL="12700" rtl="0" algn="ctr">
              <a:spcBef>
                <a:spcPts val="0"/>
              </a:spcBef>
              <a:spcAft>
                <a:spcPts val="0"/>
              </a:spcAft>
              <a:buNone/>
            </a:pPr>
            <a:r>
              <a:rPr b="0" i="0" lang="es-ES" sz="1000">
                <a:solidFill>
                  <a:schemeClr val="dk1"/>
                </a:solidFill>
                <a:latin typeface="Verdana"/>
                <a:ea typeface="Verdana"/>
                <a:cs typeface="Verdana"/>
                <a:sym typeface="Verdana"/>
              </a:rPr>
              <a:t>© McGraw Hill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pic>
        <p:nvPicPr>
          <p:cNvPr id="76" name="Google Shape;76;p2"/>
          <p:cNvPicPr preferRelativeResize="0"/>
          <p:nvPr/>
        </p:nvPicPr>
        <p:blipFill rotWithShape="1">
          <a:blip r:embed="rId3">
            <a:alphaModFix/>
          </a:blip>
          <a:srcRect b="9668" l="7075" r="5333" t="0"/>
          <a:stretch/>
        </p:blipFill>
        <p:spPr>
          <a:xfrm>
            <a:off x="0" y="0"/>
            <a:ext cx="9144001" cy="5064354"/>
          </a:xfrm>
          <a:prstGeom prst="rect">
            <a:avLst/>
          </a:prstGeom>
          <a:noFill/>
          <a:ln>
            <a:noFill/>
          </a:ln>
        </p:spPr>
      </p:pic>
      <p:sp>
        <p:nvSpPr>
          <p:cNvPr id="77" name="Google Shape;77;p2"/>
          <p:cNvSpPr/>
          <p:nvPr/>
        </p:nvSpPr>
        <p:spPr>
          <a:xfrm>
            <a:off x="332930" y="217183"/>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8" name="Google Shape;78;p2"/>
          <p:cNvPicPr preferRelativeResize="0"/>
          <p:nvPr/>
        </p:nvPicPr>
        <p:blipFill rotWithShape="1">
          <a:blip r:embed="rId4">
            <a:alphaModFix/>
          </a:blip>
          <a:srcRect b="0" l="0" r="0" t="0"/>
          <a:stretch/>
        </p:blipFill>
        <p:spPr>
          <a:xfrm>
            <a:off x="376441" y="261365"/>
            <a:ext cx="268243" cy="135542"/>
          </a:xfrm>
          <a:prstGeom prst="rect">
            <a:avLst/>
          </a:prstGeom>
          <a:noFill/>
          <a:ln>
            <a:noFill/>
          </a:ln>
        </p:spPr>
      </p:pic>
      <p:sp>
        <p:nvSpPr>
          <p:cNvPr id="79" name="Google Shape;79;p2"/>
          <p:cNvSpPr/>
          <p:nvPr/>
        </p:nvSpPr>
        <p:spPr>
          <a:xfrm>
            <a:off x="376451" y="584857"/>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0" name="Google Shape;80;p2"/>
          <p:cNvPicPr preferRelativeResize="0"/>
          <p:nvPr/>
        </p:nvPicPr>
        <p:blipFill rotWithShape="1">
          <a:blip r:embed="rId5">
            <a:alphaModFix/>
          </a:blip>
          <a:srcRect b="0" l="0" r="0" t="0"/>
          <a:stretch/>
        </p:blipFill>
        <p:spPr>
          <a:xfrm>
            <a:off x="366934" y="419417"/>
            <a:ext cx="116423" cy="139338"/>
          </a:xfrm>
          <a:prstGeom prst="rect">
            <a:avLst/>
          </a:prstGeom>
          <a:noFill/>
          <a:ln>
            <a:noFill/>
          </a:ln>
        </p:spPr>
      </p:pic>
      <p:pic>
        <p:nvPicPr>
          <p:cNvPr id="81" name="Google Shape;81;p2"/>
          <p:cNvPicPr preferRelativeResize="0"/>
          <p:nvPr/>
        </p:nvPicPr>
        <p:blipFill rotWithShape="1">
          <a:blip r:embed="rId6">
            <a:alphaModFix/>
          </a:blip>
          <a:srcRect b="0" l="0" r="0" t="0"/>
          <a:stretch/>
        </p:blipFill>
        <p:spPr>
          <a:xfrm>
            <a:off x="510272" y="451296"/>
            <a:ext cx="313270" cy="104750"/>
          </a:xfrm>
          <a:prstGeom prst="rect">
            <a:avLst/>
          </a:prstGeom>
          <a:noFill/>
          <a:ln>
            <a:noFill/>
          </a:ln>
        </p:spPr>
      </p:pic>
      <p:sp>
        <p:nvSpPr>
          <p:cNvPr id="82" name="Google Shape;82;p2"/>
          <p:cNvSpPr/>
          <p:nvPr/>
        </p:nvSpPr>
        <p:spPr>
          <a:xfrm>
            <a:off x="6544454" y="3114413"/>
            <a:ext cx="2329365" cy="1671022"/>
          </a:xfrm>
          <a:custGeom>
            <a:rect b="b" l="l" r="r" t="t"/>
            <a:pathLst>
              <a:path extrusionOk="0" h="1108075" w="2465704">
                <a:moveTo>
                  <a:pt x="2465147" y="0"/>
                </a:moveTo>
                <a:lnTo>
                  <a:pt x="0" y="0"/>
                </a:lnTo>
                <a:lnTo>
                  <a:pt x="0" y="1107996"/>
                </a:lnTo>
                <a:lnTo>
                  <a:pt x="2465147" y="1107996"/>
                </a:lnTo>
                <a:lnTo>
                  <a:pt x="246514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100">
              <a:solidFill>
                <a:srgbClr val="7F7F7F"/>
              </a:solidFill>
              <a:latin typeface="Verdana"/>
              <a:ea typeface="Verdana"/>
              <a:cs typeface="Verdana"/>
              <a:sym typeface="Verdana"/>
            </a:endParaRPr>
          </a:p>
        </p:txBody>
      </p:sp>
      <p:sp>
        <p:nvSpPr>
          <p:cNvPr id="83" name="Google Shape;83;p2"/>
          <p:cNvSpPr txBox="1"/>
          <p:nvPr/>
        </p:nvSpPr>
        <p:spPr>
          <a:xfrm>
            <a:off x="6476300" y="2883100"/>
            <a:ext cx="2465700" cy="1935600"/>
          </a:xfrm>
          <a:prstGeom prst="rect">
            <a:avLst/>
          </a:prstGeom>
          <a:solidFill>
            <a:srgbClr val="FFFFFF"/>
          </a:solidFill>
          <a:ln>
            <a:noFill/>
          </a:ln>
        </p:spPr>
        <p:txBody>
          <a:bodyPr anchorCtr="0" anchor="t" bIns="0" lIns="0" spcFirstLastPara="1" rIns="0" wrap="square" tIns="54600">
            <a:spAutoFit/>
          </a:bodyPr>
          <a:lstStyle/>
          <a:p>
            <a:pPr indent="0" lvl="0" marL="377190" marR="123189" rtl="0" algn="l">
              <a:lnSpc>
                <a:spcPct val="118181"/>
              </a:lnSpc>
              <a:spcBef>
                <a:spcPts val="0"/>
              </a:spcBef>
              <a:spcAft>
                <a:spcPts val="0"/>
              </a:spcAft>
              <a:buNone/>
            </a:pPr>
            <a:r>
              <a:rPr lang="es-ES" sz="1100">
                <a:solidFill>
                  <a:schemeClr val="dk1"/>
                </a:solidFill>
                <a:latin typeface="Verdana"/>
                <a:ea typeface="Verdana"/>
                <a:cs typeface="Verdana"/>
                <a:sym typeface="Verdana"/>
              </a:rPr>
              <a:t>¿Qué es la sostenibilidad medioambiental?</a:t>
            </a:r>
            <a:endParaRPr/>
          </a:p>
          <a:p>
            <a:pPr indent="0" lvl="0" marL="377190" marR="123189" rtl="0" algn="l">
              <a:lnSpc>
                <a:spcPct val="118181"/>
              </a:lnSpc>
              <a:spcBef>
                <a:spcPts val="430"/>
              </a:spcBef>
              <a:spcAft>
                <a:spcPts val="0"/>
              </a:spcAft>
              <a:buNone/>
            </a:pPr>
            <a:r>
              <a:rPr lang="es-ES" sz="1100">
                <a:solidFill>
                  <a:schemeClr val="dk1"/>
                </a:solidFill>
                <a:latin typeface="Verdana"/>
                <a:ea typeface="Verdana"/>
                <a:cs typeface="Verdana"/>
                <a:sym typeface="Verdana"/>
              </a:rPr>
              <a:t>¿Qué sabes de los procesos que amenazan actualmente la sostenibilidad?</a:t>
            </a:r>
            <a:endParaRPr/>
          </a:p>
          <a:p>
            <a:pPr indent="0" lvl="0" marL="377190" marR="123189" rtl="0" algn="l">
              <a:lnSpc>
                <a:spcPct val="118181"/>
              </a:lnSpc>
              <a:spcBef>
                <a:spcPts val="430"/>
              </a:spcBef>
              <a:spcAft>
                <a:spcPts val="0"/>
              </a:spcAft>
              <a:buNone/>
            </a:pPr>
            <a:r>
              <a:rPr lang="es-ES" sz="1100">
                <a:solidFill>
                  <a:schemeClr val="dk1"/>
                </a:solidFill>
                <a:latin typeface="Verdana"/>
                <a:ea typeface="Verdana"/>
                <a:cs typeface="Verdana"/>
                <a:sym typeface="Verdana"/>
              </a:rPr>
              <a:t>¿Cómo podrías colaborar con los demás para tener un estilo de vida más sostenible?</a:t>
            </a:r>
            <a:endParaRPr/>
          </a:p>
        </p:txBody>
      </p:sp>
      <p:sp>
        <p:nvSpPr>
          <p:cNvPr id="84" name="Google Shape;84;p2"/>
          <p:cNvSpPr/>
          <p:nvPr/>
        </p:nvSpPr>
        <p:spPr>
          <a:xfrm>
            <a:off x="1390194" y="1492565"/>
            <a:ext cx="4172405" cy="1256985"/>
          </a:xfrm>
          <a:custGeom>
            <a:rect b="b" l="l" r="r" t="t"/>
            <a:pathLst>
              <a:path extrusionOk="0" h="1447164" w="4135120">
                <a:moveTo>
                  <a:pt x="4135052" y="0"/>
                </a:moveTo>
                <a:lnTo>
                  <a:pt x="0" y="0"/>
                </a:lnTo>
                <a:lnTo>
                  <a:pt x="0" y="1446550"/>
                </a:lnTo>
                <a:lnTo>
                  <a:pt x="4135052" y="1446550"/>
                </a:lnTo>
                <a:lnTo>
                  <a:pt x="413505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5" name="Google Shape;85;p2"/>
          <p:cNvSpPr txBox="1"/>
          <p:nvPr/>
        </p:nvSpPr>
        <p:spPr>
          <a:xfrm>
            <a:off x="1443535" y="1571888"/>
            <a:ext cx="3978275" cy="1122102"/>
          </a:xfrm>
          <a:prstGeom prst="rect">
            <a:avLst/>
          </a:prstGeom>
          <a:noFill/>
          <a:ln>
            <a:noFill/>
          </a:ln>
        </p:spPr>
        <p:txBody>
          <a:bodyPr anchorCtr="0" anchor="t" bIns="0" lIns="0" spcFirstLastPara="1" rIns="0" wrap="square" tIns="13950">
            <a:spAutoFit/>
          </a:bodyPr>
          <a:lstStyle/>
          <a:p>
            <a:pPr indent="0" lvl="0" marL="0" rtl="0" algn="just">
              <a:spcBef>
                <a:spcPts val="0"/>
              </a:spcBef>
              <a:spcAft>
                <a:spcPts val="0"/>
              </a:spcAft>
              <a:buNone/>
            </a:pPr>
            <a:r>
              <a:rPr lang="es-ES" sz="1200">
                <a:solidFill>
                  <a:schemeClr val="dk1"/>
                </a:solidFill>
                <a:latin typeface="Verdana"/>
                <a:ea typeface="Verdana"/>
                <a:cs typeface="Verdana"/>
                <a:sym typeface="Verdana"/>
              </a:rPr>
              <a:t>Has escuchado muchas veces que el ecosistema mundial está en peligro, y que no queda mucho tiempo para hacerlo sostenible. Pero ¿por qué el tiempo apremia? ¿Qué retos son los que tenemos que resolver para alcanzar la senda del desarrollo sostenible? ¿Qué es sostenibilidad? ¿Y desarrollo? </a:t>
            </a:r>
            <a:endParaRPr/>
          </a:p>
        </p:txBody>
      </p:sp>
      <p:sp>
        <p:nvSpPr>
          <p:cNvPr id="86" name="Google Shape;86;p2"/>
          <p:cNvSpPr/>
          <p:nvPr/>
        </p:nvSpPr>
        <p:spPr>
          <a:xfrm>
            <a:off x="1398978" y="3640054"/>
            <a:ext cx="4148454" cy="1127039"/>
          </a:xfrm>
          <a:custGeom>
            <a:rect b="b" l="l" r="r" t="t"/>
            <a:pathLst>
              <a:path extrusionOk="0" h="1277620" w="3919854">
                <a:moveTo>
                  <a:pt x="3919840" y="0"/>
                </a:moveTo>
                <a:lnTo>
                  <a:pt x="0" y="0"/>
                </a:lnTo>
                <a:lnTo>
                  <a:pt x="0" y="1277273"/>
                </a:lnTo>
                <a:lnTo>
                  <a:pt x="3919840" y="1277273"/>
                </a:lnTo>
                <a:lnTo>
                  <a:pt x="391984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2"/>
          <p:cNvSpPr txBox="1"/>
          <p:nvPr/>
        </p:nvSpPr>
        <p:spPr>
          <a:xfrm>
            <a:off x="1463199" y="3702105"/>
            <a:ext cx="4008033" cy="1028487"/>
          </a:xfrm>
          <a:prstGeom prst="rect">
            <a:avLst/>
          </a:prstGeom>
          <a:noFill/>
          <a:ln>
            <a:noFill/>
          </a:ln>
        </p:spPr>
        <p:txBody>
          <a:bodyPr anchorCtr="0" anchor="t" bIns="0" lIns="0" spcFirstLastPara="1" rIns="0" wrap="square" tIns="12700">
            <a:spAutoFit/>
          </a:bodyPr>
          <a:lstStyle/>
          <a:p>
            <a:pPr indent="0" lvl="0" marL="0" rtl="0" algn="just">
              <a:spcBef>
                <a:spcPts val="0"/>
              </a:spcBef>
              <a:spcAft>
                <a:spcPts val="0"/>
              </a:spcAft>
              <a:buNone/>
            </a:pPr>
            <a:r>
              <a:rPr lang="es-ES" sz="1100">
                <a:solidFill>
                  <a:schemeClr val="dk1"/>
                </a:solidFill>
                <a:latin typeface="Verdana"/>
                <a:ea typeface="Verdana"/>
                <a:cs typeface="Verdana"/>
                <a:sym typeface="Verdana"/>
              </a:rPr>
              <a:t>¿Puede medirse el grado de sostenibilidad medioambiental de un hábito de consumo? ¿Y de un proceso productivo? ¿Y de una persona o una empresa? ¿Y de un país o de toda la humanidad? La respuesta es sí. El indicador objetivo y aceptado para medir la sostenibilidad es la huella ecológica.</a:t>
            </a:r>
            <a:endParaRPr/>
          </a:p>
        </p:txBody>
      </p:sp>
      <p:pic>
        <p:nvPicPr>
          <p:cNvPr id="88" name="Google Shape;88;p2"/>
          <p:cNvPicPr preferRelativeResize="0"/>
          <p:nvPr/>
        </p:nvPicPr>
        <p:blipFill rotWithShape="1">
          <a:blip r:embed="rId7">
            <a:alphaModFix/>
          </a:blip>
          <a:srcRect b="0" l="0" r="0" t="0"/>
          <a:stretch/>
        </p:blipFill>
        <p:spPr>
          <a:xfrm>
            <a:off x="6626453" y="3559671"/>
            <a:ext cx="101600" cy="101600"/>
          </a:xfrm>
          <a:prstGeom prst="rect">
            <a:avLst/>
          </a:prstGeom>
          <a:noFill/>
          <a:ln>
            <a:noFill/>
          </a:ln>
        </p:spPr>
      </p:pic>
      <p:pic>
        <p:nvPicPr>
          <p:cNvPr id="89" name="Google Shape;89;p2"/>
          <p:cNvPicPr preferRelativeResize="0"/>
          <p:nvPr/>
        </p:nvPicPr>
        <p:blipFill rotWithShape="1">
          <a:blip r:embed="rId7">
            <a:alphaModFix/>
          </a:blip>
          <a:srcRect b="0" l="0" r="0" t="0"/>
          <a:stretch/>
        </p:blipFill>
        <p:spPr>
          <a:xfrm>
            <a:off x="6629275" y="3189841"/>
            <a:ext cx="101600" cy="101600"/>
          </a:xfrm>
          <a:prstGeom prst="rect">
            <a:avLst/>
          </a:prstGeom>
          <a:noFill/>
          <a:ln>
            <a:noFill/>
          </a:ln>
        </p:spPr>
      </p:pic>
      <p:grpSp>
        <p:nvGrpSpPr>
          <p:cNvPr id="90" name="Google Shape;90;p2"/>
          <p:cNvGrpSpPr/>
          <p:nvPr/>
        </p:nvGrpSpPr>
        <p:grpSpPr>
          <a:xfrm>
            <a:off x="872131" y="3220116"/>
            <a:ext cx="508919" cy="508536"/>
            <a:chOff x="128097" y="2871402"/>
            <a:chExt cx="508919" cy="508536"/>
          </a:xfrm>
        </p:grpSpPr>
        <p:sp>
          <p:nvSpPr>
            <p:cNvPr id="91" name="Google Shape;91;p2"/>
            <p:cNvSpPr/>
            <p:nvPr/>
          </p:nvSpPr>
          <p:spPr>
            <a:xfrm>
              <a:off x="152400" y="2934472"/>
              <a:ext cx="449205" cy="396240"/>
            </a:xfrm>
            <a:custGeom>
              <a:rect b="b" l="l" r="r" t="t"/>
              <a:pathLst>
                <a:path extrusionOk="0" h="396239" w="394334">
                  <a:moveTo>
                    <a:pt x="197037" y="0"/>
                  </a:moveTo>
                  <a:lnTo>
                    <a:pt x="151856" y="5229"/>
                  </a:lnTo>
                  <a:lnTo>
                    <a:pt x="110381" y="20127"/>
                  </a:lnTo>
                  <a:lnTo>
                    <a:pt x="73797" y="43503"/>
                  </a:lnTo>
                  <a:lnTo>
                    <a:pt x="43284" y="74168"/>
                  </a:lnTo>
                  <a:lnTo>
                    <a:pt x="20025" y="110935"/>
                  </a:lnTo>
                  <a:lnTo>
                    <a:pt x="5203" y="152613"/>
                  </a:lnTo>
                  <a:lnTo>
                    <a:pt x="0" y="198015"/>
                  </a:lnTo>
                  <a:lnTo>
                    <a:pt x="5203" y="243410"/>
                  </a:lnTo>
                  <a:lnTo>
                    <a:pt x="20025" y="285084"/>
                  </a:lnTo>
                  <a:lnTo>
                    <a:pt x="43284" y="321847"/>
                  </a:lnTo>
                  <a:lnTo>
                    <a:pt x="73797" y="352510"/>
                  </a:lnTo>
                  <a:lnTo>
                    <a:pt x="110381" y="375884"/>
                  </a:lnTo>
                  <a:lnTo>
                    <a:pt x="151856" y="390781"/>
                  </a:lnTo>
                  <a:lnTo>
                    <a:pt x="197037" y="396011"/>
                  </a:lnTo>
                  <a:lnTo>
                    <a:pt x="242219" y="390781"/>
                  </a:lnTo>
                  <a:lnTo>
                    <a:pt x="283693" y="375884"/>
                  </a:lnTo>
                  <a:lnTo>
                    <a:pt x="320277" y="352510"/>
                  </a:lnTo>
                  <a:lnTo>
                    <a:pt x="350790" y="321847"/>
                  </a:lnTo>
                  <a:lnTo>
                    <a:pt x="374049" y="285084"/>
                  </a:lnTo>
                  <a:lnTo>
                    <a:pt x="388871" y="243410"/>
                  </a:lnTo>
                  <a:lnTo>
                    <a:pt x="394075" y="198015"/>
                  </a:lnTo>
                  <a:lnTo>
                    <a:pt x="388871" y="152613"/>
                  </a:lnTo>
                  <a:lnTo>
                    <a:pt x="374049" y="110935"/>
                  </a:lnTo>
                  <a:lnTo>
                    <a:pt x="350790" y="74168"/>
                  </a:lnTo>
                  <a:lnTo>
                    <a:pt x="320277" y="43503"/>
                  </a:lnTo>
                  <a:lnTo>
                    <a:pt x="283693" y="20127"/>
                  </a:lnTo>
                  <a:lnTo>
                    <a:pt x="242219" y="5229"/>
                  </a:lnTo>
                  <a:lnTo>
                    <a:pt x="19703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2" name="Google Shape;92;p2"/>
            <p:cNvPicPr preferRelativeResize="0"/>
            <p:nvPr/>
          </p:nvPicPr>
          <p:blipFill rotWithShape="1">
            <a:blip r:embed="rId8">
              <a:alphaModFix/>
            </a:blip>
            <a:srcRect b="0" l="0" r="0" t="0"/>
            <a:stretch/>
          </p:blipFill>
          <p:spPr>
            <a:xfrm>
              <a:off x="220425" y="3033377"/>
              <a:ext cx="131761" cy="145770"/>
            </a:xfrm>
            <a:prstGeom prst="rect">
              <a:avLst/>
            </a:prstGeom>
            <a:noFill/>
            <a:ln>
              <a:noFill/>
            </a:ln>
          </p:spPr>
        </p:pic>
        <p:pic>
          <p:nvPicPr>
            <p:cNvPr id="93" name="Google Shape;93;p2"/>
            <p:cNvPicPr preferRelativeResize="0"/>
            <p:nvPr/>
          </p:nvPicPr>
          <p:blipFill rotWithShape="1">
            <a:blip r:embed="rId9">
              <a:alphaModFix/>
            </a:blip>
            <a:srcRect b="0" l="0" r="0" t="0"/>
            <a:stretch/>
          </p:blipFill>
          <p:spPr>
            <a:xfrm>
              <a:off x="390796" y="3033377"/>
              <a:ext cx="131761" cy="145770"/>
            </a:xfrm>
            <a:prstGeom prst="rect">
              <a:avLst/>
            </a:prstGeom>
            <a:noFill/>
            <a:ln>
              <a:noFill/>
            </a:ln>
          </p:spPr>
        </p:pic>
        <p:sp>
          <p:nvSpPr>
            <p:cNvPr id="94" name="Google Shape;94;p2"/>
            <p:cNvSpPr/>
            <p:nvPr/>
          </p:nvSpPr>
          <p:spPr>
            <a:xfrm>
              <a:off x="411256" y="2915888"/>
              <a:ext cx="178435" cy="250825"/>
            </a:xfrm>
            <a:custGeom>
              <a:rect b="b" l="l" r="r" t="t"/>
              <a:pathLst>
                <a:path extrusionOk="0" h="250825" w="178434">
                  <a:moveTo>
                    <a:pt x="0" y="0"/>
                  </a:moveTo>
                  <a:lnTo>
                    <a:pt x="45366" y="14159"/>
                  </a:lnTo>
                  <a:lnTo>
                    <a:pt x="86081" y="38720"/>
                  </a:lnTo>
                  <a:lnTo>
                    <a:pt x="120917" y="71775"/>
                  </a:lnTo>
                  <a:lnTo>
                    <a:pt x="148647" y="111419"/>
                  </a:lnTo>
                  <a:lnTo>
                    <a:pt x="168045" y="155745"/>
                  </a:lnTo>
                  <a:lnTo>
                    <a:pt x="177884" y="202848"/>
                  </a:lnTo>
                  <a:lnTo>
                    <a:pt x="176938" y="250822"/>
                  </a:lnTo>
                </a:path>
              </a:pathLst>
            </a:custGeom>
            <a:noFill/>
            <a:ln cap="flat" cmpd="sng" w="43875">
              <a:solidFill>
                <a:srgbClr val="009FA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5" name="Google Shape;95;p2"/>
            <p:cNvSpPr/>
            <p:nvPr/>
          </p:nvSpPr>
          <p:spPr>
            <a:xfrm>
              <a:off x="174948" y="2914027"/>
              <a:ext cx="247650" cy="160020"/>
            </a:xfrm>
            <a:custGeom>
              <a:rect b="b" l="l" r="r" t="t"/>
              <a:pathLst>
                <a:path extrusionOk="0" h="160019" w="247650">
                  <a:moveTo>
                    <a:pt x="0" y="159744"/>
                  </a:moveTo>
                  <a:lnTo>
                    <a:pt x="16436" y="115511"/>
                  </a:lnTo>
                  <a:lnTo>
                    <a:pt x="41636" y="77080"/>
                  </a:lnTo>
                  <a:lnTo>
                    <a:pt x="74117" y="45381"/>
                  </a:lnTo>
                  <a:lnTo>
                    <a:pt x="112394" y="21347"/>
                  </a:lnTo>
                  <a:lnTo>
                    <a:pt x="154985" y="5909"/>
                  </a:lnTo>
                  <a:lnTo>
                    <a:pt x="200405" y="0"/>
                  </a:lnTo>
                  <a:lnTo>
                    <a:pt x="247171" y="4550"/>
                  </a:lnTo>
                </a:path>
              </a:pathLst>
            </a:custGeom>
            <a:noFill/>
            <a:ln cap="flat" cmpd="sng" w="43950">
              <a:solidFill>
                <a:srgbClr val="F3914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 name="Google Shape;96;p2"/>
            <p:cNvSpPr/>
            <p:nvPr/>
          </p:nvSpPr>
          <p:spPr>
            <a:xfrm>
              <a:off x="394530" y="2871402"/>
              <a:ext cx="59690" cy="95885"/>
            </a:xfrm>
            <a:custGeom>
              <a:rect b="b" l="l" r="r" t="t"/>
              <a:pathLst>
                <a:path extrusionOk="0" h="95885" w="59690">
                  <a:moveTo>
                    <a:pt x="23223" y="0"/>
                  </a:moveTo>
                  <a:lnTo>
                    <a:pt x="0" y="95732"/>
                  </a:lnTo>
                  <a:lnTo>
                    <a:pt x="59506" y="58351"/>
                  </a:lnTo>
                  <a:lnTo>
                    <a:pt x="23223" y="0"/>
                  </a:lnTo>
                  <a:close/>
                </a:path>
              </a:pathLst>
            </a:custGeom>
            <a:solidFill>
              <a:srgbClr val="F3914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 name="Google Shape;97;p2"/>
            <p:cNvSpPr/>
            <p:nvPr/>
          </p:nvSpPr>
          <p:spPr>
            <a:xfrm>
              <a:off x="169961" y="3080260"/>
              <a:ext cx="154305" cy="252729"/>
            </a:xfrm>
            <a:custGeom>
              <a:rect b="b" l="l" r="r" t="t"/>
              <a:pathLst>
                <a:path extrusionOk="0" h="252729" w="154304">
                  <a:moveTo>
                    <a:pt x="153679" y="252350"/>
                  </a:moveTo>
                  <a:lnTo>
                    <a:pt x="110106" y="234683"/>
                  </a:lnTo>
                  <a:lnTo>
                    <a:pt x="72532" y="208364"/>
                  </a:lnTo>
                  <a:lnTo>
                    <a:pt x="41844" y="174907"/>
                  </a:lnTo>
                  <a:lnTo>
                    <a:pt x="18934" y="135828"/>
                  </a:lnTo>
                  <a:lnTo>
                    <a:pt x="4689" y="92641"/>
                  </a:lnTo>
                  <a:lnTo>
                    <a:pt x="0" y="46860"/>
                  </a:lnTo>
                  <a:lnTo>
                    <a:pt x="5755" y="0"/>
                  </a:lnTo>
                </a:path>
              </a:pathLst>
            </a:custGeom>
            <a:noFill/>
            <a:ln cap="flat" cmpd="sng" w="43875">
              <a:solidFill>
                <a:srgbClr val="ED696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8" name="Google Shape;98;p2"/>
            <p:cNvSpPr/>
            <p:nvPr/>
          </p:nvSpPr>
          <p:spPr>
            <a:xfrm>
              <a:off x="128097" y="3045633"/>
              <a:ext cx="95250" cy="60960"/>
            </a:xfrm>
            <a:custGeom>
              <a:rect b="b" l="l" r="r" t="t"/>
              <a:pathLst>
                <a:path extrusionOk="0" h="60960" w="95250">
                  <a:moveTo>
                    <a:pt x="59007" y="0"/>
                  </a:moveTo>
                  <a:lnTo>
                    <a:pt x="0" y="34932"/>
                  </a:lnTo>
                  <a:lnTo>
                    <a:pt x="94623" y="60779"/>
                  </a:lnTo>
                  <a:lnTo>
                    <a:pt x="59007" y="0"/>
                  </a:lnTo>
                  <a:close/>
                </a:path>
              </a:pathLst>
            </a:custGeom>
            <a:solidFill>
              <a:srgbClr val="ED696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9" name="Google Shape;99;p2"/>
            <p:cNvSpPr/>
            <p:nvPr/>
          </p:nvSpPr>
          <p:spPr>
            <a:xfrm>
              <a:off x="327569" y="3189386"/>
              <a:ext cx="254635" cy="150495"/>
            </a:xfrm>
            <a:custGeom>
              <a:rect b="b" l="l" r="r" t="t"/>
              <a:pathLst>
                <a:path extrusionOk="0" h="150495" w="254634">
                  <a:moveTo>
                    <a:pt x="254295" y="0"/>
                  </a:moveTo>
                  <a:lnTo>
                    <a:pt x="235765" y="43384"/>
                  </a:lnTo>
                  <a:lnTo>
                    <a:pt x="208759" y="80557"/>
                  </a:lnTo>
                  <a:lnTo>
                    <a:pt x="174803" y="110658"/>
                  </a:lnTo>
                  <a:lnTo>
                    <a:pt x="135422" y="132824"/>
                  </a:lnTo>
                  <a:lnTo>
                    <a:pt x="92144" y="146197"/>
                  </a:lnTo>
                  <a:lnTo>
                    <a:pt x="46494" y="149915"/>
                  </a:lnTo>
                  <a:lnTo>
                    <a:pt x="0" y="143117"/>
                  </a:lnTo>
                </a:path>
              </a:pathLst>
            </a:custGeom>
            <a:noFill/>
            <a:ln cap="flat" cmpd="sng" w="43975">
              <a:solidFill>
                <a:srgbClr val="8BBF5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0" name="Google Shape;100;p2"/>
            <p:cNvSpPr/>
            <p:nvPr/>
          </p:nvSpPr>
          <p:spPr>
            <a:xfrm>
              <a:off x="296207" y="3285323"/>
              <a:ext cx="61594" cy="94615"/>
            </a:xfrm>
            <a:custGeom>
              <a:rect b="b" l="l" r="r" t="t"/>
              <a:pathLst>
                <a:path extrusionOk="0" h="94614" w="61595">
                  <a:moveTo>
                    <a:pt x="61235" y="0"/>
                  </a:moveTo>
                  <a:lnTo>
                    <a:pt x="0" y="34451"/>
                  </a:lnTo>
                  <a:lnTo>
                    <a:pt x="33471" y="94498"/>
                  </a:lnTo>
                  <a:lnTo>
                    <a:pt x="61235" y="0"/>
                  </a:lnTo>
                  <a:close/>
                </a:path>
              </a:pathLst>
            </a:custGeom>
            <a:solidFill>
              <a:srgbClr val="8BBF5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 name="Google Shape;101;p2"/>
            <p:cNvSpPr/>
            <p:nvPr/>
          </p:nvSpPr>
          <p:spPr>
            <a:xfrm>
              <a:off x="539861" y="3154766"/>
              <a:ext cx="97155" cy="57150"/>
            </a:xfrm>
            <a:custGeom>
              <a:rect b="b" l="l" r="r" t="t"/>
              <a:pathLst>
                <a:path extrusionOk="0" h="57150" w="97154">
                  <a:moveTo>
                    <a:pt x="0" y="0"/>
                  </a:moveTo>
                  <a:lnTo>
                    <a:pt x="41261" y="57054"/>
                  </a:lnTo>
                  <a:lnTo>
                    <a:pt x="96665" y="16617"/>
                  </a:lnTo>
                  <a:lnTo>
                    <a:pt x="0" y="0"/>
                  </a:lnTo>
                  <a:close/>
                </a:path>
              </a:pathLst>
            </a:custGeom>
            <a:solidFill>
              <a:srgbClr val="009F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02" name="Google Shape;102;p2"/>
            <p:cNvPicPr preferRelativeResize="0"/>
            <p:nvPr/>
          </p:nvPicPr>
          <p:blipFill rotWithShape="1">
            <a:blip r:embed="rId10">
              <a:alphaModFix/>
            </a:blip>
            <a:srcRect b="0" l="0" r="0" t="0"/>
            <a:stretch/>
          </p:blipFill>
          <p:spPr>
            <a:xfrm>
              <a:off x="307030" y="3076003"/>
              <a:ext cx="131760" cy="145769"/>
            </a:xfrm>
            <a:prstGeom prst="rect">
              <a:avLst/>
            </a:prstGeom>
            <a:noFill/>
            <a:ln>
              <a:noFill/>
            </a:ln>
          </p:spPr>
        </p:pic>
      </p:grpSp>
      <p:sp>
        <p:nvSpPr>
          <p:cNvPr id="103" name="Google Shape;103;p2"/>
          <p:cNvSpPr txBox="1"/>
          <p:nvPr/>
        </p:nvSpPr>
        <p:spPr>
          <a:xfrm>
            <a:off x="6538729" y="2495545"/>
            <a:ext cx="2340900" cy="305400"/>
          </a:xfrm>
          <a:prstGeom prst="rect">
            <a:avLst/>
          </a:prstGeom>
          <a:solidFill>
            <a:srgbClr val="00AEBA"/>
          </a:solid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1900">
                <a:solidFill>
                  <a:schemeClr val="lt1"/>
                </a:solidFill>
                <a:latin typeface="Verdana"/>
                <a:ea typeface="Verdana"/>
                <a:cs typeface="Verdana"/>
                <a:sym typeface="Verdana"/>
              </a:rPr>
              <a:t>Piensa y reflexiona</a:t>
            </a:r>
            <a:endParaRPr sz="1900">
              <a:solidFill>
                <a:schemeClr val="lt1"/>
              </a:solidFill>
              <a:latin typeface="Verdana"/>
              <a:ea typeface="Verdana"/>
              <a:cs typeface="Verdana"/>
              <a:sym typeface="Verdana"/>
            </a:endParaRPr>
          </a:p>
        </p:txBody>
      </p:sp>
      <p:sp>
        <p:nvSpPr>
          <p:cNvPr id="104" name="Google Shape;104;p2"/>
          <p:cNvSpPr txBox="1"/>
          <p:nvPr/>
        </p:nvSpPr>
        <p:spPr>
          <a:xfrm>
            <a:off x="1391116" y="3263874"/>
            <a:ext cx="2088514" cy="330200"/>
          </a:xfrm>
          <a:prstGeom prst="rect">
            <a:avLst/>
          </a:prstGeom>
          <a:solidFill>
            <a:srgbClr val="00AEBA"/>
          </a:solid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2000">
                <a:solidFill>
                  <a:schemeClr val="lt1"/>
                </a:solidFill>
                <a:latin typeface="Verdana"/>
                <a:ea typeface="Verdana"/>
                <a:cs typeface="Verdana"/>
                <a:sym typeface="Verdana"/>
              </a:rPr>
              <a:t>Reto profesional</a:t>
            </a:r>
            <a:endParaRPr sz="2000">
              <a:solidFill>
                <a:schemeClr val="lt1"/>
              </a:solidFill>
              <a:latin typeface="Verdana"/>
              <a:ea typeface="Verdana"/>
              <a:cs typeface="Verdana"/>
              <a:sym typeface="Verdana"/>
            </a:endParaRPr>
          </a:p>
        </p:txBody>
      </p:sp>
      <p:sp>
        <p:nvSpPr>
          <p:cNvPr id="105" name="Google Shape;105;p2"/>
          <p:cNvSpPr txBox="1"/>
          <p:nvPr/>
        </p:nvSpPr>
        <p:spPr>
          <a:xfrm>
            <a:off x="1382887" y="1112583"/>
            <a:ext cx="1621155" cy="330200"/>
          </a:xfrm>
          <a:prstGeom prst="rect">
            <a:avLst/>
          </a:prstGeom>
          <a:solidFill>
            <a:srgbClr val="00AEBA"/>
          </a:solid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2000">
                <a:solidFill>
                  <a:schemeClr val="lt1"/>
                </a:solidFill>
                <a:latin typeface="Verdana"/>
                <a:ea typeface="Verdana"/>
                <a:cs typeface="Verdana"/>
                <a:sym typeface="Verdana"/>
              </a:rPr>
              <a:t>Introducción</a:t>
            </a:r>
            <a:endParaRPr sz="2000">
              <a:solidFill>
                <a:schemeClr val="lt1"/>
              </a:solidFill>
              <a:latin typeface="Verdana"/>
              <a:ea typeface="Verdana"/>
              <a:cs typeface="Verdana"/>
              <a:sym typeface="Verdana"/>
            </a:endParaRPr>
          </a:p>
        </p:txBody>
      </p:sp>
      <p:pic>
        <p:nvPicPr>
          <p:cNvPr id="106" name="Google Shape;106;p2"/>
          <p:cNvPicPr preferRelativeResize="0"/>
          <p:nvPr/>
        </p:nvPicPr>
        <p:blipFill rotWithShape="1">
          <a:blip r:embed="rId11">
            <a:alphaModFix/>
          </a:blip>
          <a:srcRect b="0" l="0" r="0" t="0"/>
          <a:stretch/>
        </p:blipFill>
        <p:spPr>
          <a:xfrm>
            <a:off x="5772188" y="2495550"/>
            <a:ext cx="745514" cy="695813"/>
          </a:xfrm>
          <a:prstGeom prst="rect">
            <a:avLst/>
          </a:prstGeom>
          <a:noFill/>
          <a:ln>
            <a:noFill/>
          </a:ln>
        </p:spPr>
      </p:pic>
      <p:pic>
        <p:nvPicPr>
          <p:cNvPr id="107" name="Google Shape;107;p2"/>
          <p:cNvPicPr preferRelativeResize="0"/>
          <p:nvPr/>
        </p:nvPicPr>
        <p:blipFill rotWithShape="1">
          <a:blip r:embed="rId12">
            <a:alphaModFix/>
          </a:blip>
          <a:srcRect b="0" l="0" r="0" t="0"/>
          <a:stretch/>
        </p:blipFill>
        <p:spPr>
          <a:xfrm>
            <a:off x="745325" y="971550"/>
            <a:ext cx="651776" cy="608324"/>
          </a:xfrm>
          <a:prstGeom prst="rect">
            <a:avLst/>
          </a:prstGeom>
          <a:noFill/>
          <a:ln>
            <a:noFill/>
          </a:ln>
        </p:spPr>
      </p:pic>
      <p:pic>
        <p:nvPicPr>
          <p:cNvPr id="108" name="Google Shape;108;p2"/>
          <p:cNvPicPr preferRelativeResize="0"/>
          <p:nvPr/>
        </p:nvPicPr>
        <p:blipFill rotWithShape="1">
          <a:blip r:embed="rId7">
            <a:alphaModFix/>
          </a:blip>
          <a:srcRect b="0" l="0" r="0" t="0"/>
          <a:stretch/>
        </p:blipFill>
        <p:spPr>
          <a:xfrm>
            <a:off x="6626453" y="4098454"/>
            <a:ext cx="101600" cy="101600"/>
          </a:xfrm>
          <a:prstGeom prst="rect">
            <a:avLst/>
          </a:prstGeom>
          <a:noFill/>
          <a:ln>
            <a:noFill/>
          </a:ln>
        </p:spPr>
      </p:pic>
      <p:sp>
        <p:nvSpPr>
          <p:cNvPr id="109" name="Google Shape;109;p2"/>
          <p:cNvSpPr/>
          <p:nvPr/>
        </p:nvSpPr>
        <p:spPr>
          <a:xfrm>
            <a:off x="897672" y="232587"/>
            <a:ext cx="8050811" cy="552511"/>
          </a:xfrm>
          <a:custGeom>
            <a:rect b="b" l="l" r="r" t="t"/>
            <a:pathLst>
              <a:path extrusionOk="0" h="2493010" w="369570">
                <a:moveTo>
                  <a:pt x="369332" y="0"/>
                </a:moveTo>
                <a:lnTo>
                  <a:pt x="0" y="0"/>
                </a:lnTo>
                <a:lnTo>
                  <a:pt x="0" y="2492402"/>
                </a:lnTo>
                <a:lnTo>
                  <a:pt x="369332" y="2492402"/>
                </a:lnTo>
                <a:lnTo>
                  <a:pt x="369332" y="0"/>
                </a:lnTo>
                <a:close/>
              </a:path>
            </a:pathLst>
          </a:custGeom>
          <a:solidFill>
            <a:srgbClr val="FFFFFF">
              <a:alpha val="7058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0" name="Google Shape;110;p2"/>
          <p:cNvSpPr txBox="1"/>
          <p:nvPr/>
        </p:nvSpPr>
        <p:spPr>
          <a:xfrm>
            <a:off x="979627" y="297769"/>
            <a:ext cx="7947025" cy="351378"/>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0" lang="es-ES" sz="2200">
                <a:solidFill>
                  <a:schemeClr val="dk1"/>
                </a:solidFill>
                <a:latin typeface="Verdana"/>
                <a:ea typeface="Verdana"/>
                <a:cs typeface="Verdana"/>
                <a:sym typeface="Verdana"/>
              </a:rPr>
              <a:t>La sostenibilidad y sus retos</a:t>
            </a:r>
            <a:endParaRPr/>
          </a:p>
        </p:txBody>
      </p:sp>
      <p:sp>
        <p:nvSpPr>
          <p:cNvPr id="111" name="Google Shape;111;p2"/>
          <p:cNvSpPr txBox="1"/>
          <p:nvPr/>
        </p:nvSpPr>
        <p:spPr>
          <a:xfrm rot="-5400000">
            <a:off x="-449569" y="1283990"/>
            <a:ext cx="1815027" cy="153888"/>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s-ES" sz="1000">
                <a:solidFill>
                  <a:schemeClr val="lt1"/>
                </a:solidFill>
                <a:latin typeface="Verdana"/>
                <a:ea typeface="Verdana"/>
                <a:cs typeface="Verdana"/>
                <a:sym typeface="Verdana"/>
              </a:rPr>
              <a:t>Transversales  CF</a:t>
            </a:r>
            <a:endParaRPr b="1" sz="1000">
              <a:solidFill>
                <a:schemeClr val="lt1"/>
              </a:solidFill>
              <a:latin typeface="Verdana"/>
              <a:ea typeface="Verdana"/>
              <a:cs typeface="Verdana"/>
              <a:sym typeface="Verdana"/>
            </a:endParaRPr>
          </a:p>
        </p:txBody>
      </p:sp>
      <p:sp>
        <p:nvSpPr>
          <p:cNvPr id="112" name="Google Shape;112;p2"/>
          <p:cNvSpPr/>
          <p:nvPr/>
        </p:nvSpPr>
        <p:spPr>
          <a:xfrm>
            <a:off x="0" y="4900841"/>
            <a:ext cx="9144000" cy="254509"/>
          </a:xfrm>
          <a:custGeom>
            <a:rect b="b" l="l" r="r" t="t"/>
            <a:pathLst>
              <a:path extrusionOk="0" h="247650" w="9144000">
                <a:moveTo>
                  <a:pt x="0" y="0"/>
                </a:moveTo>
                <a:lnTo>
                  <a:pt x="9144000" y="0"/>
                </a:lnTo>
                <a:lnTo>
                  <a:pt x="9144000" y="247650"/>
                </a:lnTo>
                <a:lnTo>
                  <a:pt x="0" y="247650"/>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 name="Google Shape;113;p2"/>
          <p:cNvSpPr txBox="1"/>
          <p:nvPr/>
        </p:nvSpPr>
        <p:spPr>
          <a:xfrm>
            <a:off x="0" y="4952054"/>
            <a:ext cx="9144000" cy="153888"/>
          </a:xfrm>
          <a:prstGeom prst="rect">
            <a:avLst/>
          </a:prstGeom>
          <a:noFill/>
          <a:ln>
            <a:noFill/>
          </a:ln>
        </p:spPr>
        <p:txBody>
          <a:bodyPr anchorCtr="0" anchor="t" bIns="0" lIns="0" spcFirstLastPara="1" rIns="0" wrap="square" tIns="0">
            <a:spAutoFit/>
          </a:bodyPr>
          <a:lstStyle/>
          <a:p>
            <a:pPr indent="0" lvl="0" marL="12700" rtl="0" algn="ctr">
              <a:spcBef>
                <a:spcPts val="0"/>
              </a:spcBef>
              <a:spcAft>
                <a:spcPts val="0"/>
              </a:spcAft>
              <a:buNone/>
            </a:pPr>
            <a:r>
              <a:rPr b="0" i="0" lang="es-ES" sz="1000">
                <a:solidFill>
                  <a:schemeClr val="dk1"/>
                </a:solidFill>
                <a:latin typeface="Verdana"/>
                <a:ea typeface="Verdana"/>
                <a:cs typeface="Verdana"/>
                <a:sym typeface="Verdana"/>
              </a:rPr>
              <a:t>© McGraw Hill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nvSpPr>
        <p:spPr>
          <a:xfrm>
            <a:off x="1219200" y="666750"/>
            <a:ext cx="5715000" cy="529632"/>
          </a:xfrm>
          <a:prstGeom prst="rect">
            <a:avLst/>
          </a:prstGeom>
          <a:noFill/>
          <a:ln>
            <a:noFill/>
          </a:ln>
        </p:spPr>
        <p:txBody>
          <a:bodyPr anchorCtr="0" anchor="t" bIns="0" lIns="0" spcFirstLastPara="1" rIns="0" wrap="square" tIns="21575">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La actividad de las empresas y las personas no se produce en el vacío: las sociedades humanas forman parte del </a:t>
            </a:r>
            <a:r>
              <a:rPr i="1" lang="es-ES" sz="1100">
                <a:solidFill>
                  <a:srgbClr val="7F7F7F"/>
                </a:solidFill>
                <a:latin typeface="Verdana"/>
                <a:ea typeface="Verdana"/>
                <a:cs typeface="Verdana"/>
                <a:sym typeface="Verdana"/>
              </a:rPr>
              <a:t>ecosistema global</a:t>
            </a:r>
            <a:r>
              <a:rPr lang="es-ES" sz="1100">
                <a:solidFill>
                  <a:srgbClr val="7F7F7F"/>
                </a:solidFill>
                <a:latin typeface="Verdana"/>
                <a:ea typeface="Verdana"/>
                <a:cs typeface="Verdana"/>
                <a:sym typeface="Verdana"/>
              </a:rPr>
              <a:t>, en el que desempeñan una función y de cuyo equilibrio dependen para poder sobrevivir y prosperar.</a:t>
            </a:r>
            <a:endParaRPr/>
          </a:p>
        </p:txBody>
      </p:sp>
      <p:grpSp>
        <p:nvGrpSpPr>
          <p:cNvPr id="120" name="Google Shape;120;p3"/>
          <p:cNvGrpSpPr/>
          <p:nvPr/>
        </p:nvGrpSpPr>
        <p:grpSpPr>
          <a:xfrm>
            <a:off x="203278" y="166932"/>
            <a:ext cx="534035" cy="547370"/>
            <a:chOff x="203278" y="166932"/>
            <a:chExt cx="534035" cy="547370"/>
          </a:xfrm>
        </p:grpSpPr>
        <p:sp>
          <p:nvSpPr>
            <p:cNvPr id="121" name="Google Shape;121;p3"/>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2" name="Google Shape;122;p3"/>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123" name="Google Shape;123;p3"/>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4" name="Google Shape;124;p3"/>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125" name="Google Shape;125;p3"/>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sp>
        <p:nvSpPr>
          <p:cNvPr id="126" name="Google Shape;126;p3"/>
          <p:cNvSpPr txBox="1"/>
          <p:nvPr>
            <p:ph type="title"/>
          </p:nvPr>
        </p:nvSpPr>
        <p:spPr>
          <a:xfrm>
            <a:off x="1428272" y="256540"/>
            <a:ext cx="6191728" cy="25904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a:solidFill>
                  <a:srgbClr val="00AEBA"/>
                </a:solidFill>
              </a:rPr>
              <a:t>1. La sostenibilidad</a:t>
            </a:r>
            <a:endParaRPr>
              <a:solidFill>
                <a:srgbClr val="00AEBA"/>
              </a:solidFill>
            </a:endParaRPr>
          </a:p>
        </p:txBody>
      </p:sp>
      <p:pic>
        <p:nvPicPr>
          <p:cNvPr id="127" name="Google Shape;127;p3"/>
          <p:cNvPicPr preferRelativeResize="0"/>
          <p:nvPr/>
        </p:nvPicPr>
        <p:blipFill rotWithShape="1">
          <a:blip r:embed="rId6">
            <a:alphaModFix/>
          </a:blip>
          <a:srcRect b="0" l="0" r="0" t="0"/>
          <a:stretch/>
        </p:blipFill>
        <p:spPr>
          <a:xfrm>
            <a:off x="838200" y="135821"/>
            <a:ext cx="651776" cy="608324"/>
          </a:xfrm>
          <a:prstGeom prst="rect">
            <a:avLst/>
          </a:prstGeom>
          <a:noFill/>
          <a:ln>
            <a:noFill/>
          </a:ln>
        </p:spPr>
      </p:pic>
      <p:sp>
        <p:nvSpPr>
          <p:cNvPr id="128" name="Google Shape;128;p3"/>
          <p:cNvSpPr/>
          <p:nvPr/>
        </p:nvSpPr>
        <p:spPr>
          <a:xfrm>
            <a:off x="1877942" y="1477021"/>
            <a:ext cx="4572000" cy="1277273"/>
          </a:xfrm>
          <a:prstGeom prst="rect">
            <a:avLst/>
          </a:prstGeom>
          <a:solidFill>
            <a:srgbClr val="EBF6EC"/>
          </a:solidFill>
          <a:ln cap="flat" cmpd="sng" w="19050">
            <a:solidFill>
              <a:srgbClr val="00964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540000" rtl="0" algn="just">
              <a:spcBef>
                <a:spcPts val="0"/>
              </a:spcBef>
              <a:spcAft>
                <a:spcPts val="0"/>
              </a:spcAft>
              <a:buNone/>
            </a:pPr>
            <a:r>
              <a:rPr lang="es-ES" sz="1100">
                <a:solidFill>
                  <a:schemeClr val="dk1"/>
                </a:solidFill>
                <a:latin typeface="Verdana"/>
                <a:ea typeface="Verdana"/>
                <a:cs typeface="Verdana"/>
                <a:sym typeface="Verdana"/>
              </a:rPr>
              <a:t>Un </a:t>
            </a:r>
            <a:r>
              <a:rPr b="1" lang="es-ES" sz="1100">
                <a:solidFill>
                  <a:schemeClr val="dk1"/>
                </a:solidFill>
                <a:latin typeface="Verdana"/>
                <a:ea typeface="Verdana"/>
                <a:cs typeface="Verdana"/>
                <a:sym typeface="Verdana"/>
              </a:rPr>
              <a:t>ecosistema </a:t>
            </a:r>
            <a:r>
              <a:rPr lang="es-ES" sz="1100">
                <a:solidFill>
                  <a:schemeClr val="dk1"/>
                </a:solidFill>
                <a:latin typeface="Verdana"/>
                <a:ea typeface="Verdana"/>
                <a:cs typeface="Verdana"/>
                <a:sym typeface="Verdana"/>
              </a:rPr>
              <a:t>es un sistema biológico formado por una </a:t>
            </a:r>
            <a:r>
              <a:rPr b="1" lang="es-ES" sz="1100">
                <a:solidFill>
                  <a:schemeClr val="dk1"/>
                </a:solidFill>
                <a:latin typeface="Verdana"/>
                <a:ea typeface="Verdana"/>
                <a:cs typeface="Verdana"/>
                <a:sym typeface="Verdana"/>
              </a:rPr>
              <a:t>comunidad de seres vivos </a:t>
            </a:r>
            <a:r>
              <a:rPr lang="es-ES" sz="1100">
                <a:solidFill>
                  <a:schemeClr val="dk1"/>
                </a:solidFill>
                <a:latin typeface="Verdana"/>
                <a:ea typeface="Verdana"/>
                <a:cs typeface="Verdana"/>
                <a:sym typeface="Verdana"/>
              </a:rPr>
              <a:t>que habita un medio físico. </a:t>
            </a:r>
            <a:endParaRPr/>
          </a:p>
          <a:p>
            <a:pPr indent="0" lvl="0" marL="540000" rtl="0" algn="just">
              <a:spcBef>
                <a:spcPts val="0"/>
              </a:spcBef>
              <a:spcAft>
                <a:spcPts val="0"/>
              </a:spcAft>
              <a:buNone/>
            </a:pPr>
            <a:r>
              <a:t/>
            </a:r>
            <a:endParaRPr sz="1100">
              <a:solidFill>
                <a:schemeClr val="dk1"/>
              </a:solidFill>
              <a:latin typeface="Verdana"/>
              <a:ea typeface="Verdana"/>
              <a:cs typeface="Verdana"/>
              <a:sym typeface="Verdana"/>
            </a:endParaRPr>
          </a:p>
          <a:p>
            <a:pPr indent="0" lvl="0" marL="540000" rtl="0" algn="just">
              <a:spcBef>
                <a:spcPts val="0"/>
              </a:spcBef>
              <a:spcAft>
                <a:spcPts val="0"/>
              </a:spcAft>
              <a:buNone/>
            </a:pPr>
            <a:r>
              <a:rPr lang="es-ES" sz="1100">
                <a:solidFill>
                  <a:schemeClr val="dk1"/>
                </a:solidFill>
                <a:latin typeface="Verdana"/>
                <a:ea typeface="Verdana"/>
                <a:cs typeface="Verdana"/>
                <a:sym typeface="Verdana"/>
              </a:rPr>
              <a:t>Estos organismos generan entre sí </a:t>
            </a:r>
            <a:r>
              <a:rPr b="1" lang="es-ES" sz="1100">
                <a:solidFill>
                  <a:schemeClr val="dk1"/>
                </a:solidFill>
                <a:latin typeface="Verdana"/>
                <a:ea typeface="Verdana"/>
                <a:cs typeface="Verdana"/>
                <a:sym typeface="Verdana"/>
              </a:rPr>
              <a:t>relaciones de interdependencia </a:t>
            </a:r>
            <a:r>
              <a:rPr lang="es-ES" sz="1100">
                <a:solidFill>
                  <a:schemeClr val="dk1"/>
                </a:solidFill>
                <a:latin typeface="Verdana"/>
                <a:ea typeface="Verdana"/>
                <a:cs typeface="Verdana"/>
                <a:sym typeface="Verdana"/>
              </a:rPr>
              <a:t>que mantienen el ecosistema en </a:t>
            </a:r>
            <a:r>
              <a:rPr i="1" lang="es-ES" sz="1100">
                <a:solidFill>
                  <a:schemeClr val="dk1"/>
                </a:solidFill>
                <a:latin typeface="Verdana"/>
                <a:ea typeface="Verdana"/>
                <a:cs typeface="Verdana"/>
                <a:sym typeface="Verdana"/>
              </a:rPr>
              <a:t>equilibrio.</a:t>
            </a:r>
            <a:endParaRPr sz="1100">
              <a:solidFill>
                <a:schemeClr val="dk1"/>
              </a:solidFill>
              <a:latin typeface="Verdana"/>
              <a:ea typeface="Verdana"/>
              <a:cs typeface="Verdana"/>
              <a:sym typeface="Verdana"/>
            </a:endParaRPr>
          </a:p>
        </p:txBody>
      </p:sp>
      <p:sp>
        <p:nvSpPr>
          <p:cNvPr id="129" name="Google Shape;129;p3"/>
          <p:cNvSpPr/>
          <p:nvPr/>
        </p:nvSpPr>
        <p:spPr>
          <a:xfrm>
            <a:off x="1234440" y="3204210"/>
            <a:ext cx="5699760" cy="1277273"/>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Un ecosistema está en </a:t>
            </a:r>
            <a:r>
              <a:rPr b="1" lang="es-ES" sz="1100">
                <a:solidFill>
                  <a:srgbClr val="7F7F7F"/>
                </a:solidFill>
                <a:latin typeface="Verdana"/>
                <a:ea typeface="Verdana"/>
                <a:cs typeface="Verdana"/>
                <a:sym typeface="Verdana"/>
              </a:rPr>
              <a:t>equilibrio </a:t>
            </a:r>
            <a:r>
              <a:rPr lang="es-ES" sz="1100">
                <a:solidFill>
                  <a:srgbClr val="7F7F7F"/>
                </a:solidFill>
                <a:latin typeface="Verdana"/>
                <a:ea typeface="Verdana"/>
                <a:cs typeface="Verdana"/>
                <a:sym typeface="Verdana"/>
              </a:rPr>
              <a:t>cuando la relación entre sus especies permite la existencia, el desarrollo y la evolución de todas ellas. </a:t>
            </a:r>
            <a:endParaRPr sz="1100">
              <a:solidFill>
                <a:srgbClr val="7F7F7F"/>
              </a:solidFill>
              <a:latin typeface="Verdana"/>
              <a:ea typeface="Verdana"/>
              <a:cs typeface="Verdana"/>
              <a:sym typeface="Verdana"/>
            </a:endParaRPr>
          </a:p>
          <a:p>
            <a:pPr indent="0" lvl="0" marL="0" rtl="0" algn="just">
              <a:spcBef>
                <a:spcPts val="0"/>
              </a:spcBef>
              <a:spcAft>
                <a:spcPts val="0"/>
              </a:spcAft>
              <a:buNone/>
            </a:pPr>
            <a:r>
              <a:rPr lang="es-ES" sz="1100">
                <a:solidFill>
                  <a:srgbClr val="7F7F7F"/>
                </a:solidFill>
                <a:latin typeface="Verdana"/>
                <a:ea typeface="Verdana"/>
                <a:cs typeface="Verdana"/>
                <a:sym typeface="Verdana"/>
              </a:rPr>
              <a:t> </a:t>
            </a:r>
            <a:endParaRPr sz="1100">
              <a:solidFill>
                <a:srgbClr val="7F7F7F"/>
              </a:solidFill>
              <a:latin typeface="Verdana"/>
              <a:ea typeface="Verdana"/>
              <a:cs typeface="Verdana"/>
              <a:sym typeface="Verdana"/>
            </a:endParaRPr>
          </a:p>
          <a:p>
            <a:pPr indent="0" lvl="0" marL="0" rtl="0" algn="just">
              <a:spcBef>
                <a:spcPts val="0"/>
              </a:spcBef>
              <a:spcAft>
                <a:spcPts val="0"/>
              </a:spcAft>
              <a:buNone/>
            </a:pPr>
            <a:r>
              <a:rPr lang="es-ES" sz="1100">
                <a:solidFill>
                  <a:srgbClr val="7F7F7F"/>
                </a:solidFill>
                <a:latin typeface="Verdana"/>
                <a:ea typeface="Verdana"/>
                <a:cs typeface="Verdana"/>
                <a:sym typeface="Verdana"/>
              </a:rPr>
              <a:t>En un ecosistema, </a:t>
            </a:r>
            <a:r>
              <a:rPr b="1" lang="es-ES" sz="1100">
                <a:solidFill>
                  <a:srgbClr val="7F7F7F"/>
                </a:solidFill>
                <a:latin typeface="Verdana"/>
                <a:ea typeface="Verdana"/>
                <a:cs typeface="Verdana"/>
                <a:sym typeface="Verdana"/>
              </a:rPr>
              <a:t>cada especie desempeña una función</a:t>
            </a:r>
            <a:r>
              <a:rPr lang="es-ES" sz="1100">
                <a:solidFill>
                  <a:srgbClr val="7F7F7F"/>
                </a:solidFill>
                <a:latin typeface="Verdana"/>
                <a:ea typeface="Verdana"/>
                <a:cs typeface="Verdana"/>
                <a:sym typeface="Verdana"/>
              </a:rPr>
              <a:t>. Si una especie se desarrolla demasiado con respecto a las demás, las perjudica, y dejan de cumplir adecuadamente sus funciones. Esto causa que </a:t>
            </a:r>
            <a:r>
              <a:rPr b="1" lang="es-ES" sz="1100">
                <a:solidFill>
                  <a:srgbClr val="7F7F7F"/>
                </a:solidFill>
                <a:latin typeface="Verdana"/>
                <a:ea typeface="Verdana"/>
                <a:cs typeface="Verdana"/>
                <a:sym typeface="Verdana"/>
              </a:rPr>
              <a:t>se rompa el equilibrio </a:t>
            </a:r>
            <a:r>
              <a:rPr lang="es-ES" sz="1100">
                <a:solidFill>
                  <a:srgbClr val="7F7F7F"/>
                </a:solidFill>
                <a:latin typeface="Verdana"/>
                <a:ea typeface="Verdana"/>
                <a:cs typeface="Verdana"/>
                <a:sym typeface="Verdana"/>
              </a:rPr>
              <a:t>del ecosistema, lo que puede conducir a su </a:t>
            </a:r>
            <a:r>
              <a:rPr b="1" lang="es-ES" sz="1100">
                <a:solidFill>
                  <a:srgbClr val="7F7F7F"/>
                </a:solidFill>
                <a:latin typeface="Verdana"/>
                <a:ea typeface="Verdana"/>
                <a:cs typeface="Verdana"/>
                <a:sym typeface="Verdana"/>
              </a:rPr>
              <a:t>colapso</a:t>
            </a:r>
            <a:r>
              <a:rPr lang="es-ES" sz="1100">
                <a:solidFill>
                  <a:srgbClr val="7F7F7F"/>
                </a:solidFill>
                <a:latin typeface="Verdana"/>
                <a:ea typeface="Verdana"/>
                <a:cs typeface="Verdana"/>
                <a:sym typeface="Verdana"/>
              </a:rPr>
              <a:t>.</a:t>
            </a:r>
            <a:endParaRPr sz="1100">
              <a:solidFill>
                <a:srgbClr val="7F7F7F"/>
              </a:solidFill>
              <a:latin typeface="Verdana"/>
              <a:ea typeface="Verdana"/>
              <a:cs typeface="Verdana"/>
              <a:sym typeface="Verdana"/>
            </a:endParaRPr>
          </a:p>
        </p:txBody>
      </p:sp>
      <p:pic>
        <p:nvPicPr>
          <p:cNvPr id="130" name="Google Shape;130;p3"/>
          <p:cNvPicPr preferRelativeResize="0"/>
          <p:nvPr/>
        </p:nvPicPr>
        <p:blipFill rotWithShape="1">
          <a:blip r:embed="rId7">
            <a:alphaModFix/>
          </a:blip>
          <a:srcRect b="0" l="0" r="0" t="0"/>
          <a:stretch/>
        </p:blipFill>
        <p:spPr>
          <a:xfrm>
            <a:off x="7235257" y="1154624"/>
            <a:ext cx="1562963" cy="1599826"/>
          </a:xfrm>
          <a:prstGeom prst="rect">
            <a:avLst/>
          </a:prstGeom>
          <a:noFill/>
          <a:ln>
            <a:noFill/>
          </a:ln>
        </p:spPr>
      </p:pic>
      <p:sp>
        <p:nvSpPr>
          <p:cNvPr id="131" name="Google Shape;131;p3"/>
          <p:cNvSpPr/>
          <p:nvPr/>
        </p:nvSpPr>
        <p:spPr>
          <a:xfrm>
            <a:off x="7235257" y="2875074"/>
            <a:ext cx="1603943" cy="86177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sz="800">
                <a:latin typeface="Verdana"/>
                <a:ea typeface="Verdana"/>
                <a:cs typeface="Verdana"/>
                <a:sym typeface="Verdana"/>
              </a:rPr>
              <a:t>En el ecosistema de un bosque, los ciervos cumplen una serie de funciones: mantienen bajo control las poblaciones vegetales y alimentan a otras especies, como los lobos.</a:t>
            </a:r>
            <a:endParaRPr sz="800">
              <a:latin typeface="Verdana"/>
              <a:ea typeface="Verdana"/>
              <a:cs typeface="Verdana"/>
              <a:sym typeface="Verdana"/>
            </a:endParaRPr>
          </a:p>
        </p:txBody>
      </p:sp>
      <p:sp>
        <p:nvSpPr>
          <p:cNvPr id="132" name="Google Shape;132;p3"/>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cxnSp>
        <p:nvCxnSpPr>
          <p:cNvPr id="133" name="Google Shape;133;p3"/>
          <p:cNvCxnSpPr/>
          <p:nvPr/>
        </p:nvCxnSpPr>
        <p:spPr>
          <a:xfrm>
            <a:off x="2057400" y="1477021"/>
            <a:ext cx="0" cy="1277429"/>
          </a:xfrm>
          <a:prstGeom prst="straightConnector1">
            <a:avLst/>
          </a:prstGeom>
          <a:noFill/>
          <a:ln cap="flat" cmpd="sng" w="19050">
            <a:solidFill>
              <a:srgbClr val="009641"/>
            </a:solidFill>
            <a:prstDash val="solid"/>
            <a:round/>
            <a:headEnd len="sm" w="sm" type="none"/>
            <a:tailEnd len="sm" w="sm" type="none"/>
          </a:ln>
        </p:spPr>
      </p:cxnSp>
      <p:cxnSp>
        <p:nvCxnSpPr>
          <p:cNvPr id="134" name="Google Shape;134;p3"/>
          <p:cNvCxnSpPr/>
          <p:nvPr/>
        </p:nvCxnSpPr>
        <p:spPr>
          <a:xfrm>
            <a:off x="2142811" y="1477021"/>
            <a:ext cx="0" cy="1277273"/>
          </a:xfrm>
          <a:prstGeom prst="straightConnector1">
            <a:avLst/>
          </a:prstGeom>
          <a:noFill/>
          <a:ln cap="flat" cmpd="sng" w="19050">
            <a:solidFill>
              <a:srgbClr val="009641"/>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8" name="Shape 138"/>
        <p:cNvGrpSpPr/>
        <p:nvPr/>
      </p:nvGrpSpPr>
      <p:grpSpPr>
        <a:xfrm>
          <a:off x="0" y="0"/>
          <a:ext cx="0" cy="0"/>
          <a:chOff x="0" y="0"/>
          <a:chExt cx="0" cy="0"/>
        </a:xfrm>
      </p:grpSpPr>
      <p:pic>
        <p:nvPicPr>
          <p:cNvPr id="139" name="Google Shape;139;p4"/>
          <p:cNvPicPr preferRelativeResize="0"/>
          <p:nvPr/>
        </p:nvPicPr>
        <p:blipFill rotWithShape="1">
          <a:blip r:embed="rId3">
            <a:alphaModFix/>
          </a:blip>
          <a:srcRect b="0" l="0" r="0" t="0"/>
          <a:stretch/>
        </p:blipFill>
        <p:spPr>
          <a:xfrm>
            <a:off x="1139707" y="2475895"/>
            <a:ext cx="6840000" cy="2189975"/>
          </a:xfrm>
          <a:prstGeom prst="rect">
            <a:avLst/>
          </a:prstGeom>
          <a:noFill/>
          <a:ln>
            <a:noFill/>
          </a:ln>
        </p:spPr>
      </p:pic>
      <p:sp>
        <p:nvSpPr>
          <p:cNvPr id="140" name="Google Shape;140;p4"/>
          <p:cNvSpPr/>
          <p:nvPr/>
        </p:nvSpPr>
        <p:spPr>
          <a:xfrm>
            <a:off x="11711" y="4898003"/>
            <a:ext cx="9132570" cy="245745"/>
          </a:xfrm>
          <a:custGeom>
            <a:rect b="b" l="l" r="r" t="t"/>
            <a:pathLst>
              <a:path extrusionOk="0" h="245745" w="9132570">
                <a:moveTo>
                  <a:pt x="0" y="0"/>
                </a:moveTo>
                <a:lnTo>
                  <a:pt x="9132288" y="0"/>
                </a:lnTo>
                <a:lnTo>
                  <a:pt x="9132288" y="245496"/>
                </a:lnTo>
                <a:lnTo>
                  <a:pt x="0" y="245496"/>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141" name="Google Shape;141;p4"/>
          <p:cNvGrpSpPr/>
          <p:nvPr/>
        </p:nvGrpSpPr>
        <p:grpSpPr>
          <a:xfrm>
            <a:off x="203278" y="166932"/>
            <a:ext cx="534035" cy="547370"/>
            <a:chOff x="203278" y="166932"/>
            <a:chExt cx="534035" cy="547370"/>
          </a:xfrm>
        </p:grpSpPr>
        <p:sp>
          <p:nvSpPr>
            <p:cNvPr id="142" name="Google Shape;142;p4"/>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3" name="Google Shape;143;p4"/>
            <p:cNvPicPr preferRelativeResize="0"/>
            <p:nvPr/>
          </p:nvPicPr>
          <p:blipFill rotWithShape="1">
            <a:blip r:embed="rId4">
              <a:alphaModFix/>
            </a:blip>
            <a:srcRect b="0" l="0" r="0" t="0"/>
            <a:stretch/>
          </p:blipFill>
          <p:spPr>
            <a:xfrm>
              <a:off x="246789" y="211114"/>
              <a:ext cx="268243" cy="135542"/>
            </a:xfrm>
            <a:prstGeom prst="rect">
              <a:avLst/>
            </a:prstGeom>
            <a:noFill/>
            <a:ln>
              <a:noFill/>
            </a:ln>
          </p:spPr>
        </p:pic>
        <p:sp>
          <p:nvSpPr>
            <p:cNvPr id="144" name="Google Shape;144;p4"/>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5" name="Google Shape;145;p4"/>
            <p:cNvPicPr preferRelativeResize="0"/>
            <p:nvPr/>
          </p:nvPicPr>
          <p:blipFill rotWithShape="1">
            <a:blip r:embed="rId5">
              <a:alphaModFix/>
            </a:blip>
            <a:srcRect b="0" l="0" r="0" t="0"/>
            <a:stretch/>
          </p:blipFill>
          <p:spPr>
            <a:xfrm>
              <a:off x="237282" y="369166"/>
              <a:ext cx="116423" cy="139338"/>
            </a:xfrm>
            <a:prstGeom prst="rect">
              <a:avLst/>
            </a:prstGeom>
            <a:noFill/>
            <a:ln>
              <a:noFill/>
            </a:ln>
          </p:spPr>
        </p:pic>
        <p:pic>
          <p:nvPicPr>
            <p:cNvPr id="146" name="Google Shape;146;p4"/>
            <p:cNvPicPr preferRelativeResize="0"/>
            <p:nvPr/>
          </p:nvPicPr>
          <p:blipFill rotWithShape="1">
            <a:blip r:embed="rId6">
              <a:alphaModFix/>
            </a:blip>
            <a:srcRect b="0" l="0" r="0" t="0"/>
            <a:stretch/>
          </p:blipFill>
          <p:spPr>
            <a:xfrm>
              <a:off x="380620" y="401045"/>
              <a:ext cx="313270" cy="104750"/>
            </a:xfrm>
            <a:prstGeom prst="rect">
              <a:avLst/>
            </a:prstGeom>
            <a:noFill/>
            <a:ln>
              <a:noFill/>
            </a:ln>
          </p:spPr>
        </p:pic>
      </p:grpSp>
      <p:sp>
        <p:nvSpPr>
          <p:cNvPr id="147" name="Google Shape;147;p4"/>
          <p:cNvSpPr txBox="1"/>
          <p:nvPr>
            <p:ph type="title"/>
          </p:nvPr>
        </p:nvSpPr>
        <p:spPr>
          <a:xfrm>
            <a:off x="1428272" y="259588"/>
            <a:ext cx="5658328" cy="259045"/>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lang="es-ES">
                <a:solidFill>
                  <a:srgbClr val="00AEBA"/>
                </a:solidFill>
              </a:rPr>
              <a:t>1. La sostenibilidad</a:t>
            </a:r>
            <a:endParaRPr>
              <a:solidFill>
                <a:srgbClr val="00AEBA"/>
              </a:solidFill>
            </a:endParaRPr>
          </a:p>
        </p:txBody>
      </p:sp>
      <p:sp>
        <p:nvSpPr>
          <p:cNvPr id="148" name="Google Shape;148;p4"/>
          <p:cNvSpPr txBox="1"/>
          <p:nvPr/>
        </p:nvSpPr>
        <p:spPr>
          <a:xfrm>
            <a:off x="1162954" y="971740"/>
            <a:ext cx="5023105" cy="1376018"/>
          </a:xfrm>
          <a:prstGeom prst="rect">
            <a:avLst/>
          </a:prstGeom>
          <a:noFill/>
          <a:ln>
            <a:noFill/>
          </a:ln>
        </p:spPr>
        <p:txBody>
          <a:bodyPr anchorCtr="0" anchor="t" bIns="0" lIns="0" spcFirstLastPara="1" rIns="0" wrap="square" tIns="21575">
            <a:spAutoFit/>
          </a:bodyPr>
          <a:lstStyle/>
          <a:p>
            <a:pPr indent="-171450" lvl="0" marL="171450" rtl="0" algn="just">
              <a:spcBef>
                <a:spcPts val="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La actividad de producción y consumo que llevan a cabo las sociedades humanas necesita de los </a:t>
            </a:r>
            <a:r>
              <a:rPr b="1" lang="es-ES" sz="1100">
                <a:solidFill>
                  <a:srgbClr val="7F7F7F"/>
                </a:solidFill>
                <a:latin typeface="Verdana"/>
                <a:ea typeface="Verdana"/>
                <a:cs typeface="Verdana"/>
                <a:sym typeface="Verdana"/>
              </a:rPr>
              <a:t>ecosistemas</a:t>
            </a:r>
            <a:r>
              <a:rPr lang="es-ES" sz="1100">
                <a:solidFill>
                  <a:srgbClr val="7F7F7F"/>
                </a:solidFill>
                <a:latin typeface="Verdana"/>
                <a:ea typeface="Verdana"/>
                <a:cs typeface="Verdana"/>
                <a:sym typeface="Verdana"/>
              </a:rPr>
              <a:t>, que constituyen </a:t>
            </a:r>
            <a:r>
              <a:rPr b="1" lang="es-ES" sz="1100">
                <a:solidFill>
                  <a:srgbClr val="7F7F7F"/>
                </a:solidFill>
                <a:latin typeface="Verdana"/>
                <a:ea typeface="Verdana"/>
                <a:cs typeface="Verdana"/>
                <a:sym typeface="Verdana"/>
              </a:rPr>
              <a:t>fuentes de materias primas y energía</a:t>
            </a:r>
            <a:r>
              <a:rPr lang="es-ES" sz="1100">
                <a:solidFill>
                  <a:srgbClr val="7F7F7F"/>
                </a:solidFill>
                <a:latin typeface="Verdana"/>
                <a:ea typeface="Verdana"/>
                <a:cs typeface="Verdana"/>
                <a:sym typeface="Verdana"/>
              </a:rPr>
              <a:t>. </a:t>
            </a:r>
            <a:endParaRPr/>
          </a:p>
          <a:p>
            <a:pPr indent="-171450" lvl="0" marL="171450" rtl="0" algn="just">
              <a:spcBef>
                <a:spcPts val="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Los ecosistemas degradan los </a:t>
            </a:r>
            <a:r>
              <a:rPr b="1" lang="es-ES" sz="1100">
                <a:solidFill>
                  <a:srgbClr val="7F7F7F"/>
                </a:solidFill>
                <a:latin typeface="Verdana"/>
                <a:ea typeface="Verdana"/>
                <a:cs typeface="Verdana"/>
                <a:sym typeface="Verdana"/>
              </a:rPr>
              <a:t>residuos </a:t>
            </a:r>
            <a:r>
              <a:rPr lang="es-ES" sz="1100">
                <a:solidFill>
                  <a:srgbClr val="7F7F7F"/>
                </a:solidFill>
                <a:latin typeface="Verdana"/>
                <a:ea typeface="Verdana"/>
                <a:cs typeface="Verdana"/>
                <a:sym typeface="Verdana"/>
              </a:rPr>
              <a:t>y los transforman de nuevo en </a:t>
            </a:r>
            <a:r>
              <a:rPr b="1" lang="es-ES" sz="1100">
                <a:solidFill>
                  <a:srgbClr val="7F7F7F"/>
                </a:solidFill>
                <a:latin typeface="Verdana"/>
                <a:ea typeface="Verdana"/>
                <a:cs typeface="Verdana"/>
                <a:sym typeface="Verdana"/>
              </a:rPr>
              <a:t>fuentes</a:t>
            </a:r>
            <a:r>
              <a:rPr lang="es-ES" sz="1100">
                <a:solidFill>
                  <a:srgbClr val="7F7F7F"/>
                </a:solidFill>
                <a:latin typeface="Verdana"/>
                <a:ea typeface="Verdana"/>
                <a:cs typeface="Verdana"/>
                <a:sym typeface="Verdana"/>
              </a:rPr>
              <a:t>, que quedan de nuevo a disposición de la actividad económica. </a:t>
            </a:r>
            <a:endParaRPr/>
          </a:p>
          <a:p>
            <a:pPr indent="-171450" lvl="0" marL="171450" rtl="0" algn="just">
              <a:spcBef>
                <a:spcPts val="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Los ecosistemas estarán en </a:t>
            </a:r>
            <a:r>
              <a:rPr b="1" lang="es-ES" sz="1100">
                <a:solidFill>
                  <a:srgbClr val="7F7F7F"/>
                </a:solidFill>
                <a:latin typeface="Verdana"/>
                <a:ea typeface="Verdana"/>
                <a:cs typeface="Verdana"/>
                <a:sym typeface="Verdana"/>
              </a:rPr>
              <a:t>equilibrio </a:t>
            </a:r>
            <a:r>
              <a:rPr lang="es-ES" sz="1100">
                <a:solidFill>
                  <a:srgbClr val="7F7F7F"/>
                </a:solidFill>
                <a:latin typeface="Verdana"/>
                <a:ea typeface="Verdana"/>
                <a:cs typeface="Verdana"/>
                <a:sym typeface="Verdana"/>
              </a:rPr>
              <a:t>y serán sostenibles si la carga de residuos no excede su capacidad para transformarlos.</a:t>
            </a:r>
            <a:endParaRPr/>
          </a:p>
        </p:txBody>
      </p:sp>
      <p:pic>
        <p:nvPicPr>
          <p:cNvPr id="149" name="Google Shape;149;p4"/>
          <p:cNvPicPr preferRelativeResize="0"/>
          <p:nvPr/>
        </p:nvPicPr>
        <p:blipFill rotWithShape="1">
          <a:blip r:embed="rId7">
            <a:alphaModFix/>
          </a:blip>
          <a:srcRect b="0" l="0" r="0" t="0"/>
          <a:stretch/>
        </p:blipFill>
        <p:spPr>
          <a:xfrm>
            <a:off x="838200" y="135821"/>
            <a:ext cx="651776" cy="608324"/>
          </a:xfrm>
          <a:prstGeom prst="rect">
            <a:avLst/>
          </a:prstGeom>
          <a:noFill/>
          <a:ln>
            <a:noFill/>
          </a:ln>
        </p:spPr>
      </p:pic>
      <p:sp>
        <p:nvSpPr>
          <p:cNvPr id="150" name="Google Shape;150;p4"/>
          <p:cNvSpPr txBox="1"/>
          <p:nvPr/>
        </p:nvSpPr>
        <p:spPr>
          <a:xfrm>
            <a:off x="1175869" y="669861"/>
            <a:ext cx="6191728" cy="182101"/>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0" lang="es-ES" sz="1100">
                <a:solidFill>
                  <a:srgbClr val="00AEBA"/>
                </a:solidFill>
                <a:latin typeface="Verdana"/>
                <a:ea typeface="Verdana"/>
                <a:cs typeface="Verdana"/>
                <a:sym typeface="Verdana"/>
              </a:rPr>
              <a:t>1.1. Actividad humana y ecosistemas: la sostenibilidad</a:t>
            </a:r>
            <a:endParaRPr/>
          </a:p>
        </p:txBody>
      </p:sp>
      <p:pic>
        <p:nvPicPr>
          <p:cNvPr id="151" name="Google Shape;151;p4"/>
          <p:cNvPicPr preferRelativeResize="0"/>
          <p:nvPr/>
        </p:nvPicPr>
        <p:blipFill rotWithShape="1">
          <a:blip r:embed="rId8">
            <a:alphaModFix/>
          </a:blip>
          <a:srcRect b="0" l="0" r="0" t="0"/>
          <a:stretch/>
        </p:blipFill>
        <p:spPr>
          <a:xfrm>
            <a:off x="7239000" y="714302"/>
            <a:ext cx="1149406" cy="1143387"/>
          </a:xfrm>
          <a:prstGeom prst="rect">
            <a:avLst/>
          </a:prstGeom>
          <a:noFill/>
          <a:ln>
            <a:noFill/>
          </a:ln>
        </p:spPr>
      </p:pic>
      <p:sp>
        <p:nvSpPr>
          <p:cNvPr id="152" name="Google Shape;152;p4"/>
          <p:cNvSpPr txBox="1"/>
          <p:nvPr/>
        </p:nvSpPr>
        <p:spPr>
          <a:xfrm rot="-5400000">
            <a:off x="-584813" y="1283990"/>
            <a:ext cx="1815027" cy="153888"/>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s-ES" sz="1000">
                <a:solidFill>
                  <a:schemeClr val="dk1"/>
                </a:solidFill>
                <a:latin typeface="Verdana"/>
                <a:ea typeface="Verdana"/>
                <a:cs typeface="Verdana"/>
                <a:sym typeface="Verdana"/>
              </a:rPr>
              <a:t>Transversales  CF</a:t>
            </a:r>
            <a:endParaRPr b="1" sz="1000">
              <a:solidFill>
                <a:schemeClr val="dk1"/>
              </a:solidFill>
              <a:latin typeface="Verdana"/>
              <a:ea typeface="Verdana"/>
              <a:cs typeface="Verdana"/>
              <a:sym typeface="Verdana"/>
            </a:endParaRPr>
          </a:p>
        </p:txBody>
      </p:sp>
      <p:sp>
        <p:nvSpPr>
          <p:cNvPr id="153" name="Google Shape;153;p4"/>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7" name="Shape 157"/>
        <p:cNvGrpSpPr/>
        <p:nvPr/>
      </p:nvGrpSpPr>
      <p:grpSpPr>
        <a:xfrm>
          <a:off x="0" y="0"/>
          <a:ext cx="0" cy="0"/>
          <a:chOff x="0" y="0"/>
          <a:chExt cx="0" cy="0"/>
        </a:xfrm>
      </p:grpSpPr>
      <p:grpSp>
        <p:nvGrpSpPr>
          <p:cNvPr id="158" name="Google Shape;158;p5"/>
          <p:cNvGrpSpPr/>
          <p:nvPr/>
        </p:nvGrpSpPr>
        <p:grpSpPr>
          <a:xfrm>
            <a:off x="203278" y="166932"/>
            <a:ext cx="534035" cy="547370"/>
            <a:chOff x="203278" y="166932"/>
            <a:chExt cx="534035" cy="547370"/>
          </a:xfrm>
        </p:grpSpPr>
        <p:sp>
          <p:nvSpPr>
            <p:cNvPr id="159" name="Google Shape;159;p5"/>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60" name="Google Shape;160;p5"/>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161" name="Google Shape;161;p5"/>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62" name="Google Shape;162;p5"/>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163" name="Google Shape;163;p5"/>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sp>
        <p:nvSpPr>
          <p:cNvPr id="164" name="Google Shape;164;p5"/>
          <p:cNvSpPr txBox="1"/>
          <p:nvPr>
            <p:ph type="title"/>
          </p:nvPr>
        </p:nvSpPr>
        <p:spPr>
          <a:xfrm>
            <a:off x="1428272" y="259588"/>
            <a:ext cx="5658328" cy="259045"/>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lang="es-ES">
                <a:solidFill>
                  <a:srgbClr val="00AEBA"/>
                </a:solidFill>
              </a:rPr>
              <a:t>1. La sostenibilidad</a:t>
            </a:r>
            <a:endParaRPr>
              <a:solidFill>
                <a:srgbClr val="00AEBA"/>
              </a:solidFill>
            </a:endParaRPr>
          </a:p>
        </p:txBody>
      </p:sp>
      <p:sp>
        <p:nvSpPr>
          <p:cNvPr id="165" name="Google Shape;165;p5"/>
          <p:cNvSpPr txBox="1"/>
          <p:nvPr/>
        </p:nvSpPr>
        <p:spPr>
          <a:xfrm>
            <a:off x="1202646" y="919827"/>
            <a:ext cx="5410922" cy="360355"/>
          </a:xfrm>
          <a:prstGeom prst="rect">
            <a:avLst/>
          </a:prstGeom>
          <a:noFill/>
          <a:ln>
            <a:noFill/>
          </a:ln>
        </p:spPr>
        <p:txBody>
          <a:bodyPr anchorCtr="0" anchor="t" bIns="0" lIns="0" spcFirstLastPara="1" rIns="0" wrap="square" tIns="21575">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El </a:t>
            </a:r>
            <a:r>
              <a:rPr b="1" lang="es-ES" sz="1100">
                <a:solidFill>
                  <a:srgbClr val="7F7F7F"/>
                </a:solidFill>
                <a:latin typeface="Verdana"/>
                <a:ea typeface="Verdana"/>
                <a:cs typeface="Verdana"/>
                <a:sym typeface="Verdana"/>
              </a:rPr>
              <a:t>desarrollo </a:t>
            </a:r>
            <a:r>
              <a:rPr lang="es-ES" sz="1100">
                <a:solidFill>
                  <a:srgbClr val="7F7F7F"/>
                </a:solidFill>
                <a:latin typeface="Verdana"/>
                <a:ea typeface="Verdana"/>
                <a:cs typeface="Verdana"/>
                <a:sym typeface="Verdana"/>
              </a:rPr>
              <a:t>es el proceso por el cual una sociedad incrementa la capacidad de satisfacer las necesidades de las personas que viven en ella.</a:t>
            </a:r>
            <a:endParaRPr/>
          </a:p>
        </p:txBody>
      </p:sp>
      <p:pic>
        <p:nvPicPr>
          <p:cNvPr id="166" name="Google Shape;166;p5"/>
          <p:cNvPicPr preferRelativeResize="0"/>
          <p:nvPr/>
        </p:nvPicPr>
        <p:blipFill rotWithShape="1">
          <a:blip r:embed="rId6">
            <a:alphaModFix/>
          </a:blip>
          <a:srcRect b="0" l="0" r="0" t="0"/>
          <a:stretch/>
        </p:blipFill>
        <p:spPr>
          <a:xfrm>
            <a:off x="838200" y="135821"/>
            <a:ext cx="651776" cy="608324"/>
          </a:xfrm>
          <a:prstGeom prst="rect">
            <a:avLst/>
          </a:prstGeom>
          <a:noFill/>
          <a:ln>
            <a:noFill/>
          </a:ln>
        </p:spPr>
      </p:pic>
      <p:sp>
        <p:nvSpPr>
          <p:cNvPr id="167" name="Google Shape;167;p5"/>
          <p:cNvSpPr txBox="1"/>
          <p:nvPr/>
        </p:nvSpPr>
        <p:spPr>
          <a:xfrm>
            <a:off x="7121471" y="1106013"/>
            <a:ext cx="1539356" cy="1197764"/>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lang="es-ES" sz="1100">
                <a:solidFill>
                  <a:srgbClr val="7F7F7F"/>
                </a:solidFill>
                <a:latin typeface="Verdana"/>
                <a:ea typeface="Verdana"/>
                <a:cs typeface="Verdana"/>
                <a:sym typeface="Verdana"/>
              </a:rPr>
              <a:t>El uso masivo de petróleo durante el siglo </a:t>
            </a:r>
            <a:r>
              <a:rPr lang="es-ES" sz="1100" cap="small">
                <a:solidFill>
                  <a:srgbClr val="7F7F7F"/>
                </a:solidFill>
                <a:latin typeface="Verdana"/>
                <a:ea typeface="Verdana"/>
                <a:cs typeface="Verdana"/>
                <a:sym typeface="Verdana"/>
              </a:rPr>
              <a:t>xx</a:t>
            </a:r>
            <a:r>
              <a:rPr lang="es-ES" sz="1100">
                <a:solidFill>
                  <a:srgbClr val="7F7F7F"/>
                </a:solidFill>
                <a:latin typeface="Verdana"/>
                <a:ea typeface="Verdana"/>
                <a:cs typeface="Verdana"/>
                <a:sym typeface="Verdana"/>
              </a:rPr>
              <a:t> supone que ese recurso está menos disponible para las generaciones del siglo </a:t>
            </a:r>
            <a:r>
              <a:rPr lang="es-ES" sz="1100" cap="small">
                <a:solidFill>
                  <a:srgbClr val="7F7F7F"/>
                </a:solidFill>
                <a:latin typeface="Verdana"/>
                <a:ea typeface="Verdana"/>
                <a:cs typeface="Verdana"/>
                <a:sym typeface="Verdana"/>
              </a:rPr>
              <a:t>xxi</a:t>
            </a:r>
            <a:r>
              <a:rPr lang="es-ES" sz="1100">
                <a:solidFill>
                  <a:srgbClr val="7F7F7F"/>
                </a:solidFill>
                <a:latin typeface="Verdana"/>
                <a:ea typeface="Verdana"/>
                <a:cs typeface="Verdana"/>
                <a:sym typeface="Verdana"/>
              </a:rPr>
              <a:t>. </a:t>
            </a:r>
            <a:endParaRPr/>
          </a:p>
        </p:txBody>
      </p:sp>
      <p:sp>
        <p:nvSpPr>
          <p:cNvPr id="168" name="Google Shape;168;p5"/>
          <p:cNvSpPr/>
          <p:nvPr/>
        </p:nvSpPr>
        <p:spPr>
          <a:xfrm>
            <a:off x="6941820" y="980303"/>
            <a:ext cx="1897380" cy="1439048"/>
          </a:xfrm>
          <a:custGeom>
            <a:rect b="b" l="l" r="r" t="t"/>
            <a:pathLst>
              <a:path extrusionOk="0" h="1434464" w="1898015">
                <a:moveTo>
                  <a:pt x="0" y="239004"/>
                </a:moveTo>
                <a:lnTo>
                  <a:pt x="4855" y="190837"/>
                </a:lnTo>
                <a:lnTo>
                  <a:pt x="18782" y="145973"/>
                </a:lnTo>
                <a:lnTo>
                  <a:pt x="40818" y="105374"/>
                </a:lnTo>
                <a:lnTo>
                  <a:pt x="70002" y="70002"/>
                </a:lnTo>
                <a:lnTo>
                  <a:pt x="105374" y="40818"/>
                </a:lnTo>
                <a:lnTo>
                  <a:pt x="145973" y="18782"/>
                </a:lnTo>
                <a:lnTo>
                  <a:pt x="190836" y="4855"/>
                </a:lnTo>
                <a:lnTo>
                  <a:pt x="239004" y="0"/>
                </a:lnTo>
                <a:lnTo>
                  <a:pt x="1658539" y="0"/>
                </a:lnTo>
                <a:lnTo>
                  <a:pt x="1706706" y="4855"/>
                </a:lnTo>
                <a:lnTo>
                  <a:pt x="1751570" y="18782"/>
                </a:lnTo>
                <a:lnTo>
                  <a:pt x="1792169" y="40818"/>
                </a:lnTo>
                <a:lnTo>
                  <a:pt x="1827541" y="70002"/>
                </a:lnTo>
                <a:lnTo>
                  <a:pt x="1856725" y="105374"/>
                </a:lnTo>
                <a:lnTo>
                  <a:pt x="1878761" y="145973"/>
                </a:lnTo>
                <a:lnTo>
                  <a:pt x="1892688" y="190837"/>
                </a:lnTo>
                <a:lnTo>
                  <a:pt x="1897544" y="239004"/>
                </a:lnTo>
                <a:lnTo>
                  <a:pt x="1897544" y="1194993"/>
                </a:lnTo>
                <a:lnTo>
                  <a:pt x="1892688" y="1243160"/>
                </a:lnTo>
                <a:lnTo>
                  <a:pt x="1878761" y="1288024"/>
                </a:lnTo>
                <a:lnTo>
                  <a:pt x="1856725" y="1328623"/>
                </a:lnTo>
                <a:lnTo>
                  <a:pt x="1827541" y="1363995"/>
                </a:lnTo>
                <a:lnTo>
                  <a:pt x="1792169" y="1393179"/>
                </a:lnTo>
                <a:lnTo>
                  <a:pt x="1751570" y="1415215"/>
                </a:lnTo>
                <a:lnTo>
                  <a:pt x="1706706" y="1429142"/>
                </a:lnTo>
                <a:lnTo>
                  <a:pt x="1658539" y="1433998"/>
                </a:lnTo>
                <a:lnTo>
                  <a:pt x="239004" y="1433998"/>
                </a:lnTo>
                <a:lnTo>
                  <a:pt x="190836" y="1429142"/>
                </a:lnTo>
                <a:lnTo>
                  <a:pt x="145973" y="1415215"/>
                </a:lnTo>
                <a:lnTo>
                  <a:pt x="105374" y="1393179"/>
                </a:lnTo>
                <a:lnTo>
                  <a:pt x="70002" y="1363995"/>
                </a:lnTo>
                <a:lnTo>
                  <a:pt x="40818" y="1328623"/>
                </a:lnTo>
                <a:lnTo>
                  <a:pt x="18782" y="1288024"/>
                </a:lnTo>
                <a:lnTo>
                  <a:pt x="4855" y="1243160"/>
                </a:lnTo>
                <a:lnTo>
                  <a:pt x="0" y="1194993"/>
                </a:lnTo>
                <a:lnTo>
                  <a:pt x="0" y="239004"/>
                </a:lnTo>
                <a:close/>
              </a:path>
            </a:pathLst>
          </a:custGeom>
          <a:noFill/>
          <a:ln cap="flat" cmpd="sng" w="19050">
            <a:solidFill>
              <a:srgbClr val="00AEB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 name="Google Shape;169;p5"/>
          <p:cNvSpPr txBox="1"/>
          <p:nvPr/>
        </p:nvSpPr>
        <p:spPr>
          <a:xfrm>
            <a:off x="7042616" y="610349"/>
            <a:ext cx="2110716" cy="326349"/>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00AEBA"/>
              </a:buClr>
              <a:buSzPts val="1600"/>
              <a:buFont typeface="Arial"/>
              <a:buNone/>
            </a:pPr>
            <a:r>
              <a:rPr lang="es-ES" sz="1600">
                <a:solidFill>
                  <a:srgbClr val="00AEBA"/>
                </a:solidFill>
                <a:latin typeface="Verdana"/>
                <a:ea typeface="Verdana"/>
                <a:cs typeface="Verdana"/>
                <a:sym typeface="Verdana"/>
              </a:rPr>
              <a:t>¿Sabías que…?</a:t>
            </a:r>
            <a:endParaRPr/>
          </a:p>
          <a:p>
            <a:pPr indent="0" lvl="0" marL="0" rtl="0" algn="l">
              <a:spcBef>
                <a:spcPts val="320"/>
              </a:spcBef>
              <a:spcAft>
                <a:spcPts val="0"/>
              </a:spcAft>
              <a:buClr>
                <a:srgbClr val="888888"/>
              </a:buClr>
              <a:buSzPts val="1600"/>
              <a:buFont typeface="Arial"/>
              <a:buNone/>
            </a:pPr>
            <a:r>
              <a:t/>
            </a:r>
            <a:endParaRPr sz="1600">
              <a:solidFill>
                <a:srgbClr val="7F7F7F"/>
              </a:solidFill>
              <a:latin typeface="Verdana"/>
              <a:ea typeface="Verdana"/>
              <a:cs typeface="Verdana"/>
              <a:sym typeface="Verdana"/>
            </a:endParaRPr>
          </a:p>
          <a:p>
            <a:pPr indent="0" lvl="0" marL="0" rtl="0" algn="l">
              <a:spcBef>
                <a:spcPts val="320"/>
              </a:spcBef>
              <a:spcAft>
                <a:spcPts val="0"/>
              </a:spcAft>
              <a:buClr>
                <a:srgbClr val="888888"/>
              </a:buClr>
              <a:buSzPts val="1600"/>
              <a:buFont typeface="Arial"/>
              <a:buNone/>
            </a:pPr>
            <a:r>
              <a:t/>
            </a:r>
            <a:endParaRPr sz="1600">
              <a:solidFill>
                <a:srgbClr val="7F7F7F"/>
              </a:solidFill>
              <a:latin typeface="Verdana"/>
              <a:ea typeface="Verdana"/>
              <a:cs typeface="Verdana"/>
              <a:sym typeface="Verdana"/>
            </a:endParaRPr>
          </a:p>
        </p:txBody>
      </p:sp>
      <p:pic>
        <p:nvPicPr>
          <p:cNvPr id="170" name="Google Shape;170;p5"/>
          <p:cNvPicPr preferRelativeResize="0"/>
          <p:nvPr/>
        </p:nvPicPr>
        <p:blipFill rotWithShape="1">
          <a:blip r:embed="rId7">
            <a:alphaModFix/>
          </a:blip>
          <a:srcRect b="0" l="0" r="0" t="0"/>
          <a:stretch/>
        </p:blipFill>
        <p:spPr>
          <a:xfrm>
            <a:off x="6613568" y="513026"/>
            <a:ext cx="558206" cy="520992"/>
          </a:xfrm>
          <a:prstGeom prst="rect">
            <a:avLst/>
          </a:prstGeom>
          <a:noFill/>
          <a:ln>
            <a:noFill/>
          </a:ln>
        </p:spPr>
      </p:pic>
      <p:sp>
        <p:nvSpPr>
          <p:cNvPr id="171" name="Google Shape;171;p5"/>
          <p:cNvSpPr/>
          <p:nvPr/>
        </p:nvSpPr>
        <p:spPr>
          <a:xfrm>
            <a:off x="6941820" y="3627736"/>
            <a:ext cx="1869291" cy="919558"/>
          </a:xfrm>
          <a:custGeom>
            <a:rect b="b" l="l" r="r" t="t"/>
            <a:pathLst>
              <a:path extrusionOk="0" h="453389" w="1884045">
                <a:moveTo>
                  <a:pt x="0" y="75545"/>
                </a:moveTo>
                <a:lnTo>
                  <a:pt x="5936" y="46139"/>
                </a:lnTo>
                <a:lnTo>
                  <a:pt x="22126" y="22126"/>
                </a:lnTo>
                <a:lnTo>
                  <a:pt x="46139" y="5936"/>
                </a:lnTo>
                <a:lnTo>
                  <a:pt x="75545" y="0"/>
                </a:lnTo>
                <a:lnTo>
                  <a:pt x="1807938" y="0"/>
                </a:lnTo>
                <a:lnTo>
                  <a:pt x="1837343" y="5936"/>
                </a:lnTo>
                <a:lnTo>
                  <a:pt x="1861356" y="22126"/>
                </a:lnTo>
                <a:lnTo>
                  <a:pt x="1877546" y="46139"/>
                </a:lnTo>
                <a:lnTo>
                  <a:pt x="1883483" y="75545"/>
                </a:lnTo>
                <a:lnTo>
                  <a:pt x="1883483" y="377713"/>
                </a:lnTo>
                <a:lnTo>
                  <a:pt x="1877546" y="407119"/>
                </a:lnTo>
                <a:lnTo>
                  <a:pt x="1861356" y="431132"/>
                </a:lnTo>
                <a:lnTo>
                  <a:pt x="1837343" y="447322"/>
                </a:lnTo>
                <a:lnTo>
                  <a:pt x="1807938" y="453259"/>
                </a:lnTo>
                <a:lnTo>
                  <a:pt x="75545" y="453259"/>
                </a:lnTo>
                <a:lnTo>
                  <a:pt x="46139" y="447322"/>
                </a:lnTo>
                <a:lnTo>
                  <a:pt x="22126" y="431132"/>
                </a:lnTo>
                <a:lnTo>
                  <a:pt x="5936" y="407119"/>
                </a:lnTo>
                <a:lnTo>
                  <a:pt x="0" y="377713"/>
                </a:lnTo>
                <a:lnTo>
                  <a:pt x="0" y="75545"/>
                </a:lnTo>
                <a:close/>
              </a:path>
            </a:pathLst>
          </a:custGeom>
          <a:noFill/>
          <a:ln cap="flat" cmpd="sng" w="19050">
            <a:solidFill>
              <a:srgbClr val="A0D27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2" name="Google Shape;172;p5"/>
          <p:cNvSpPr txBox="1"/>
          <p:nvPr/>
        </p:nvSpPr>
        <p:spPr>
          <a:xfrm>
            <a:off x="6892671" y="3198246"/>
            <a:ext cx="1724511"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ES" sz="1800">
                <a:solidFill>
                  <a:srgbClr val="A0D273"/>
                </a:solidFill>
                <a:latin typeface="Verdana"/>
                <a:ea typeface="Verdana"/>
                <a:cs typeface="Verdana"/>
                <a:sym typeface="Verdana"/>
              </a:rPr>
              <a:t>Caso práctico</a:t>
            </a:r>
            <a:endParaRPr sz="1800">
              <a:solidFill>
                <a:srgbClr val="A0D273"/>
              </a:solidFill>
            </a:endParaRPr>
          </a:p>
        </p:txBody>
      </p:sp>
      <p:sp>
        <p:nvSpPr>
          <p:cNvPr id="173" name="Google Shape;173;p5"/>
          <p:cNvSpPr txBox="1"/>
          <p:nvPr/>
        </p:nvSpPr>
        <p:spPr>
          <a:xfrm>
            <a:off x="7121472" y="3752522"/>
            <a:ext cx="1412928" cy="713016"/>
          </a:xfrm>
          <a:prstGeom prst="rect">
            <a:avLst/>
          </a:prstGeom>
          <a:noFill/>
          <a:ln>
            <a:noFill/>
          </a:ln>
        </p:spPr>
        <p:txBody>
          <a:bodyPr anchorCtr="0" anchor="t" bIns="0" lIns="0" spcFirstLastPara="1" rIns="0" wrap="square" tIns="20300">
            <a:spAutoFit/>
          </a:bodyPr>
          <a:lstStyle/>
          <a:p>
            <a:pPr indent="0" lvl="0" marL="12700" marR="5080" rtl="0" algn="l">
              <a:lnSpc>
                <a:spcPct val="118181"/>
              </a:lnSpc>
              <a:spcBef>
                <a:spcPts val="0"/>
              </a:spcBef>
              <a:spcAft>
                <a:spcPts val="0"/>
              </a:spcAft>
              <a:buNone/>
            </a:pPr>
            <a:r>
              <a:rPr lang="es-ES" sz="1100">
                <a:solidFill>
                  <a:srgbClr val="7F7F7F"/>
                </a:solidFill>
                <a:latin typeface="Verdana"/>
                <a:ea typeface="Verdana"/>
                <a:cs typeface="Verdana"/>
                <a:sym typeface="Verdana"/>
              </a:rPr>
              <a:t>MEJORANDO LA SOSTENIBILIDAD DE UNA EMPRESA.</a:t>
            </a:r>
            <a:endParaRPr/>
          </a:p>
          <a:p>
            <a:pPr indent="0" lvl="0" marL="12700" marR="5080" rtl="0" algn="l">
              <a:lnSpc>
                <a:spcPct val="118181"/>
              </a:lnSpc>
              <a:spcBef>
                <a:spcPts val="160"/>
              </a:spcBef>
              <a:spcAft>
                <a:spcPts val="0"/>
              </a:spcAft>
              <a:buNone/>
            </a:pPr>
            <a:r>
              <a:rPr lang="es-ES" sz="1100">
                <a:solidFill>
                  <a:srgbClr val="7F7F7F"/>
                </a:solidFill>
                <a:latin typeface="Verdana"/>
                <a:ea typeface="Verdana"/>
                <a:cs typeface="Verdana"/>
                <a:sym typeface="Verdana"/>
              </a:rPr>
              <a:t>PÁGINA 9.</a:t>
            </a:r>
            <a:endParaRPr sz="1100">
              <a:latin typeface="Verdana"/>
              <a:ea typeface="Verdana"/>
              <a:cs typeface="Verdana"/>
              <a:sym typeface="Verdana"/>
            </a:endParaRPr>
          </a:p>
        </p:txBody>
      </p:sp>
      <p:sp>
        <p:nvSpPr>
          <p:cNvPr id="174" name="Google Shape;174;p5"/>
          <p:cNvSpPr txBox="1"/>
          <p:nvPr/>
        </p:nvSpPr>
        <p:spPr>
          <a:xfrm>
            <a:off x="1175869" y="682344"/>
            <a:ext cx="6191728" cy="182101"/>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0" lang="es-ES" sz="1100">
                <a:solidFill>
                  <a:srgbClr val="00AEBA"/>
                </a:solidFill>
                <a:latin typeface="Verdana"/>
                <a:ea typeface="Verdana"/>
                <a:cs typeface="Verdana"/>
                <a:sym typeface="Verdana"/>
              </a:rPr>
              <a:t>1.2. El desarrollo sostenible</a:t>
            </a:r>
            <a:endParaRPr/>
          </a:p>
        </p:txBody>
      </p:sp>
      <p:sp>
        <p:nvSpPr>
          <p:cNvPr id="175" name="Google Shape;175;p5"/>
          <p:cNvSpPr/>
          <p:nvPr/>
        </p:nvSpPr>
        <p:spPr>
          <a:xfrm>
            <a:off x="1202646" y="1492852"/>
            <a:ext cx="5410922" cy="600164"/>
          </a:xfrm>
          <a:prstGeom prst="rect">
            <a:avLst/>
          </a:prstGeom>
          <a:solidFill>
            <a:srgbClr val="EBF6EC"/>
          </a:solidFill>
          <a:ln cap="flat" cmpd="sng" w="19050">
            <a:solidFill>
              <a:srgbClr val="00964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540000" rtl="0" algn="just">
              <a:spcBef>
                <a:spcPts val="0"/>
              </a:spcBef>
              <a:spcAft>
                <a:spcPts val="0"/>
              </a:spcAft>
              <a:buNone/>
            </a:pPr>
            <a:r>
              <a:rPr lang="es-ES" sz="1100">
                <a:solidFill>
                  <a:schemeClr val="dk1"/>
                </a:solidFill>
                <a:latin typeface="Verdana"/>
                <a:ea typeface="Verdana"/>
                <a:cs typeface="Verdana"/>
                <a:sym typeface="Verdana"/>
              </a:rPr>
              <a:t>El </a:t>
            </a:r>
            <a:r>
              <a:rPr b="1" lang="es-ES" sz="1100">
                <a:solidFill>
                  <a:schemeClr val="dk1"/>
                </a:solidFill>
                <a:latin typeface="Verdana"/>
                <a:ea typeface="Verdana"/>
                <a:cs typeface="Verdana"/>
                <a:sym typeface="Verdana"/>
              </a:rPr>
              <a:t>desarrollo sostenible </a:t>
            </a:r>
            <a:r>
              <a:rPr lang="es-ES" sz="1100">
                <a:solidFill>
                  <a:schemeClr val="dk1"/>
                </a:solidFill>
                <a:latin typeface="Verdana"/>
                <a:ea typeface="Verdana"/>
                <a:cs typeface="Verdana"/>
                <a:sym typeface="Verdana"/>
              </a:rPr>
              <a:t>es aquel que busca satisfacer las necesidades de la generación presente sin comprometer la capacidad de las futuras generaciones  para satisfacer las propias.</a:t>
            </a:r>
            <a:endParaRPr/>
          </a:p>
        </p:txBody>
      </p:sp>
      <p:sp>
        <p:nvSpPr>
          <p:cNvPr id="176" name="Google Shape;176;p5"/>
          <p:cNvSpPr/>
          <p:nvPr/>
        </p:nvSpPr>
        <p:spPr>
          <a:xfrm>
            <a:off x="1104009" y="4573983"/>
            <a:ext cx="5480941" cy="215444"/>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ES" sz="800">
                <a:latin typeface="Verdana"/>
                <a:ea typeface="Verdana"/>
                <a:cs typeface="Verdana"/>
                <a:sym typeface="Verdana"/>
              </a:rPr>
              <a:t>El desarrollo sostenible comprende tres dimensiones: medioambiental, económica y social.</a:t>
            </a:r>
            <a:endParaRPr/>
          </a:p>
        </p:txBody>
      </p:sp>
      <p:pic>
        <p:nvPicPr>
          <p:cNvPr id="177" name="Google Shape;177;p5"/>
          <p:cNvPicPr preferRelativeResize="0"/>
          <p:nvPr/>
        </p:nvPicPr>
        <p:blipFill rotWithShape="1">
          <a:blip r:embed="rId8">
            <a:alphaModFix/>
          </a:blip>
          <a:srcRect b="0" l="0" r="0" t="0"/>
          <a:stretch/>
        </p:blipFill>
        <p:spPr>
          <a:xfrm>
            <a:off x="1352399" y="2224610"/>
            <a:ext cx="4986407" cy="2335284"/>
          </a:xfrm>
          <a:prstGeom prst="rect">
            <a:avLst/>
          </a:prstGeom>
          <a:noFill/>
          <a:ln>
            <a:noFill/>
          </a:ln>
        </p:spPr>
      </p:pic>
      <p:sp>
        <p:nvSpPr>
          <p:cNvPr id="178" name="Google Shape;178;p5"/>
          <p:cNvSpPr txBox="1"/>
          <p:nvPr/>
        </p:nvSpPr>
        <p:spPr>
          <a:xfrm rot="-5400000">
            <a:off x="-584813" y="1283990"/>
            <a:ext cx="1815027" cy="153888"/>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s-ES" sz="1000">
                <a:solidFill>
                  <a:schemeClr val="dk1"/>
                </a:solidFill>
                <a:latin typeface="Verdana"/>
                <a:ea typeface="Verdana"/>
                <a:cs typeface="Verdana"/>
                <a:sym typeface="Verdana"/>
              </a:rPr>
              <a:t>Transversales  CF</a:t>
            </a:r>
            <a:endParaRPr b="1" sz="1000">
              <a:solidFill>
                <a:schemeClr val="dk1"/>
              </a:solidFill>
              <a:latin typeface="Verdana"/>
              <a:ea typeface="Verdana"/>
              <a:cs typeface="Verdana"/>
              <a:sym typeface="Verdana"/>
            </a:endParaRPr>
          </a:p>
        </p:txBody>
      </p:sp>
      <p:grpSp>
        <p:nvGrpSpPr>
          <p:cNvPr id="179" name="Google Shape;179;p5"/>
          <p:cNvGrpSpPr/>
          <p:nvPr/>
        </p:nvGrpSpPr>
        <p:grpSpPr>
          <a:xfrm>
            <a:off x="6539626" y="3245631"/>
            <a:ext cx="314956" cy="325120"/>
            <a:chOff x="974348" y="3037844"/>
            <a:chExt cx="314956" cy="325120"/>
          </a:xfrm>
        </p:grpSpPr>
        <p:grpSp>
          <p:nvGrpSpPr>
            <p:cNvPr id="180" name="Google Shape;180;p5"/>
            <p:cNvGrpSpPr/>
            <p:nvPr/>
          </p:nvGrpSpPr>
          <p:grpSpPr>
            <a:xfrm>
              <a:off x="974348" y="3037844"/>
              <a:ext cx="314956" cy="325120"/>
              <a:chOff x="953952" y="3064430"/>
              <a:chExt cx="314956" cy="325120"/>
            </a:xfrm>
          </p:grpSpPr>
          <p:sp>
            <p:nvSpPr>
              <p:cNvPr id="181" name="Google Shape;181;p5"/>
              <p:cNvSpPr/>
              <p:nvPr/>
            </p:nvSpPr>
            <p:spPr>
              <a:xfrm>
                <a:off x="953952" y="3064430"/>
                <a:ext cx="282575" cy="325120"/>
              </a:xfrm>
              <a:custGeom>
                <a:rect b="b" l="l" r="r" t="t"/>
                <a:pathLst>
                  <a:path extrusionOk="0" h="325120" w="282575">
                    <a:moveTo>
                      <a:pt x="282549" y="277097"/>
                    </a:moveTo>
                    <a:lnTo>
                      <a:pt x="247256" y="303513"/>
                    </a:lnTo>
                    <a:lnTo>
                      <a:pt x="207501" y="319364"/>
                    </a:lnTo>
                    <a:lnTo>
                      <a:pt x="165515" y="324650"/>
                    </a:lnTo>
                    <a:lnTo>
                      <a:pt x="123529" y="319370"/>
                    </a:lnTo>
                    <a:lnTo>
                      <a:pt x="83774" y="303524"/>
                    </a:lnTo>
                    <a:lnTo>
                      <a:pt x="48481" y="277109"/>
                    </a:lnTo>
                    <a:lnTo>
                      <a:pt x="21545" y="242494"/>
                    </a:lnTo>
                    <a:lnTo>
                      <a:pt x="5385" y="203504"/>
                    </a:lnTo>
                    <a:lnTo>
                      <a:pt x="0" y="162326"/>
                    </a:lnTo>
                    <a:lnTo>
                      <a:pt x="5388" y="121148"/>
                    </a:lnTo>
                    <a:lnTo>
                      <a:pt x="21549" y="82157"/>
                    </a:lnTo>
                    <a:lnTo>
                      <a:pt x="48481" y="47542"/>
                    </a:lnTo>
                    <a:lnTo>
                      <a:pt x="83774" y="21131"/>
                    </a:lnTo>
                    <a:lnTo>
                      <a:pt x="123529" y="5283"/>
                    </a:lnTo>
                    <a:lnTo>
                      <a:pt x="165515" y="0"/>
                    </a:lnTo>
                    <a:lnTo>
                      <a:pt x="207501" y="5281"/>
                    </a:lnTo>
                    <a:lnTo>
                      <a:pt x="247256" y="21128"/>
                    </a:lnTo>
                    <a:lnTo>
                      <a:pt x="282549" y="47542"/>
                    </a:lnTo>
                  </a:path>
                </a:pathLst>
              </a:custGeom>
              <a:noFill/>
              <a:ln cap="flat" cmpd="sng" w="30725">
                <a:solidFill>
                  <a:srgbClr val="ADCE6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82" name="Google Shape;182;p5"/>
              <p:cNvPicPr preferRelativeResize="0"/>
              <p:nvPr/>
            </p:nvPicPr>
            <p:blipFill rotWithShape="1">
              <a:blip r:embed="rId9">
                <a:alphaModFix/>
              </a:blip>
              <a:srcRect b="0" l="0" r="0" t="0"/>
              <a:stretch/>
            </p:blipFill>
            <p:spPr>
              <a:xfrm>
                <a:off x="1199475" y="3079761"/>
                <a:ext cx="69433" cy="68757"/>
              </a:xfrm>
              <a:prstGeom prst="rect">
                <a:avLst/>
              </a:prstGeom>
              <a:noFill/>
              <a:ln>
                <a:noFill/>
              </a:ln>
            </p:spPr>
          </p:pic>
        </p:grpSp>
        <p:sp>
          <p:nvSpPr>
            <p:cNvPr id="183" name="Google Shape;183;p5"/>
            <p:cNvSpPr txBox="1"/>
            <p:nvPr/>
          </p:nvSpPr>
          <p:spPr>
            <a:xfrm>
              <a:off x="1083564" y="3103506"/>
              <a:ext cx="114300" cy="18210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1100">
                  <a:solidFill>
                    <a:srgbClr val="A0D273"/>
                  </a:solidFill>
                  <a:latin typeface="Verdana"/>
                  <a:ea typeface="Verdana"/>
                  <a:cs typeface="Verdana"/>
                  <a:sym typeface="Verdana"/>
                </a:rPr>
                <a:t>1</a:t>
              </a:r>
              <a:endParaRPr sz="1100">
                <a:solidFill>
                  <a:srgbClr val="A0D273"/>
                </a:solidFill>
                <a:latin typeface="Verdana"/>
                <a:ea typeface="Verdana"/>
                <a:cs typeface="Verdana"/>
                <a:sym typeface="Verdana"/>
              </a:endParaRPr>
            </a:p>
          </p:txBody>
        </p:sp>
      </p:grpSp>
      <p:cxnSp>
        <p:nvCxnSpPr>
          <p:cNvPr id="184" name="Google Shape;184;p5"/>
          <p:cNvCxnSpPr/>
          <p:nvPr/>
        </p:nvCxnSpPr>
        <p:spPr>
          <a:xfrm>
            <a:off x="1356274" y="1492852"/>
            <a:ext cx="0" cy="600164"/>
          </a:xfrm>
          <a:prstGeom prst="straightConnector1">
            <a:avLst/>
          </a:prstGeom>
          <a:noFill/>
          <a:ln cap="flat" cmpd="sng" w="19050">
            <a:solidFill>
              <a:srgbClr val="009641"/>
            </a:solidFill>
            <a:prstDash val="solid"/>
            <a:round/>
            <a:headEnd len="sm" w="sm" type="none"/>
            <a:tailEnd len="sm" w="sm" type="none"/>
          </a:ln>
        </p:spPr>
      </p:cxnSp>
      <p:cxnSp>
        <p:nvCxnSpPr>
          <p:cNvPr id="185" name="Google Shape;185;p5"/>
          <p:cNvCxnSpPr/>
          <p:nvPr/>
        </p:nvCxnSpPr>
        <p:spPr>
          <a:xfrm>
            <a:off x="1441685" y="1492852"/>
            <a:ext cx="0" cy="600164"/>
          </a:xfrm>
          <a:prstGeom prst="straightConnector1">
            <a:avLst/>
          </a:prstGeom>
          <a:noFill/>
          <a:ln cap="flat" cmpd="sng" w="19050">
            <a:solidFill>
              <a:srgbClr val="009641"/>
            </a:solidFill>
            <a:prstDash val="solid"/>
            <a:round/>
            <a:headEnd len="sm" w="sm" type="none"/>
            <a:tailEnd len="sm" w="sm" type="none"/>
          </a:ln>
        </p:spPr>
      </p:cxnSp>
      <p:sp>
        <p:nvSpPr>
          <p:cNvPr id="186" name="Google Shape;186;p5"/>
          <p:cNvSpPr/>
          <p:nvPr/>
        </p:nvSpPr>
        <p:spPr>
          <a:xfrm>
            <a:off x="0" y="4900841"/>
            <a:ext cx="9144000" cy="254509"/>
          </a:xfrm>
          <a:custGeom>
            <a:rect b="b" l="l" r="r" t="t"/>
            <a:pathLst>
              <a:path extrusionOk="0" h="247650" w="9144000">
                <a:moveTo>
                  <a:pt x="0" y="0"/>
                </a:moveTo>
                <a:lnTo>
                  <a:pt x="9144000" y="0"/>
                </a:lnTo>
                <a:lnTo>
                  <a:pt x="9144000" y="247650"/>
                </a:lnTo>
                <a:lnTo>
                  <a:pt x="0" y="247650"/>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7" name="Google Shape;187;p5"/>
          <p:cNvSpPr txBox="1"/>
          <p:nvPr/>
        </p:nvSpPr>
        <p:spPr>
          <a:xfrm>
            <a:off x="0" y="4952054"/>
            <a:ext cx="9144000" cy="153888"/>
          </a:xfrm>
          <a:prstGeom prst="rect">
            <a:avLst/>
          </a:prstGeom>
          <a:noFill/>
          <a:ln>
            <a:noFill/>
          </a:ln>
        </p:spPr>
        <p:txBody>
          <a:bodyPr anchorCtr="0" anchor="t" bIns="0" lIns="0" spcFirstLastPara="1" rIns="0" wrap="square" tIns="0">
            <a:spAutoFit/>
          </a:bodyPr>
          <a:lstStyle/>
          <a:p>
            <a:pPr indent="0" lvl="0" marL="12700" rtl="0" algn="ctr">
              <a:spcBef>
                <a:spcPts val="0"/>
              </a:spcBef>
              <a:spcAft>
                <a:spcPts val="0"/>
              </a:spcAft>
              <a:buNone/>
            </a:pPr>
            <a:r>
              <a:rPr b="0" i="0" lang="es-ES" sz="1000">
                <a:solidFill>
                  <a:schemeClr val="dk1"/>
                </a:solidFill>
                <a:latin typeface="Verdana"/>
                <a:ea typeface="Verdana"/>
                <a:cs typeface="Verdana"/>
                <a:sym typeface="Verdana"/>
              </a:rPr>
              <a:t>© McGraw Hill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1" name="Shape 191"/>
        <p:cNvGrpSpPr/>
        <p:nvPr/>
      </p:nvGrpSpPr>
      <p:grpSpPr>
        <a:xfrm>
          <a:off x="0" y="0"/>
          <a:ext cx="0" cy="0"/>
          <a:chOff x="0" y="0"/>
          <a:chExt cx="0" cy="0"/>
        </a:xfrm>
      </p:grpSpPr>
      <p:sp>
        <p:nvSpPr>
          <p:cNvPr id="192" name="Google Shape;192;p6"/>
          <p:cNvSpPr/>
          <p:nvPr/>
        </p:nvSpPr>
        <p:spPr>
          <a:xfrm>
            <a:off x="0" y="4912798"/>
            <a:ext cx="9144000" cy="245745"/>
          </a:xfrm>
          <a:custGeom>
            <a:rect b="b" l="l" r="r" t="t"/>
            <a:pathLst>
              <a:path extrusionOk="0" h="245745" w="9132570">
                <a:moveTo>
                  <a:pt x="0" y="0"/>
                </a:moveTo>
                <a:lnTo>
                  <a:pt x="9132288" y="0"/>
                </a:lnTo>
                <a:lnTo>
                  <a:pt x="9132288" y="245496"/>
                </a:lnTo>
                <a:lnTo>
                  <a:pt x="0" y="245496"/>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193" name="Google Shape;193;p6"/>
          <p:cNvGrpSpPr/>
          <p:nvPr/>
        </p:nvGrpSpPr>
        <p:grpSpPr>
          <a:xfrm>
            <a:off x="203278" y="166932"/>
            <a:ext cx="534035" cy="547370"/>
            <a:chOff x="203278" y="166932"/>
            <a:chExt cx="534035" cy="547370"/>
          </a:xfrm>
        </p:grpSpPr>
        <p:sp>
          <p:nvSpPr>
            <p:cNvPr id="194" name="Google Shape;194;p6"/>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95" name="Google Shape;195;p6"/>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196" name="Google Shape;196;p6"/>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97" name="Google Shape;197;p6"/>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198" name="Google Shape;198;p6"/>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sp>
        <p:nvSpPr>
          <p:cNvPr id="199" name="Google Shape;199;p6"/>
          <p:cNvSpPr txBox="1"/>
          <p:nvPr>
            <p:ph type="title"/>
          </p:nvPr>
        </p:nvSpPr>
        <p:spPr>
          <a:xfrm>
            <a:off x="1428272" y="259588"/>
            <a:ext cx="5658328" cy="259045"/>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lang="es-ES">
                <a:solidFill>
                  <a:srgbClr val="00AEBA"/>
                </a:solidFill>
              </a:rPr>
              <a:t>2. Los retos del desarrollo sostenible</a:t>
            </a:r>
            <a:endParaRPr>
              <a:solidFill>
                <a:srgbClr val="00AEBA"/>
              </a:solidFill>
            </a:endParaRPr>
          </a:p>
        </p:txBody>
      </p:sp>
      <p:pic>
        <p:nvPicPr>
          <p:cNvPr id="200" name="Google Shape;200;p6"/>
          <p:cNvPicPr preferRelativeResize="0"/>
          <p:nvPr/>
        </p:nvPicPr>
        <p:blipFill rotWithShape="1">
          <a:blip r:embed="rId6">
            <a:alphaModFix/>
          </a:blip>
          <a:srcRect b="0" l="0" r="0" t="0"/>
          <a:stretch/>
        </p:blipFill>
        <p:spPr>
          <a:xfrm>
            <a:off x="838200" y="135821"/>
            <a:ext cx="651776" cy="608324"/>
          </a:xfrm>
          <a:prstGeom prst="rect">
            <a:avLst/>
          </a:prstGeom>
          <a:noFill/>
          <a:ln>
            <a:noFill/>
          </a:ln>
        </p:spPr>
      </p:pic>
      <p:pic>
        <p:nvPicPr>
          <p:cNvPr id="201" name="Google Shape;201;p6"/>
          <p:cNvPicPr preferRelativeResize="0"/>
          <p:nvPr/>
        </p:nvPicPr>
        <p:blipFill rotWithShape="1">
          <a:blip r:embed="rId7">
            <a:alphaModFix/>
          </a:blip>
          <a:srcRect b="0" l="0" r="0" t="0"/>
          <a:stretch/>
        </p:blipFill>
        <p:spPr>
          <a:xfrm>
            <a:off x="4846269" y="555119"/>
            <a:ext cx="4138503" cy="4253729"/>
          </a:xfrm>
          <a:prstGeom prst="rect">
            <a:avLst/>
          </a:prstGeom>
          <a:noFill/>
          <a:ln>
            <a:noFill/>
          </a:ln>
        </p:spPr>
      </p:pic>
      <p:sp>
        <p:nvSpPr>
          <p:cNvPr id="202" name="Google Shape;202;p6"/>
          <p:cNvSpPr txBox="1"/>
          <p:nvPr/>
        </p:nvSpPr>
        <p:spPr>
          <a:xfrm>
            <a:off x="1238931" y="689865"/>
            <a:ext cx="4247469" cy="1976182"/>
          </a:xfrm>
          <a:prstGeom prst="rect">
            <a:avLst/>
          </a:prstGeom>
          <a:noFill/>
          <a:ln>
            <a:noFill/>
          </a:ln>
        </p:spPr>
        <p:txBody>
          <a:bodyPr anchorCtr="0" anchor="t" bIns="0" lIns="0" spcFirstLastPara="1" rIns="0" wrap="square" tIns="21575">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La economía se ha vuelto </a:t>
            </a:r>
            <a:r>
              <a:rPr b="1" lang="es-ES" sz="1100">
                <a:solidFill>
                  <a:srgbClr val="7F7F7F"/>
                </a:solidFill>
                <a:latin typeface="Verdana"/>
                <a:ea typeface="Verdana"/>
                <a:cs typeface="Verdana"/>
                <a:sym typeface="Verdana"/>
              </a:rPr>
              <a:t>ambientalmente insostenible </a:t>
            </a:r>
            <a:r>
              <a:rPr lang="es-ES" sz="1100">
                <a:solidFill>
                  <a:srgbClr val="7F7F7F"/>
                </a:solidFill>
                <a:latin typeface="Verdana"/>
                <a:ea typeface="Verdana"/>
                <a:cs typeface="Verdana"/>
                <a:sym typeface="Verdana"/>
              </a:rPr>
              <a:t>desde hace medio siglo. Para resolver la situación es preciso estudiar primero sus </a:t>
            </a:r>
            <a:r>
              <a:rPr b="1" lang="es-ES" sz="1100">
                <a:solidFill>
                  <a:srgbClr val="7F7F7F"/>
                </a:solidFill>
                <a:latin typeface="Verdana"/>
                <a:ea typeface="Verdana"/>
                <a:cs typeface="Verdana"/>
                <a:sym typeface="Verdana"/>
              </a:rPr>
              <a:t>causas</a:t>
            </a:r>
            <a:r>
              <a:rPr lang="es-ES" sz="1100">
                <a:solidFill>
                  <a:srgbClr val="7F7F7F"/>
                </a:solidFill>
                <a:latin typeface="Verdana"/>
                <a:ea typeface="Verdana"/>
                <a:cs typeface="Verdana"/>
                <a:sym typeface="Verdana"/>
              </a:rPr>
              <a:t>.</a:t>
            </a:r>
            <a:endParaRPr/>
          </a:p>
          <a:p>
            <a:pPr indent="0" lvl="0" marL="0" rtl="0" algn="just">
              <a:spcBef>
                <a:spcPts val="0"/>
              </a:spcBef>
              <a:spcAft>
                <a:spcPts val="0"/>
              </a:spcAft>
              <a:buNone/>
            </a:pPr>
            <a:r>
              <a:t/>
            </a:r>
            <a:endParaRPr sz="1100">
              <a:solidFill>
                <a:srgbClr val="7F7F7F"/>
              </a:solidFill>
              <a:latin typeface="Verdana"/>
              <a:ea typeface="Verdana"/>
              <a:cs typeface="Verdana"/>
              <a:sym typeface="Verdana"/>
            </a:endParaRPr>
          </a:p>
          <a:p>
            <a:pPr indent="0" lvl="0" marL="0" rtl="0" algn="just">
              <a:spcBef>
                <a:spcPts val="0"/>
              </a:spcBef>
              <a:spcAft>
                <a:spcPts val="0"/>
              </a:spcAft>
              <a:buNone/>
            </a:pPr>
            <a:r>
              <a:rPr b="1" lang="es-ES" sz="1100">
                <a:solidFill>
                  <a:srgbClr val="00AEBA"/>
                </a:solidFill>
                <a:latin typeface="Verdana"/>
                <a:ea typeface="Verdana"/>
                <a:cs typeface="Verdana"/>
                <a:sym typeface="Verdana"/>
              </a:rPr>
              <a:t>2.1. Los retos medioambientales: el cambio climático</a:t>
            </a:r>
            <a:endParaRPr/>
          </a:p>
          <a:p>
            <a:pPr indent="0" lvl="0" marL="0" rtl="0" algn="just">
              <a:spcBef>
                <a:spcPts val="0"/>
              </a:spcBef>
              <a:spcAft>
                <a:spcPts val="0"/>
              </a:spcAft>
              <a:buNone/>
            </a:pPr>
            <a:r>
              <a:t/>
            </a:r>
            <a:endParaRPr b="1" sz="600">
              <a:solidFill>
                <a:srgbClr val="00AEBA"/>
              </a:solidFill>
              <a:latin typeface="Verdana"/>
              <a:ea typeface="Verdana"/>
              <a:cs typeface="Verdana"/>
              <a:sym typeface="Verdana"/>
            </a:endParaRPr>
          </a:p>
          <a:p>
            <a:pPr indent="0" lvl="0" marL="0" rtl="0" algn="just">
              <a:spcBef>
                <a:spcPts val="0"/>
              </a:spcBef>
              <a:spcAft>
                <a:spcPts val="0"/>
              </a:spcAft>
              <a:buNone/>
            </a:pPr>
            <a:r>
              <a:rPr lang="es-ES" sz="1100">
                <a:solidFill>
                  <a:srgbClr val="7F7F7F"/>
                </a:solidFill>
                <a:latin typeface="Verdana"/>
                <a:ea typeface="Verdana"/>
                <a:cs typeface="Verdana"/>
                <a:sym typeface="Verdana"/>
              </a:rPr>
              <a:t>El agotamiento de los ecosistemas a causa de su sobrecarga por la actividad humana provoca el fenómeno medioambiental mas grave actualmente: el </a:t>
            </a:r>
            <a:r>
              <a:rPr i="1" lang="es-ES" sz="1100">
                <a:solidFill>
                  <a:srgbClr val="7F7F7F"/>
                </a:solidFill>
                <a:latin typeface="Verdana"/>
                <a:ea typeface="Verdana"/>
                <a:cs typeface="Verdana"/>
                <a:sym typeface="Verdana"/>
              </a:rPr>
              <a:t>cambio climático.</a:t>
            </a:r>
            <a:endParaRPr sz="1100">
              <a:solidFill>
                <a:srgbClr val="7F7F7F"/>
              </a:solidFill>
              <a:latin typeface="Verdana"/>
              <a:ea typeface="Verdana"/>
              <a:cs typeface="Verdana"/>
              <a:sym typeface="Verdana"/>
            </a:endParaRPr>
          </a:p>
          <a:p>
            <a:pPr indent="0" lvl="0" marL="0" rtl="0" algn="just">
              <a:spcBef>
                <a:spcPts val="0"/>
              </a:spcBef>
              <a:spcAft>
                <a:spcPts val="0"/>
              </a:spcAft>
              <a:buNone/>
            </a:pPr>
            <a:r>
              <a:t/>
            </a:r>
            <a:endParaRPr b="1" sz="1100">
              <a:solidFill>
                <a:srgbClr val="00AEBA"/>
              </a:solidFill>
            </a:endParaRPr>
          </a:p>
          <a:p>
            <a:pPr indent="0" lvl="0" marL="0" rtl="0" algn="just">
              <a:spcBef>
                <a:spcPts val="0"/>
              </a:spcBef>
              <a:spcAft>
                <a:spcPts val="0"/>
              </a:spcAft>
              <a:buNone/>
            </a:pPr>
            <a:r>
              <a:t/>
            </a:r>
            <a:endParaRPr sz="1100">
              <a:solidFill>
                <a:srgbClr val="7F7F7F"/>
              </a:solidFill>
              <a:latin typeface="Verdana"/>
              <a:ea typeface="Verdana"/>
              <a:cs typeface="Verdana"/>
              <a:sym typeface="Verdana"/>
            </a:endParaRPr>
          </a:p>
        </p:txBody>
      </p:sp>
      <p:sp>
        <p:nvSpPr>
          <p:cNvPr id="203" name="Google Shape;203;p6"/>
          <p:cNvSpPr txBox="1"/>
          <p:nvPr/>
        </p:nvSpPr>
        <p:spPr>
          <a:xfrm>
            <a:off x="1489976" y="2470198"/>
            <a:ext cx="2110716" cy="326349"/>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None/>
            </a:pPr>
            <a:r>
              <a:rPr lang="es-ES" sz="1600">
                <a:solidFill>
                  <a:srgbClr val="009746"/>
                </a:solidFill>
                <a:latin typeface="Verdana"/>
                <a:ea typeface="Verdana"/>
                <a:cs typeface="Verdana"/>
                <a:sym typeface="Verdana"/>
              </a:rPr>
              <a:t>Importante</a:t>
            </a:r>
            <a:endParaRPr/>
          </a:p>
          <a:p>
            <a:pPr indent="0" lvl="0" marL="0" rtl="0" algn="l">
              <a:spcBef>
                <a:spcPts val="0"/>
              </a:spcBef>
              <a:spcAft>
                <a:spcPts val="0"/>
              </a:spcAft>
              <a:buNone/>
            </a:pPr>
            <a:r>
              <a:t/>
            </a:r>
            <a:endParaRPr sz="1600">
              <a:solidFill>
                <a:srgbClr val="7F7F7F"/>
              </a:solidFill>
              <a:latin typeface="Verdana"/>
              <a:ea typeface="Verdana"/>
              <a:cs typeface="Verdana"/>
              <a:sym typeface="Verdana"/>
            </a:endParaRPr>
          </a:p>
          <a:p>
            <a:pPr indent="0" lvl="0" marL="0" rtl="0" algn="l">
              <a:spcBef>
                <a:spcPts val="0"/>
              </a:spcBef>
              <a:spcAft>
                <a:spcPts val="0"/>
              </a:spcAft>
              <a:buNone/>
            </a:pPr>
            <a:r>
              <a:t/>
            </a:r>
            <a:endParaRPr sz="1600">
              <a:solidFill>
                <a:srgbClr val="7F7F7F"/>
              </a:solidFill>
              <a:latin typeface="Verdana"/>
              <a:ea typeface="Verdana"/>
              <a:cs typeface="Verdana"/>
              <a:sym typeface="Verdana"/>
            </a:endParaRPr>
          </a:p>
        </p:txBody>
      </p:sp>
      <p:pic>
        <p:nvPicPr>
          <p:cNvPr id="204" name="Google Shape;204;p6"/>
          <p:cNvPicPr preferRelativeResize="0"/>
          <p:nvPr/>
        </p:nvPicPr>
        <p:blipFill rotWithShape="1">
          <a:blip r:embed="rId8">
            <a:alphaModFix/>
          </a:blip>
          <a:srcRect b="0" l="0" r="0" t="0"/>
          <a:stretch/>
        </p:blipFill>
        <p:spPr>
          <a:xfrm>
            <a:off x="987384" y="2434999"/>
            <a:ext cx="558205" cy="520992"/>
          </a:xfrm>
          <a:prstGeom prst="rect">
            <a:avLst/>
          </a:prstGeom>
          <a:noFill/>
          <a:ln>
            <a:noFill/>
          </a:ln>
        </p:spPr>
      </p:pic>
      <p:sp>
        <p:nvSpPr>
          <p:cNvPr id="205" name="Google Shape;205;p6"/>
          <p:cNvSpPr txBox="1"/>
          <p:nvPr/>
        </p:nvSpPr>
        <p:spPr>
          <a:xfrm>
            <a:off x="1611391" y="2943825"/>
            <a:ext cx="1606369" cy="1705595"/>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lang="es-ES" sz="1100">
                <a:solidFill>
                  <a:srgbClr val="7F7F7F"/>
                </a:solidFill>
                <a:latin typeface="Verdana"/>
                <a:ea typeface="Verdana"/>
                <a:cs typeface="Verdana"/>
                <a:sym typeface="Verdana"/>
              </a:rPr>
              <a:t>Hoy también se afrontan </a:t>
            </a:r>
            <a:r>
              <a:rPr b="1" lang="es-ES" sz="1100">
                <a:solidFill>
                  <a:srgbClr val="7F7F7F"/>
                </a:solidFill>
                <a:latin typeface="Verdana"/>
                <a:ea typeface="Verdana"/>
                <a:cs typeface="Verdana"/>
                <a:sym typeface="Verdana"/>
              </a:rPr>
              <a:t>retos sociales, </a:t>
            </a:r>
            <a:r>
              <a:rPr lang="es-ES" sz="1100">
                <a:solidFill>
                  <a:srgbClr val="7F7F7F"/>
                </a:solidFill>
                <a:latin typeface="Verdana"/>
                <a:ea typeface="Verdana"/>
                <a:cs typeface="Verdana"/>
                <a:sym typeface="Verdana"/>
              </a:rPr>
              <a:t>como las desigualdades, la pobreza o el subdesarrollo económico. Fenómenos que el cambio climático contribuye a agravar.</a:t>
            </a:r>
            <a:endParaRPr/>
          </a:p>
        </p:txBody>
      </p:sp>
      <p:sp>
        <p:nvSpPr>
          <p:cNvPr id="206" name="Google Shape;206;p6"/>
          <p:cNvSpPr/>
          <p:nvPr/>
        </p:nvSpPr>
        <p:spPr>
          <a:xfrm>
            <a:off x="1449937" y="2820665"/>
            <a:ext cx="1898014" cy="1896464"/>
          </a:xfrm>
          <a:custGeom>
            <a:rect b="b" l="l" r="r" t="t"/>
            <a:pathLst>
              <a:path extrusionOk="0" h="1434464" w="1898015">
                <a:moveTo>
                  <a:pt x="0" y="239004"/>
                </a:moveTo>
                <a:lnTo>
                  <a:pt x="4855" y="190837"/>
                </a:lnTo>
                <a:lnTo>
                  <a:pt x="18782" y="145973"/>
                </a:lnTo>
                <a:lnTo>
                  <a:pt x="40818" y="105374"/>
                </a:lnTo>
                <a:lnTo>
                  <a:pt x="70002" y="70002"/>
                </a:lnTo>
                <a:lnTo>
                  <a:pt x="105374" y="40818"/>
                </a:lnTo>
                <a:lnTo>
                  <a:pt x="145973" y="18782"/>
                </a:lnTo>
                <a:lnTo>
                  <a:pt x="190836" y="4855"/>
                </a:lnTo>
                <a:lnTo>
                  <a:pt x="239004" y="0"/>
                </a:lnTo>
                <a:lnTo>
                  <a:pt x="1658539" y="0"/>
                </a:lnTo>
                <a:lnTo>
                  <a:pt x="1706706" y="4855"/>
                </a:lnTo>
                <a:lnTo>
                  <a:pt x="1751570" y="18782"/>
                </a:lnTo>
                <a:lnTo>
                  <a:pt x="1792169" y="40818"/>
                </a:lnTo>
                <a:lnTo>
                  <a:pt x="1827541" y="70002"/>
                </a:lnTo>
                <a:lnTo>
                  <a:pt x="1856725" y="105374"/>
                </a:lnTo>
                <a:lnTo>
                  <a:pt x="1878761" y="145973"/>
                </a:lnTo>
                <a:lnTo>
                  <a:pt x="1892688" y="190837"/>
                </a:lnTo>
                <a:lnTo>
                  <a:pt x="1897544" y="239004"/>
                </a:lnTo>
                <a:lnTo>
                  <a:pt x="1897544" y="1194993"/>
                </a:lnTo>
                <a:lnTo>
                  <a:pt x="1892688" y="1243160"/>
                </a:lnTo>
                <a:lnTo>
                  <a:pt x="1878761" y="1288024"/>
                </a:lnTo>
                <a:lnTo>
                  <a:pt x="1856725" y="1328623"/>
                </a:lnTo>
                <a:lnTo>
                  <a:pt x="1827541" y="1363995"/>
                </a:lnTo>
                <a:lnTo>
                  <a:pt x="1792169" y="1393179"/>
                </a:lnTo>
                <a:lnTo>
                  <a:pt x="1751570" y="1415215"/>
                </a:lnTo>
                <a:lnTo>
                  <a:pt x="1706706" y="1429142"/>
                </a:lnTo>
                <a:lnTo>
                  <a:pt x="1658539" y="1433998"/>
                </a:lnTo>
                <a:lnTo>
                  <a:pt x="239004" y="1433998"/>
                </a:lnTo>
                <a:lnTo>
                  <a:pt x="190836" y="1429142"/>
                </a:lnTo>
                <a:lnTo>
                  <a:pt x="145973" y="1415215"/>
                </a:lnTo>
                <a:lnTo>
                  <a:pt x="105374" y="1393179"/>
                </a:lnTo>
                <a:lnTo>
                  <a:pt x="70002" y="1363995"/>
                </a:lnTo>
                <a:lnTo>
                  <a:pt x="40818" y="1328623"/>
                </a:lnTo>
                <a:lnTo>
                  <a:pt x="18782" y="1288024"/>
                </a:lnTo>
                <a:lnTo>
                  <a:pt x="4855" y="1243160"/>
                </a:lnTo>
                <a:lnTo>
                  <a:pt x="0" y="1194993"/>
                </a:lnTo>
                <a:lnTo>
                  <a:pt x="0" y="239004"/>
                </a:lnTo>
                <a:close/>
              </a:path>
            </a:pathLst>
          </a:custGeom>
          <a:noFill/>
          <a:ln cap="flat" cmpd="sng" w="19050">
            <a:solidFill>
              <a:srgbClr val="00974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07" name="Google Shape;207;p6"/>
          <p:cNvPicPr preferRelativeResize="0"/>
          <p:nvPr/>
        </p:nvPicPr>
        <p:blipFill rotWithShape="1">
          <a:blip r:embed="rId9">
            <a:alphaModFix/>
          </a:blip>
          <a:srcRect b="0" l="0" r="0" t="0"/>
          <a:stretch/>
        </p:blipFill>
        <p:spPr>
          <a:xfrm>
            <a:off x="3517913" y="3494968"/>
            <a:ext cx="1222771" cy="1222771"/>
          </a:xfrm>
          <a:prstGeom prst="rect">
            <a:avLst/>
          </a:prstGeom>
          <a:noFill/>
          <a:ln>
            <a:noFill/>
          </a:ln>
        </p:spPr>
      </p:pic>
      <p:sp>
        <p:nvSpPr>
          <p:cNvPr id="208" name="Google Shape;208;p6"/>
          <p:cNvSpPr txBox="1"/>
          <p:nvPr/>
        </p:nvSpPr>
        <p:spPr>
          <a:xfrm rot="-5400000">
            <a:off x="-584813" y="1283990"/>
            <a:ext cx="1815027" cy="153888"/>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s-ES" sz="1000">
                <a:solidFill>
                  <a:schemeClr val="dk1"/>
                </a:solidFill>
                <a:latin typeface="Verdana"/>
                <a:ea typeface="Verdana"/>
                <a:cs typeface="Verdana"/>
                <a:sym typeface="Verdana"/>
              </a:rPr>
              <a:t>Transversales  CF</a:t>
            </a:r>
            <a:endParaRPr b="1" sz="1000">
              <a:solidFill>
                <a:schemeClr val="dk1"/>
              </a:solidFill>
              <a:latin typeface="Verdana"/>
              <a:ea typeface="Verdana"/>
              <a:cs typeface="Verdana"/>
              <a:sym typeface="Verdana"/>
            </a:endParaRPr>
          </a:p>
        </p:txBody>
      </p:sp>
      <p:sp>
        <p:nvSpPr>
          <p:cNvPr id="209" name="Google Shape;209;p6"/>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7"/>
          <p:cNvSpPr/>
          <p:nvPr/>
        </p:nvSpPr>
        <p:spPr>
          <a:xfrm>
            <a:off x="11430" y="4897755"/>
            <a:ext cx="9132570" cy="245745"/>
          </a:xfrm>
          <a:custGeom>
            <a:rect b="b" l="l" r="r" t="t"/>
            <a:pathLst>
              <a:path extrusionOk="0" h="245745" w="9132570">
                <a:moveTo>
                  <a:pt x="0" y="0"/>
                </a:moveTo>
                <a:lnTo>
                  <a:pt x="9132288" y="0"/>
                </a:lnTo>
                <a:lnTo>
                  <a:pt x="9132288" y="245496"/>
                </a:lnTo>
                <a:lnTo>
                  <a:pt x="0" y="245496"/>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215" name="Google Shape;215;p7"/>
          <p:cNvGrpSpPr/>
          <p:nvPr/>
        </p:nvGrpSpPr>
        <p:grpSpPr>
          <a:xfrm>
            <a:off x="203278" y="166932"/>
            <a:ext cx="534035" cy="547370"/>
            <a:chOff x="203278" y="166932"/>
            <a:chExt cx="534035" cy="547370"/>
          </a:xfrm>
        </p:grpSpPr>
        <p:sp>
          <p:nvSpPr>
            <p:cNvPr id="216" name="Google Shape;216;p7"/>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17" name="Google Shape;217;p7"/>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218" name="Google Shape;218;p7"/>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19" name="Google Shape;219;p7"/>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220" name="Google Shape;220;p7"/>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sp>
        <p:nvSpPr>
          <p:cNvPr id="221" name="Google Shape;221;p7"/>
          <p:cNvSpPr txBox="1"/>
          <p:nvPr>
            <p:ph type="title"/>
          </p:nvPr>
        </p:nvSpPr>
        <p:spPr>
          <a:xfrm>
            <a:off x="1428272" y="259588"/>
            <a:ext cx="5658328" cy="259045"/>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lang="es-ES">
                <a:solidFill>
                  <a:srgbClr val="00AEBA"/>
                </a:solidFill>
              </a:rPr>
              <a:t>2. Los retos del desarrollo sostenible</a:t>
            </a:r>
            <a:endParaRPr>
              <a:solidFill>
                <a:srgbClr val="00AEBA"/>
              </a:solidFill>
            </a:endParaRPr>
          </a:p>
        </p:txBody>
      </p:sp>
      <p:sp>
        <p:nvSpPr>
          <p:cNvPr id="222" name="Google Shape;222;p7"/>
          <p:cNvSpPr txBox="1"/>
          <p:nvPr/>
        </p:nvSpPr>
        <p:spPr>
          <a:xfrm>
            <a:off x="1219919" y="898884"/>
            <a:ext cx="4794505" cy="1129796"/>
          </a:xfrm>
          <a:prstGeom prst="rect">
            <a:avLst/>
          </a:prstGeom>
          <a:noFill/>
          <a:ln>
            <a:noFill/>
          </a:ln>
        </p:spPr>
        <p:txBody>
          <a:bodyPr anchorCtr="0" anchor="t" bIns="0" lIns="0" spcFirstLastPara="1" rIns="0" wrap="square" tIns="21575">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Las empresas </a:t>
            </a:r>
            <a:r>
              <a:rPr b="1" lang="es-ES" sz="1100">
                <a:solidFill>
                  <a:srgbClr val="7F7F7F"/>
                </a:solidFill>
                <a:latin typeface="Verdana"/>
                <a:ea typeface="Verdana"/>
                <a:cs typeface="Verdana"/>
                <a:sym typeface="Verdana"/>
              </a:rPr>
              <a:t>sufren las consecuencias del cambio climático </a:t>
            </a:r>
            <a:r>
              <a:rPr lang="es-ES" sz="1100">
                <a:solidFill>
                  <a:srgbClr val="7F7F7F"/>
                </a:solidFill>
                <a:latin typeface="Verdana"/>
                <a:ea typeface="Verdana"/>
                <a:cs typeface="Verdana"/>
                <a:sym typeface="Verdana"/>
              </a:rPr>
              <a:t>y del agotamiento de recursos naturales en forma de </a:t>
            </a:r>
            <a:r>
              <a:rPr b="1" lang="es-ES" sz="1100">
                <a:solidFill>
                  <a:srgbClr val="7F7F7F"/>
                </a:solidFill>
                <a:latin typeface="Verdana"/>
                <a:ea typeface="Verdana"/>
                <a:cs typeface="Verdana"/>
                <a:sym typeface="Verdana"/>
              </a:rPr>
              <a:t>daños en bienes </a:t>
            </a:r>
            <a:r>
              <a:rPr lang="es-ES" sz="1100">
                <a:solidFill>
                  <a:srgbClr val="7F7F7F"/>
                </a:solidFill>
                <a:latin typeface="Verdana"/>
                <a:ea typeface="Verdana"/>
                <a:cs typeface="Verdana"/>
                <a:sym typeface="Verdana"/>
              </a:rPr>
              <a:t>y en su </a:t>
            </a:r>
            <a:r>
              <a:rPr b="1" lang="es-ES" sz="1100">
                <a:solidFill>
                  <a:srgbClr val="7F7F7F"/>
                </a:solidFill>
                <a:latin typeface="Verdana"/>
                <a:ea typeface="Verdana"/>
                <a:cs typeface="Verdana"/>
                <a:sym typeface="Verdana"/>
              </a:rPr>
              <a:t>cadena de suministros</a:t>
            </a:r>
            <a:r>
              <a:rPr lang="es-ES" sz="1100">
                <a:solidFill>
                  <a:srgbClr val="7F7F7F"/>
                </a:solidFill>
                <a:latin typeface="Verdana"/>
                <a:ea typeface="Verdana"/>
                <a:cs typeface="Verdana"/>
                <a:sym typeface="Verdana"/>
              </a:rPr>
              <a:t>, que provocan </a:t>
            </a:r>
            <a:r>
              <a:rPr b="1" lang="es-ES" sz="1100">
                <a:solidFill>
                  <a:srgbClr val="7F7F7F"/>
                </a:solidFill>
                <a:latin typeface="Verdana"/>
                <a:ea typeface="Verdana"/>
                <a:cs typeface="Verdana"/>
                <a:sym typeface="Verdana"/>
              </a:rPr>
              <a:t>aumentos de costes</a:t>
            </a:r>
            <a:r>
              <a:rPr lang="es-ES" sz="1100">
                <a:solidFill>
                  <a:srgbClr val="7F7F7F"/>
                </a:solidFill>
                <a:latin typeface="Verdana"/>
                <a:ea typeface="Verdana"/>
                <a:cs typeface="Verdana"/>
                <a:sym typeface="Verdana"/>
              </a:rPr>
              <a:t>. </a:t>
            </a:r>
            <a:endParaRPr/>
          </a:p>
          <a:p>
            <a:pPr indent="0" lvl="0" marL="0" rtl="0" algn="just">
              <a:spcBef>
                <a:spcPts val="0"/>
              </a:spcBef>
              <a:spcAft>
                <a:spcPts val="0"/>
              </a:spcAft>
              <a:buNone/>
            </a:pPr>
            <a:r>
              <a:t/>
            </a:r>
            <a:endParaRPr sz="600">
              <a:solidFill>
                <a:srgbClr val="7F7F7F"/>
              </a:solidFill>
              <a:latin typeface="Verdana"/>
              <a:ea typeface="Verdana"/>
              <a:cs typeface="Verdana"/>
              <a:sym typeface="Verdana"/>
            </a:endParaRPr>
          </a:p>
          <a:p>
            <a:pPr indent="0" lvl="0" marL="0" rtl="0" algn="just">
              <a:spcBef>
                <a:spcPts val="0"/>
              </a:spcBef>
              <a:spcAft>
                <a:spcPts val="0"/>
              </a:spcAft>
              <a:buNone/>
            </a:pPr>
            <a:r>
              <a:rPr lang="es-ES" sz="1100">
                <a:solidFill>
                  <a:srgbClr val="7F7F7F"/>
                </a:solidFill>
                <a:latin typeface="Verdana"/>
                <a:ea typeface="Verdana"/>
                <a:cs typeface="Verdana"/>
                <a:sym typeface="Verdana"/>
              </a:rPr>
              <a:t>Estas son algunas de las </a:t>
            </a:r>
            <a:r>
              <a:rPr b="1" lang="es-ES" sz="1100">
                <a:solidFill>
                  <a:srgbClr val="7F7F7F"/>
                </a:solidFill>
                <a:latin typeface="Verdana"/>
                <a:ea typeface="Verdana"/>
                <a:cs typeface="Verdana"/>
                <a:sym typeface="Verdana"/>
              </a:rPr>
              <a:t>consecuencias económicas y sociales </a:t>
            </a:r>
            <a:r>
              <a:rPr lang="es-ES" sz="1100">
                <a:solidFill>
                  <a:srgbClr val="7F7F7F"/>
                </a:solidFill>
                <a:latin typeface="Verdana"/>
                <a:ea typeface="Verdana"/>
                <a:cs typeface="Verdana"/>
                <a:sym typeface="Verdana"/>
              </a:rPr>
              <a:t>más importantes del cambio climático que afectan a las empresas.</a:t>
            </a:r>
            <a:endParaRPr/>
          </a:p>
        </p:txBody>
      </p:sp>
      <p:sp>
        <p:nvSpPr>
          <p:cNvPr id="223" name="Google Shape;223;p7"/>
          <p:cNvSpPr txBox="1"/>
          <p:nvPr/>
        </p:nvSpPr>
        <p:spPr>
          <a:xfrm>
            <a:off x="1219919" y="673492"/>
            <a:ext cx="6191728" cy="182101"/>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0" lang="es-ES" sz="1100">
                <a:solidFill>
                  <a:srgbClr val="00AEBA"/>
                </a:solidFill>
                <a:latin typeface="Verdana"/>
                <a:ea typeface="Verdana"/>
                <a:cs typeface="Verdana"/>
                <a:sym typeface="Verdana"/>
              </a:rPr>
              <a:t>2.2. Consecuencias para las empresas</a:t>
            </a:r>
            <a:endParaRPr/>
          </a:p>
        </p:txBody>
      </p:sp>
      <p:pic>
        <p:nvPicPr>
          <p:cNvPr id="224" name="Google Shape;224;p7"/>
          <p:cNvPicPr preferRelativeResize="0"/>
          <p:nvPr/>
        </p:nvPicPr>
        <p:blipFill rotWithShape="1">
          <a:blip r:embed="rId6">
            <a:alphaModFix/>
          </a:blip>
          <a:srcRect b="0" l="0" r="0" t="0"/>
          <a:stretch/>
        </p:blipFill>
        <p:spPr>
          <a:xfrm>
            <a:off x="838200" y="135821"/>
            <a:ext cx="651776" cy="608324"/>
          </a:xfrm>
          <a:prstGeom prst="rect">
            <a:avLst/>
          </a:prstGeom>
          <a:noFill/>
          <a:ln>
            <a:noFill/>
          </a:ln>
        </p:spPr>
      </p:pic>
      <p:sp>
        <p:nvSpPr>
          <p:cNvPr id="225" name="Google Shape;225;p7"/>
          <p:cNvSpPr/>
          <p:nvPr/>
        </p:nvSpPr>
        <p:spPr>
          <a:xfrm>
            <a:off x="6675693" y="986760"/>
            <a:ext cx="1927689" cy="919558"/>
          </a:xfrm>
          <a:custGeom>
            <a:rect b="b" l="l" r="r" t="t"/>
            <a:pathLst>
              <a:path extrusionOk="0" h="453389" w="1884045">
                <a:moveTo>
                  <a:pt x="0" y="75545"/>
                </a:moveTo>
                <a:lnTo>
                  <a:pt x="5936" y="46139"/>
                </a:lnTo>
                <a:lnTo>
                  <a:pt x="22126" y="22126"/>
                </a:lnTo>
                <a:lnTo>
                  <a:pt x="46139" y="5936"/>
                </a:lnTo>
                <a:lnTo>
                  <a:pt x="75545" y="0"/>
                </a:lnTo>
                <a:lnTo>
                  <a:pt x="1807938" y="0"/>
                </a:lnTo>
                <a:lnTo>
                  <a:pt x="1837343" y="5936"/>
                </a:lnTo>
                <a:lnTo>
                  <a:pt x="1861356" y="22126"/>
                </a:lnTo>
                <a:lnTo>
                  <a:pt x="1877546" y="46139"/>
                </a:lnTo>
                <a:lnTo>
                  <a:pt x="1883483" y="75545"/>
                </a:lnTo>
                <a:lnTo>
                  <a:pt x="1883483" y="377713"/>
                </a:lnTo>
                <a:lnTo>
                  <a:pt x="1877546" y="407119"/>
                </a:lnTo>
                <a:lnTo>
                  <a:pt x="1861356" y="431132"/>
                </a:lnTo>
                <a:lnTo>
                  <a:pt x="1837343" y="447322"/>
                </a:lnTo>
                <a:lnTo>
                  <a:pt x="1807938" y="453259"/>
                </a:lnTo>
                <a:lnTo>
                  <a:pt x="75545" y="453259"/>
                </a:lnTo>
                <a:lnTo>
                  <a:pt x="46139" y="447322"/>
                </a:lnTo>
                <a:lnTo>
                  <a:pt x="22126" y="431132"/>
                </a:lnTo>
                <a:lnTo>
                  <a:pt x="5936" y="407119"/>
                </a:lnTo>
                <a:lnTo>
                  <a:pt x="0" y="377713"/>
                </a:lnTo>
                <a:lnTo>
                  <a:pt x="0" y="75545"/>
                </a:lnTo>
                <a:close/>
              </a:path>
            </a:pathLst>
          </a:custGeom>
          <a:noFill/>
          <a:ln cap="flat" cmpd="sng" w="19050">
            <a:solidFill>
              <a:srgbClr val="A0D27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6" name="Google Shape;226;p7"/>
          <p:cNvSpPr txBox="1"/>
          <p:nvPr/>
        </p:nvSpPr>
        <p:spPr>
          <a:xfrm>
            <a:off x="6599494" y="582450"/>
            <a:ext cx="1724511"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ES" sz="1800">
                <a:solidFill>
                  <a:srgbClr val="A0D273"/>
                </a:solidFill>
                <a:latin typeface="Verdana"/>
                <a:ea typeface="Verdana"/>
                <a:cs typeface="Verdana"/>
                <a:sym typeface="Verdana"/>
              </a:rPr>
              <a:t>Caso práctico</a:t>
            </a:r>
            <a:endParaRPr sz="1800">
              <a:solidFill>
                <a:srgbClr val="A0D273"/>
              </a:solidFill>
            </a:endParaRPr>
          </a:p>
        </p:txBody>
      </p:sp>
      <p:sp>
        <p:nvSpPr>
          <p:cNvPr id="227" name="Google Shape;227;p7"/>
          <p:cNvSpPr txBox="1"/>
          <p:nvPr/>
        </p:nvSpPr>
        <p:spPr>
          <a:xfrm>
            <a:off x="6828093" y="1020106"/>
            <a:ext cx="1775289" cy="879728"/>
          </a:xfrm>
          <a:prstGeom prst="rect">
            <a:avLst/>
          </a:prstGeom>
          <a:noFill/>
          <a:ln>
            <a:noFill/>
          </a:ln>
        </p:spPr>
        <p:txBody>
          <a:bodyPr anchorCtr="0" anchor="t" bIns="0" lIns="0" spcFirstLastPara="1" rIns="0" wrap="square" tIns="20300">
            <a:spAutoFit/>
          </a:bodyPr>
          <a:lstStyle/>
          <a:p>
            <a:pPr indent="0" lvl="0" marL="12700" marR="5080" rtl="0" algn="l">
              <a:lnSpc>
                <a:spcPct val="118181"/>
              </a:lnSpc>
              <a:spcBef>
                <a:spcPts val="0"/>
              </a:spcBef>
              <a:spcAft>
                <a:spcPts val="0"/>
              </a:spcAft>
              <a:buNone/>
            </a:pPr>
            <a:r>
              <a:rPr lang="es-ES" sz="1100">
                <a:solidFill>
                  <a:srgbClr val="7F7F7F"/>
                </a:solidFill>
                <a:latin typeface="Verdana"/>
                <a:ea typeface="Verdana"/>
                <a:cs typeface="Verdana"/>
                <a:sym typeface="Verdana"/>
              </a:rPr>
              <a:t>CAMBIO CLIMÁTICO Y CONSECUENCIAS ECONÓMICAS EN EL DELTA DEL EBRO.</a:t>
            </a:r>
            <a:endParaRPr/>
          </a:p>
          <a:p>
            <a:pPr indent="0" lvl="0" marL="12700" marR="5080" rtl="0" algn="l">
              <a:lnSpc>
                <a:spcPct val="118181"/>
              </a:lnSpc>
              <a:spcBef>
                <a:spcPts val="160"/>
              </a:spcBef>
              <a:spcAft>
                <a:spcPts val="0"/>
              </a:spcAft>
              <a:buNone/>
            </a:pPr>
            <a:r>
              <a:rPr lang="es-ES" sz="1100">
                <a:solidFill>
                  <a:srgbClr val="7F7F7F"/>
                </a:solidFill>
                <a:latin typeface="Verdana"/>
                <a:ea typeface="Verdana"/>
                <a:cs typeface="Verdana"/>
                <a:sym typeface="Verdana"/>
              </a:rPr>
              <a:t>PÁGINA 11.</a:t>
            </a:r>
            <a:endParaRPr sz="1100">
              <a:latin typeface="Verdana"/>
              <a:ea typeface="Verdana"/>
              <a:cs typeface="Verdana"/>
              <a:sym typeface="Verdana"/>
            </a:endParaRPr>
          </a:p>
        </p:txBody>
      </p:sp>
      <p:graphicFrame>
        <p:nvGraphicFramePr>
          <p:cNvPr id="228" name="Google Shape;228;p7"/>
          <p:cNvGraphicFramePr/>
          <p:nvPr/>
        </p:nvGraphicFramePr>
        <p:xfrm>
          <a:off x="1219919" y="2206451"/>
          <a:ext cx="3000000" cy="3000000"/>
        </p:xfrm>
        <a:graphic>
          <a:graphicData uri="http://schemas.openxmlformats.org/drawingml/2006/table">
            <a:tbl>
              <a:tblPr bandRow="1" firstCol="1" firstRow="1">
                <a:noFill/>
                <a:tableStyleId>{B61225F4-141A-4D9D-BF19-C0078CF44FF6}</a:tableStyleId>
              </a:tblPr>
              <a:tblGrid>
                <a:gridCol w="2049475"/>
                <a:gridCol w="5334000"/>
              </a:tblGrid>
              <a:tr h="439700">
                <a:tc>
                  <a:txBody>
                    <a:bodyPr/>
                    <a:lstStyle/>
                    <a:p>
                      <a:pPr indent="0" lvl="0" marL="0" marR="0" rtl="0" algn="ctr">
                        <a:spcBef>
                          <a:spcPts val="0"/>
                        </a:spcBef>
                        <a:spcAft>
                          <a:spcPts val="0"/>
                        </a:spcAft>
                        <a:buNone/>
                      </a:pPr>
                      <a:r>
                        <a:rPr lang="es-ES" sz="1050" u="none" cap="none" strike="noStrike">
                          <a:solidFill>
                            <a:schemeClr val="dk1"/>
                          </a:solidFill>
                        </a:rPr>
                        <a:t>Agricultura menos productiva</a:t>
                      </a:r>
                      <a:endParaRPr sz="1050" u="none" cap="none" strike="noStrike">
                        <a:solidFill>
                          <a:schemeClr val="dk1"/>
                        </a:solidFill>
                        <a:latin typeface="Verdana"/>
                        <a:ea typeface="Verdana"/>
                        <a:cs typeface="Verdana"/>
                        <a:sym typeface="Verdana"/>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b="0" lang="es-ES" sz="1050" u="none" cap="none" strike="noStrike">
                          <a:solidFill>
                            <a:schemeClr val="dk1"/>
                          </a:solidFill>
                        </a:rPr>
                        <a:t>La mayor frecuencia de sequías y el calentamiento global reducen el rendimiento de las cosechas. Esto eleva los precios de los productos.</a:t>
                      </a:r>
                      <a:endParaRPr b="0" sz="1050" u="none" cap="none" strike="noStrike">
                        <a:solidFill>
                          <a:schemeClr val="dk1"/>
                        </a:solidFill>
                        <a:latin typeface="Verdana"/>
                        <a:ea typeface="Verdana"/>
                        <a:cs typeface="Verdana"/>
                        <a:sym typeface="Verdana"/>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1DD"/>
                    </a:solidFill>
                  </a:tcPr>
                </a:tc>
              </a:tr>
              <a:tr h="293125">
                <a:tc>
                  <a:txBody>
                    <a:bodyPr/>
                    <a:lstStyle/>
                    <a:p>
                      <a:pPr indent="0" lvl="0" marL="0" marR="0" rtl="0" algn="ctr">
                        <a:spcBef>
                          <a:spcPts val="0"/>
                        </a:spcBef>
                        <a:spcAft>
                          <a:spcPts val="0"/>
                        </a:spcAft>
                        <a:buNone/>
                      </a:pPr>
                      <a:r>
                        <a:rPr lang="es-ES" sz="1050" u="none" cap="none" strike="noStrike">
                          <a:solidFill>
                            <a:schemeClr val="dk1"/>
                          </a:solidFill>
                        </a:rPr>
                        <a:t>Infraestructuras inadecuadas</a:t>
                      </a:r>
                      <a:endParaRPr sz="1050" u="none" cap="none" strike="noStrike">
                        <a:solidFill>
                          <a:schemeClr val="dk1"/>
                        </a:solidFill>
                        <a:latin typeface="Verdana"/>
                        <a:ea typeface="Verdana"/>
                        <a:cs typeface="Verdana"/>
                        <a:sym typeface="Verdana"/>
                      </a:endParaRPr>
                    </a:p>
                  </a:txBody>
                  <a:tcPr marT="45725" marB="45725" marR="91450" marL="91450" anchor="ctr">
                    <a:lnT cap="flat" cmpd="sng" w="127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lang="es-ES" sz="1050" u="none" cap="none" strike="noStrike"/>
                        <a:t>Muchos edificios no están diseñados para temperaturas elevadas, lo que obliga a un gasto adicional en climatización. </a:t>
                      </a:r>
                      <a:endParaRPr b="0" sz="1050" u="none" cap="none" strike="noStrike">
                        <a:solidFill>
                          <a:srgbClr val="7F7F7F"/>
                        </a:solidFill>
                        <a:latin typeface="Verdana"/>
                        <a:ea typeface="Verdana"/>
                        <a:cs typeface="Verdana"/>
                        <a:sym typeface="Verdana"/>
                      </a:endParaRPr>
                    </a:p>
                  </a:txBody>
                  <a:tcPr marT="45725" marB="45725" marR="91450" marL="91450">
                    <a:lnT cap="flat" cmpd="sng" w="12700">
                      <a:solidFill>
                        <a:schemeClr val="lt1"/>
                      </a:solidFill>
                      <a:prstDash val="solid"/>
                      <a:round/>
                      <a:headEnd len="sm" w="sm" type="none"/>
                      <a:tailEnd len="sm" w="sm" type="none"/>
                    </a:lnT>
                  </a:tcPr>
                </a:tc>
              </a:tr>
              <a:tr h="338225">
                <a:tc>
                  <a:txBody>
                    <a:bodyPr/>
                    <a:lstStyle/>
                    <a:p>
                      <a:pPr indent="0" lvl="0" marL="0" marR="0" rtl="0" algn="ctr">
                        <a:spcBef>
                          <a:spcPts val="0"/>
                        </a:spcBef>
                        <a:spcAft>
                          <a:spcPts val="0"/>
                        </a:spcAft>
                        <a:buNone/>
                      </a:pPr>
                      <a:r>
                        <a:rPr lang="es-ES" sz="1050" u="none" cap="none" strike="noStrike">
                          <a:solidFill>
                            <a:schemeClr val="dk1"/>
                          </a:solidFill>
                        </a:rPr>
                        <a:t>Disponibilidad y uso de energía</a:t>
                      </a:r>
                      <a:endParaRPr sz="1050" u="none" cap="none" strike="noStrike">
                        <a:solidFill>
                          <a:schemeClr val="dk1"/>
                        </a:solidFill>
                        <a:latin typeface="Verdana"/>
                        <a:ea typeface="Verdana"/>
                        <a:cs typeface="Verdana"/>
                        <a:sym typeface="Verdana"/>
                      </a:endParaRPr>
                    </a:p>
                  </a:txBody>
                  <a:tcPr marT="45725" marB="45725" marR="91450" marL="91450" anchor="ctr"/>
                </a:tc>
                <a:tc>
                  <a:txBody>
                    <a:bodyPr/>
                    <a:lstStyle/>
                    <a:p>
                      <a:pPr indent="0" lvl="0" marL="0" marR="0" rtl="0" algn="l">
                        <a:spcBef>
                          <a:spcPts val="0"/>
                        </a:spcBef>
                        <a:spcAft>
                          <a:spcPts val="0"/>
                        </a:spcAft>
                        <a:buNone/>
                      </a:pPr>
                      <a:r>
                        <a:rPr lang="es-ES" sz="1050" u="none" cap="none" strike="noStrike"/>
                        <a:t>Aunque se reduzca la demanda de energía por calefacción en invierno, aumentará por climatización en verano.</a:t>
                      </a:r>
                      <a:endParaRPr b="0" sz="1050" u="none" cap="none" strike="noStrike">
                        <a:solidFill>
                          <a:srgbClr val="7F7F7F"/>
                        </a:solidFill>
                        <a:latin typeface="Verdana"/>
                        <a:ea typeface="Verdana"/>
                        <a:cs typeface="Verdana"/>
                        <a:sym typeface="Verdana"/>
                      </a:endParaRPr>
                    </a:p>
                  </a:txBody>
                  <a:tcPr marT="45725" marB="45725" marR="91450" marL="91450"/>
                </a:tc>
              </a:tr>
              <a:tr h="321325">
                <a:tc>
                  <a:txBody>
                    <a:bodyPr/>
                    <a:lstStyle/>
                    <a:p>
                      <a:pPr indent="0" lvl="0" marL="0" marR="0" rtl="0" algn="ctr">
                        <a:spcBef>
                          <a:spcPts val="0"/>
                        </a:spcBef>
                        <a:spcAft>
                          <a:spcPts val="0"/>
                        </a:spcAft>
                        <a:buNone/>
                      </a:pPr>
                      <a:r>
                        <a:rPr lang="es-ES" sz="1050" u="none" cap="none" strike="noStrike">
                          <a:solidFill>
                            <a:schemeClr val="dk1"/>
                          </a:solidFill>
                        </a:rPr>
                        <a:t>Demasiado sol para el turismo</a:t>
                      </a:r>
                      <a:endParaRPr sz="1050" u="none" cap="none" strike="noStrike">
                        <a:solidFill>
                          <a:schemeClr val="dk1"/>
                        </a:solidFill>
                        <a:latin typeface="Verdana"/>
                        <a:ea typeface="Verdana"/>
                        <a:cs typeface="Verdana"/>
                        <a:sym typeface="Verdana"/>
                      </a:endParaRPr>
                    </a:p>
                  </a:txBody>
                  <a:tcPr marT="45725" marB="45725" marR="91450" marL="91450" anchor="ctr"/>
                </a:tc>
                <a:tc>
                  <a:txBody>
                    <a:bodyPr/>
                    <a:lstStyle/>
                    <a:p>
                      <a:pPr indent="0" lvl="0" marL="0" marR="0" rtl="0" algn="l">
                        <a:spcBef>
                          <a:spcPts val="0"/>
                        </a:spcBef>
                        <a:spcAft>
                          <a:spcPts val="0"/>
                        </a:spcAft>
                        <a:buNone/>
                      </a:pPr>
                      <a:r>
                        <a:rPr lang="es-ES" sz="1050" u="none" cap="none" strike="noStrike"/>
                        <a:t>El calor en verano puede ser excesivo para el turismo, reduciéndose el atractivo de la costa mediterránea y la mitad sur de la península ibérica.</a:t>
                      </a:r>
                      <a:endParaRPr b="0" sz="1050" u="none" cap="none" strike="noStrike">
                        <a:solidFill>
                          <a:srgbClr val="7F7F7F"/>
                        </a:solidFill>
                        <a:latin typeface="Verdana"/>
                        <a:ea typeface="Verdana"/>
                        <a:cs typeface="Verdana"/>
                        <a:sym typeface="Verdana"/>
                      </a:endParaRPr>
                    </a:p>
                  </a:txBody>
                  <a:tcPr marT="45725" marB="45725" marR="91450" marL="91450"/>
                </a:tc>
              </a:tr>
              <a:tr h="366425">
                <a:tc>
                  <a:txBody>
                    <a:bodyPr/>
                    <a:lstStyle/>
                    <a:p>
                      <a:pPr indent="0" lvl="0" marL="0" marR="0" rtl="0" algn="ctr">
                        <a:spcBef>
                          <a:spcPts val="0"/>
                        </a:spcBef>
                        <a:spcAft>
                          <a:spcPts val="0"/>
                        </a:spcAft>
                        <a:buNone/>
                      </a:pPr>
                      <a:r>
                        <a:rPr lang="es-ES" sz="1050" u="none" cap="none" strike="noStrike">
                          <a:solidFill>
                            <a:schemeClr val="dk1"/>
                          </a:solidFill>
                        </a:rPr>
                        <a:t>Encarecimiento de los seguros</a:t>
                      </a:r>
                      <a:endParaRPr sz="1050" u="none" cap="none" strike="noStrike">
                        <a:solidFill>
                          <a:schemeClr val="dk1"/>
                        </a:solidFill>
                        <a:latin typeface="Verdana"/>
                        <a:ea typeface="Verdana"/>
                        <a:cs typeface="Verdana"/>
                        <a:sym typeface="Verdana"/>
                      </a:endParaRPr>
                    </a:p>
                  </a:txBody>
                  <a:tcPr marT="45725" marB="45725" marR="91450" marL="91450" anchor="ctr"/>
                </a:tc>
                <a:tc>
                  <a:txBody>
                    <a:bodyPr/>
                    <a:lstStyle/>
                    <a:p>
                      <a:pPr indent="0" lvl="0" marL="0" marR="0" rtl="0" algn="l">
                        <a:spcBef>
                          <a:spcPts val="0"/>
                        </a:spcBef>
                        <a:spcAft>
                          <a:spcPts val="0"/>
                        </a:spcAft>
                        <a:buNone/>
                      </a:pPr>
                      <a:r>
                        <a:rPr lang="es-ES" sz="1050" u="none" cap="none" strike="noStrike"/>
                        <a:t>El mayor riesgo de pérdidas por fenómenos meteorológicos y malas cosechas supone un aumento en las primas que cobran las aseguradoras a las empresas.</a:t>
                      </a:r>
                      <a:endParaRPr b="0" sz="1050" u="none" cap="none" strike="noStrike">
                        <a:solidFill>
                          <a:srgbClr val="7F7F7F"/>
                        </a:solidFill>
                        <a:latin typeface="Verdana"/>
                        <a:ea typeface="Verdana"/>
                        <a:cs typeface="Verdana"/>
                        <a:sym typeface="Verdana"/>
                      </a:endParaRPr>
                    </a:p>
                  </a:txBody>
                  <a:tcPr marT="45725" marB="45725" marR="91450" marL="91450"/>
                </a:tc>
              </a:tr>
              <a:tr h="450975">
                <a:tc>
                  <a:txBody>
                    <a:bodyPr/>
                    <a:lstStyle/>
                    <a:p>
                      <a:pPr indent="0" lvl="0" marL="0" marR="0" rtl="0" algn="ctr">
                        <a:spcBef>
                          <a:spcPts val="0"/>
                        </a:spcBef>
                        <a:spcAft>
                          <a:spcPts val="0"/>
                        </a:spcAft>
                        <a:buNone/>
                      </a:pPr>
                      <a:r>
                        <a:rPr lang="es-ES" sz="1050" u="none" cap="none" strike="noStrike">
                          <a:solidFill>
                            <a:schemeClr val="dk1"/>
                          </a:solidFill>
                        </a:rPr>
                        <a:t>Peores condiciones de trabajo</a:t>
                      </a:r>
                      <a:endParaRPr sz="1050" u="none" cap="none" strike="noStrike">
                        <a:solidFill>
                          <a:schemeClr val="dk1"/>
                        </a:solidFill>
                        <a:latin typeface="Verdana"/>
                        <a:ea typeface="Verdana"/>
                        <a:cs typeface="Verdana"/>
                        <a:sym typeface="Verdana"/>
                      </a:endParaRPr>
                    </a:p>
                  </a:txBody>
                  <a:tcPr marT="45725" marB="45725" marR="91450" marL="91450" anchor="ctr"/>
                </a:tc>
                <a:tc>
                  <a:txBody>
                    <a:bodyPr/>
                    <a:lstStyle/>
                    <a:p>
                      <a:pPr indent="0" lvl="0" marL="0" marR="0" rtl="0" algn="l">
                        <a:spcBef>
                          <a:spcPts val="0"/>
                        </a:spcBef>
                        <a:spcAft>
                          <a:spcPts val="0"/>
                        </a:spcAft>
                        <a:buNone/>
                      </a:pPr>
                      <a:r>
                        <a:rPr lang="es-ES" sz="1050" u="none" cap="none" strike="noStrike"/>
                        <a:t>El aumento de temperaturas reduce la productividad del trabajo, además de los riesgos para la salud de las personas.</a:t>
                      </a:r>
                      <a:endParaRPr b="0" sz="1050" u="none" cap="none" strike="noStrike">
                        <a:solidFill>
                          <a:srgbClr val="7F7F7F"/>
                        </a:solidFill>
                        <a:latin typeface="Verdana"/>
                        <a:ea typeface="Verdana"/>
                        <a:cs typeface="Verdana"/>
                        <a:sym typeface="Verdana"/>
                      </a:endParaRPr>
                    </a:p>
                  </a:txBody>
                  <a:tcPr marT="45725" marB="45725" marR="91450" marL="91450"/>
                </a:tc>
              </a:tr>
            </a:tbl>
          </a:graphicData>
        </a:graphic>
      </p:graphicFrame>
      <p:sp>
        <p:nvSpPr>
          <p:cNvPr id="229" name="Google Shape;229;p7"/>
          <p:cNvSpPr/>
          <p:nvPr/>
        </p:nvSpPr>
        <p:spPr>
          <a:xfrm>
            <a:off x="1652588" y="156845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7"/>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grpSp>
        <p:nvGrpSpPr>
          <p:cNvPr id="231" name="Google Shape;231;p7"/>
          <p:cNvGrpSpPr/>
          <p:nvPr/>
        </p:nvGrpSpPr>
        <p:grpSpPr>
          <a:xfrm>
            <a:off x="6277237" y="616638"/>
            <a:ext cx="314956" cy="325120"/>
            <a:chOff x="974348" y="3037844"/>
            <a:chExt cx="314956" cy="325120"/>
          </a:xfrm>
        </p:grpSpPr>
        <p:grpSp>
          <p:nvGrpSpPr>
            <p:cNvPr id="232" name="Google Shape;232;p7"/>
            <p:cNvGrpSpPr/>
            <p:nvPr/>
          </p:nvGrpSpPr>
          <p:grpSpPr>
            <a:xfrm>
              <a:off x="974348" y="3037844"/>
              <a:ext cx="314956" cy="325120"/>
              <a:chOff x="953952" y="3064430"/>
              <a:chExt cx="314956" cy="325120"/>
            </a:xfrm>
          </p:grpSpPr>
          <p:sp>
            <p:nvSpPr>
              <p:cNvPr id="233" name="Google Shape;233;p7"/>
              <p:cNvSpPr/>
              <p:nvPr/>
            </p:nvSpPr>
            <p:spPr>
              <a:xfrm>
                <a:off x="953952" y="3064430"/>
                <a:ext cx="282575" cy="325120"/>
              </a:xfrm>
              <a:custGeom>
                <a:rect b="b" l="l" r="r" t="t"/>
                <a:pathLst>
                  <a:path extrusionOk="0" h="325120" w="282575">
                    <a:moveTo>
                      <a:pt x="282549" y="277097"/>
                    </a:moveTo>
                    <a:lnTo>
                      <a:pt x="247256" y="303513"/>
                    </a:lnTo>
                    <a:lnTo>
                      <a:pt x="207501" y="319364"/>
                    </a:lnTo>
                    <a:lnTo>
                      <a:pt x="165515" y="324650"/>
                    </a:lnTo>
                    <a:lnTo>
                      <a:pt x="123529" y="319370"/>
                    </a:lnTo>
                    <a:lnTo>
                      <a:pt x="83774" y="303524"/>
                    </a:lnTo>
                    <a:lnTo>
                      <a:pt x="48481" y="277109"/>
                    </a:lnTo>
                    <a:lnTo>
                      <a:pt x="21545" y="242494"/>
                    </a:lnTo>
                    <a:lnTo>
                      <a:pt x="5385" y="203504"/>
                    </a:lnTo>
                    <a:lnTo>
                      <a:pt x="0" y="162326"/>
                    </a:lnTo>
                    <a:lnTo>
                      <a:pt x="5388" y="121148"/>
                    </a:lnTo>
                    <a:lnTo>
                      <a:pt x="21549" y="82157"/>
                    </a:lnTo>
                    <a:lnTo>
                      <a:pt x="48481" y="47542"/>
                    </a:lnTo>
                    <a:lnTo>
                      <a:pt x="83774" y="21131"/>
                    </a:lnTo>
                    <a:lnTo>
                      <a:pt x="123529" y="5283"/>
                    </a:lnTo>
                    <a:lnTo>
                      <a:pt x="165515" y="0"/>
                    </a:lnTo>
                    <a:lnTo>
                      <a:pt x="207501" y="5281"/>
                    </a:lnTo>
                    <a:lnTo>
                      <a:pt x="247256" y="21128"/>
                    </a:lnTo>
                    <a:lnTo>
                      <a:pt x="282549" y="47542"/>
                    </a:lnTo>
                  </a:path>
                </a:pathLst>
              </a:custGeom>
              <a:noFill/>
              <a:ln cap="flat" cmpd="sng" w="30725">
                <a:solidFill>
                  <a:srgbClr val="ADCE6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34" name="Google Shape;234;p7"/>
              <p:cNvPicPr preferRelativeResize="0"/>
              <p:nvPr/>
            </p:nvPicPr>
            <p:blipFill rotWithShape="1">
              <a:blip r:embed="rId7">
                <a:alphaModFix/>
              </a:blip>
              <a:srcRect b="0" l="0" r="0" t="0"/>
              <a:stretch/>
            </p:blipFill>
            <p:spPr>
              <a:xfrm>
                <a:off x="1199475" y="3079761"/>
                <a:ext cx="69433" cy="68757"/>
              </a:xfrm>
              <a:prstGeom prst="rect">
                <a:avLst/>
              </a:prstGeom>
              <a:noFill/>
              <a:ln>
                <a:noFill/>
              </a:ln>
            </p:spPr>
          </p:pic>
        </p:grpSp>
        <p:sp>
          <p:nvSpPr>
            <p:cNvPr id="235" name="Google Shape;235;p7"/>
            <p:cNvSpPr txBox="1"/>
            <p:nvPr/>
          </p:nvSpPr>
          <p:spPr>
            <a:xfrm>
              <a:off x="1083564" y="3103506"/>
              <a:ext cx="114300" cy="18210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1100">
                  <a:solidFill>
                    <a:srgbClr val="A0D273"/>
                  </a:solidFill>
                  <a:latin typeface="Verdana"/>
                  <a:ea typeface="Verdana"/>
                  <a:cs typeface="Verdana"/>
                  <a:sym typeface="Verdana"/>
                </a:rPr>
                <a:t>2</a:t>
              </a:r>
              <a:endParaRPr sz="1100">
                <a:solidFill>
                  <a:srgbClr val="A0D273"/>
                </a:solidFill>
                <a:latin typeface="Verdana"/>
                <a:ea typeface="Verdana"/>
                <a:cs typeface="Verdana"/>
                <a:sym typeface="Verdan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8"/>
          <p:cNvSpPr/>
          <p:nvPr/>
        </p:nvSpPr>
        <p:spPr>
          <a:xfrm>
            <a:off x="11711" y="4898003"/>
            <a:ext cx="9132570" cy="245745"/>
          </a:xfrm>
          <a:custGeom>
            <a:rect b="b" l="l" r="r" t="t"/>
            <a:pathLst>
              <a:path extrusionOk="0" h="245745" w="9132570">
                <a:moveTo>
                  <a:pt x="0" y="0"/>
                </a:moveTo>
                <a:lnTo>
                  <a:pt x="9132288" y="0"/>
                </a:lnTo>
                <a:lnTo>
                  <a:pt x="9132288" y="245496"/>
                </a:lnTo>
                <a:lnTo>
                  <a:pt x="0" y="245496"/>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241" name="Google Shape;241;p8"/>
          <p:cNvGrpSpPr/>
          <p:nvPr/>
        </p:nvGrpSpPr>
        <p:grpSpPr>
          <a:xfrm>
            <a:off x="203278" y="166932"/>
            <a:ext cx="534035" cy="547370"/>
            <a:chOff x="203278" y="166932"/>
            <a:chExt cx="534035" cy="547370"/>
          </a:xfrm>
        </p:grpSpPr>
        <p:sp>
          <p:nvSpPr>
            <p:cNvPr id="242" name="Google Shape;242;p8"/>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43" name="Google Shape;243;p8"/>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244" name="Google Shape;244;p8"/>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45" name="Google Shape;245;p8"/>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246" name="Google Shape;246;p8"/>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sp>
        <p:nvSpPr>
          <p:cNvPr id="247" name="Google Shape;247;p8"/>
          <p:cNvSpPr txBox="1"/>
          <p:nvPr>
            <p:ph type="title"/>
          </p:nvPr>
        </p:nvSpPr>
        <p:spPr>
          <a:xfrm>
            <a:off x="1428272" y="259588"/>
            <a:ext cx="5658328" cy="259045"/>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lang="es-ES">
                <a:solidFill>
                  <a:srgbClr val="00AEBA"/>
                </a:solidFill>
              </a:rPr>
              <a:t>3. Acciones y alianzas para la sostenibilidad</a:t>
            </a:r>
            <a:endParaRPr>
              <a:solidFill>
                <a:srgbClr val="00AEBA"/>
              </a:solidFill>
            </a:endParaRPr>
          </a:p>
        </p:txBody>
      </p:sp>
      <p:pic>
        <p:nvPicPr>
          <p:cNvPr id="248" name="Google Shape;248;p8"/>
          <p:cNvPicPr preferRelativeResize="0"/>
          <p:nvPr/>
        </p:nvPicPr>
        <p:blipFill rotWithShape="1">
          <a:blip r:embed="rId6">
            <a:alphaModFix/>
          </a:blip>
          <a:srcRect b="0" l="0" r="0" t="0"/>
          <a:stretch/>
        </p:blipFill>
        <p:spPr>
          <a:xfrm>
            <a:off x="838200" y="135821"/>
            <a:ext cx="651776" cy="608324"/>
          </a:xfrm>
          <a:prstGeom prst="rect">
            <a:avLst/>
          </a:prstGeom>
          <a:noFill/>
          <a:ln>
            <a:noFill/>
          </a:ln>
        </p:spPr>
      </p:pic>
      <p:sp>
        <p:nvSpPr>
          <p:cNvPr id="249" name="Google Shape;249;p8"/>
          <p:cNvSpPr/>
          <p:nvPr/>
        </p:nvSpPr>
        <p:spPr>
          <a:xfrm>
            <a:off x="1131344" y="664669"/>
            <a:ext cx="5334000" cy="600164"/>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El agotamiento de los ecosistemas a causa de su sobrecarga por la actividad humana provoca el </a:t>
            </a:r>
            <a:r>
              <a:rPr b="1" lang="es-ES" sz="1100">
                <a:solidFill>
                  <a:srgbClr val="7F7F7F"/>
                </a:solidFill>
                <a:latin typeface="Verdana"/>
                <a:ea typeface="Verdana"/>
                <a:cs typeface="Verdana"/>
                <a:sym typeface="Verdana"/>
              </a:rPr>
              <a:t>fenómeno medioambiental más grave </a:t>
            </a:r>
            <a:r>
              <a:rPr lang="es-ES" sz="1100">
                <a:solidFill>
                  <a:srgbClr val="7F7F7F"/>
                </a:solidFill>
                <a:latin typeface="Verdana"/>
                <a:ea typeface="Verdana"/>
                <a:cs typeface="Verdana"/>
                <a:sym typeface="Verdana"/>
              </a:rPr>
              <a:t>actualmente: el </a:t>
            </a:r>
            <a:r>
              <a:rPr i="1" lang="es-ES" sz="1100">
                <a:solidFill>
                  <a:srgbClr val="7F7F7F"/>
                </a:solidFill>
                <a:latin typeface="Verdana"/>
                <a:ea typeface="Verdana"/>
                <a:cs typeface="Verdana"/>
                <a:sym typeface="Verdana"/>
              </a:rPr>
              <a:t>cambio climático.</a:t>
            </a:r>
            <a:endParaRPr sz="1100">
              <a:solidFill>
                <a:srgbClr val="7F7F7F"/>
              </a:solidFill>
              <a:latin typeface="Verdana"/>
              <a:ea typeface="Verdana"/>
              <a:cs typeface="Verdana"/>
              <a:sym typeface="Verdana"/>
            </a:endParaRPr>
          </a:p>
        </p:txBody>
      </p:sp>
      <p:sp>
        <p:nvSpPr>
          <p:cNvPr id="250" name="Google Shape;250;p8"/>
          <p:cNvSpPr txBox="1"/>
          <p:nvPr/>
        </p:nvSpPr>
        <p:spPr>
          <a:xfrm>
            <a:off x="1207544" y="1327609"/>
            <a:ext cx="6191728" cy="351378"/>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0" lang="es-ES" sz="1100">
                <a:solidFill>
                  <a:srgbClr val="00AEBA"/>
                </a:solidFill>
                <a:latin typeface="Verdana"/>
                <a:ea typeface="Verdana"/>
                <a:cs typeface="Verdana"/>
                <a:sym typeface="Verdana"/>
              </a:rPr>
              <a:t>3.1. Desandar el camino del cambio climático: descarbonizar </a:t>
            </a:r>
            <a:br>
              <a:rPr b="1" i="0" lang="es-ES" sz="1100">
                <a:solidFill>
                  <a:srgbClr val="00AEBA"/>
                </a:solidFill>
                <a:latin typeface="Verdana"/>
                <a:ea typeface="Verdana"/>
                <a:cs typeface="Verdana"/>
                <a:sym typeface="Verdana"/>
              </a:rPr>
            </a:br>
            <a:r>
              <a:rPr b="1" i="0" lang="es-ES" sz="1100">
                <a:solidFill>
                  <a:srgbClr val="00AEBA"/>
                </a:solidFill>
                <a:latin typeface="Verdana"/>
                <a:ea typeface="Verdana"/>
                <a:cs typeface="Verdana"/>
                <a:sym typeface="Verdana"/>
              </a:rPr>
              <a:t>y desmaterializar la actividad económica</a:t>
            </a:r>
            <a:endParaRPr/>
          </a:p>
        </p:txBody>
      </p:sp>
      <p:sp>
        <p:nvSpPr>
          <p:cNvPr id="251" name="Google Shape;251;p8"/>
          <p:cNvSpPr txBox="1"/>
          <p:nvPr/>
        </p:nvSpPr>
        <p:spPr>
          <a:xfrm>
            <a:off x="6934200" y="345861"/>
            <a:ext cx="2110716" cy="326349"/>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None/>
            </a:pPr>
            <a:r>
              <a:rPr lang="es-ES" sz="1600">
                <a:solidFill>
                  <a:srgbClr val="009746"/>
                </a:solidFill>
                <a:latin typeface="Verdana"/>
                <a:ea typeface="Verdana"/>
                <a:cs typeface="Verdana"/>
                <a:sym typeface="Verdana"/>
              </a:rPr>
              <a:t>Importante</a:t>
            </a:r>
            <a:endParaRPr/>
          </a:p>
          <a:p>
            <a:pPr indent="0" lvl="0" marL="0" rtl="0" algn="l">
              <a:spcBef>
                <a:spcPts val="0"/>
              </a:spcBef>
              <a:spcAft>
                <a:spcPts val="0"/>
              </a:spcAft>
              <a:buNone/>
            </a:pPr>
            <a:r>
              <a:t/>
            </a:r>
            <a:endParaRPr sz="1600">
              <a:solidFill>
                <a:srgbClr val="7F7F7F"/>
              </a:solidFill>
              <a:latin typeface="Verdana"/>
              <a:ea typeface="Verdana"/>
              <a:cs typeface="Verdana"/>
              <a:sym typeface="Verdana"/>
            </a:endParaRPr>
          </a:p>
          <a:p>
            <a:pPr indent="0" lvl="0" marL="0" rtl="0" algn="l">
              <a:spcBef>
                <a:spcPts val="0"/>
              </a:spcBef>
              <a:spcAft>
                <a:spcPts val="0"/>
              </a:spcAft>
              <a:buNone/>
            </a:pPr>
            <a:r>
              <a:t/>
            </a:r>
            <a:endParaRPr sz="1600">
              <a:solidFill>
                <a:srgbClr val="7F7F7F"/>
              </a:solidFill>
              <a:latin typeface="Verdana"/>
              <a:ea typeface="Verdana"/>
              <a:cs typeface="Verdana"/>
              <a:sym typeface="Verdana"/>
            </a:endParaRPr>
          </a:p>
        </p:txBody>
      </p:sp>
      <p:pic>
        <p:nvPicPr>
          <p:cNvPr id="252" name="Google Shape;252;p8"/>
          <p:cNvPicPr preferRelativeResize="0"/>
          <p:nvPr/>
        </p:nvPicPr>
        <p:blipFill rotWithShape="1">
          <a:blip r:embed="rId7">
            <a:alphaModFix/>
          </a:blip>
          <a:srcRect b="0" l="0" r="0" t="0"/>
          <a:stretch/>
        </p:blipFill>
        <p:spPr>
          <a:xfrm>
            <a:off x="6507218" y="245299"/>
            <a:ext cx="558205" cy="520992"/>
          </a:xfrm>
          <a:prstGeom prst="rect">
            <a:avLst/>
          </a:prstGeom>
          <a:noFill/>
          <a:ln>
            <a:noFill/>
          </a:ln>
        </p:spPr>
      </p:pic>
      <p:sp>
        <p:nvSpPr>
          <p:cNvPr id="253" name="Google Shape;253;p8"/>
          <p:cNvSpPr txBox="1"/>
          <p:nvPr/>
        </p:nvSpPr>
        <p:spPr>
          <a:xfrm>
            <a:off x="7000390" y="772514"/>
            <a:ext cx="1774189" cy="1367041"/>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lang="es-ES" sz="1100">
                <a:solidFill>
                  <a:srgbClr val="7F7F7F"/>
                </a:solidFill>
                <a:latin typeface="Verdana"/>
                <a:ea typeface="Verdana"/>
                <a:cs typeface="Verdana"/>
                <a:sym typeface="Verdana"/>
              </a:rPr>
              <a:t>Según la ONU, es imprescindible que el planeta reduzca las emisiones de CO2 en</a:t>
            </a:r>
            <a:br>
              <a:rPr lang="es-ES" sz="1100">
                <a:solidFill>
                  <a:srgbClr val="7F7F7F"/>
                </a:solidFill>
                <a:latin typeface="Verdana"/>
                <a:ea typeface="Verdana"/>
                <a:cs typeface="Verdana"/>
                <a:sym typeface="Verdana"/>
              </a:rPr>
            </a:br>
            <a:r>
              <a:rPr lang="es-ES" sz="1100">
                <a:solidFill>
                  <a:srgbClr val="7F7F7F"/>
                </a:solidFill>
                <a:latin typeface="Verdana"/>
                <a:ea typeface="Verdana"/>
                <a:cs typeface="Verdana"/>
                <a:sym typeface="Verdana"/>
              </a:rPr>
              <a:t>un 45% para 2030,</a:t>
            </a:r>
            <a:br>
              <a:rPr lang="es-ES" sz="1100">
                <a:solidFill>
                  <a:srgbClr val="7F7F7F"/>
                </a:solidFill>
                <a:latin typeface="Verdana"/>
                <a:ea typeface="Verdana"/>
                <a:cs typeface="Verdana"/>
                <a:sym typeface="Verdana"/>
              </a:rPr>
            </a:br>
            <a:r>
              <a:rPr lang="es-ES" sz="1100">
                <a:solidFill>
                  <a:srgbClr val="7F7F7F"/>
                </a:solidFill>
                <a:latin typeface="Verdana"/>
                <a:ea typeface="Verdana"/>
                <a:cs typeface="Verdana"/>
                <a:sym typeface="Verdana"/>
              </a:rPr>
              <a:t>y alcanzar las cero emisiones netas de carbono en 2050.</a:t>
            </a:r>
            <a:endParaRPr/>
          </a:p>
        </p:txBody>
      </p:sp>
      <p:sp>
        <p:nvSpPr>
          <p:cNvPr id="254" name="Google Shape;254;p8"/>
          <p:cNvSpPr/>
          <p:nvPr/>
        </p:nvSpPr>
        <p:spPr>
          <a:xfrm>
            <a:off x="6803293" y="699404"/>
            <a:ext cx="1898014" cy="1503685"/>
          </a:xfrm>
          <a:custGeom>
            <a:rect b="b" l="l" r="r" t="t"/>
            <a:pathLst>
              <a:path extrusionOk="0" h="1434464" w="1898015">
                <a:moveTo>
                  <a:pt x="0" y="239004"/>
                </a:moveTo>
                <a:lnTo>
                  <a:pt x="4855" y="190837"/>
                </a:lnTo>
                <a:lnTo>
                  <a:pt x="18782" y="145973"/>
                </a:lnTo>
                <a:lnTo>
                  <a:pt x="40818" y="105374"/>
                </a:lnTo>
                <a:lnTo>
                  <a:pt x="70002" y="70002"/>
                </a:lnTo>
                <a:lnTo>
                  <a:pt x="105374" y="40818"/>
                </a:lnTo>
                <a:lnTo>
                  <a:pt x="145973" y="18782"/>
                </a:lnTo>
                <a:lnTo>
                  <a:pt x="190836" y="4855"/>
                </a:lnTo>
                <a:lnTo>
                  <a:pt x="239004" y="0"/>
                </a:lnTo>
                <a:lnTo>
                  <a:pt x="1658539" y="0"/>
                </a:lnTo>
                <a:lnTo>
                  <a:pt x="1706706" y="4855"/>
                </a:lnTo>
                <a:lnTo>
                  <a:pt x="1751570" y="18782"/>
                </a:lnTo>
                <a:lnTo>
                  <a:pt x="1792169" y="40818"/>
                </a:lnTo>
                <a:lnTo>
                  <a:pt x="1827541" y="70002"/>
                </a:lnTo>
                <a:lnTo>
                  <a:pt x="1856725" y="105374"/>
                </a:lnTo>
                <a:lnTo>
                  <a:pt x="1878761" y="145973"/>
                </a:lnTo>
                <a:lnTo>
                  <a:pt x="1892688" y="190837"/>
                </a:lnTo>
                <a:lnTo>
                  <a:pt x="1897544" y="239004"/>
                </a:lnTo>
                <a:lnTo>
                  <a:pt x="1897544" y="1194993"/>
                </a:lnTo>
                <a:lnTo>
                  <a:pt x="1892688" y="1243160"/>
                </a:lnTo>
                <a:lnTo>
                  <a:pt x="1878761" y="1288024"/>
                </a:lnTo>
                <a:lnTo>
                  <a:pt x="1856725" y="1328623"/>
                </a:lnTo>
                <a:lnTo>
                  <a:pt x="1827541" y="1363995"/>
                </a:lnTo>
                <a:lnTo>
                  <a:pt x="1792169" y="1393179"/>
                </a:lnTo>
                <a:lnTo>
                  <a:pt x="1751570" y="1415215"/>
                </a:lnTo>
                <a:lnTo>
                  <a:pt x="1706706" y="1429142"/>
                </a:lnTo>
                <a:lnTo>
                  <a:pt x="1658539" y="1433998"/>
                </a:lnTo>
                <a:lnTo>
                  <a:pt x="239004" y="1433998"/>
                </a:lnTo>
                <a:lnTo>
                  <a:pt x="190836" y="1429142"/>
                </a:lnTo>
                <a:lnTo>
                  <a:pt x="145973" y="1415215"/>
                </a:lnTo>
                <a:lnTo>
                  <a:pt x="105374" y="1393179"/>
                </a:lnTo>
                <a:lnTo>
                  <a:pt x="70002" y="1363995"/>
                </a:lnTo>
                <a:lnTo>
                  <a:pt x="40818" y="1328623"/>
                </a:lnTo>
                <a:lnTo>
                  <a:pt x="18782" y="1288024"/>
                </a:lnTo>
                <a:lnTo>
                  <a:pt x="4855" y="1243160"/>
                </a:lnTo>
                <a:lnTo>
                  <a:pt x="0" y="1194993"/>
                </a:lnTo>
                <a:lnTo>
                  <a:pt x="0" y="239004"/>
                </a:lnTo>
                <a:close/>
              </a:path>
            </a:pathLst>
          </a:custGeom>
          <a:noFill/>
          <a:ln cap="flat" cmpd="sng" w="19050">
            <a:solidFill>
              <a:srgbClr val="009746"/>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5" name="Google Shape;255;p8"/>
          <p:cNvSpPr/>
          <p:nvPr/>
        </p:nvSpPr>
        <p:spPr>
          <a:xfrm>
            <a:off x="1131344" y="1740905"/>
            <a:ext cx="5461236" cy="600164"/>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Las empresas y todos los agentes económicos deben </a:t>
            </a:r>
            <a:r>
              <a:rPr i="1" lang="es-ES" sz="1100">
                <a:solidFill>
                  <a:srgbClr val="7F7F7F"/>
                </a:solidFill>
                <a:latin typeface="Verdana"/>
                <a:ea typeface="Verdana"/>
                <a:cs typeface="Verdana"/>
                <a:sym typeface="Verdana"/>
              </a:rPr>
              <a:t>descarbonizar </a:t>
            </a:r>
            <a:r>
              <a:rPr lang="es-ES" sz="1100">
                <a:solidFill>
                  <a:srgbClr val="7F7F7F"/>
                </a:solidFill>
                <a:latin typeface="Verdana"/>
                <a:ea typeface="Verdana"/>
                <a:cs typeface="Verdana"/>
                <a:sym typeface="Verdana"/>
              </a:rPr>
              <a:t>y </a:t>
            </a:r>
            <a:r>
              <a:rPr i="1" lang="es-ES" sz="1100">
                <a:solidFill>
                  <a:srgbClr val="7F7F7F"/>
                </a:solidFill>
                <a:latin typeface="Verdana"/>
                <a:ea typeface="Verdana"/>
                <a:cs typeface="Verdana"/>
                <a:sym typeface="Verdana"/>
              </a:rPr>
              <a:t>desmaterializar </a:t>
            </a:r>
            <a:r>
              <a:rPr lang="es-ES" sz="1100">
                <a:solidFill>
                  <a:srgbClr val="7F7F7F"/>
                </a:solidFill>
                <a:latin typeface="Verdana"/>
                <a:ea typeface="Verdana"/>
                <a:cs typeface="Verdana"/>
                <a:sym typeface="Verdana"/>
              </a:rPr>
              <a:t>sus procesos, para que supongan </a:t>
            </a:r>
            <a:r>
              <a:rPr b="1" lang="es-ES" sz="1100">
                <a:solidFill>
                  <a:srgbClr val="7F7F7F"/>
                </a:solidFill>
                <a:latin typeface="Verdana"/>
                <a:ea typeface="Verdana"/>
                <a:cs typeface="Verdana"/>
                <a:sym typeface="Verdana"/>
              </a:rPr>
              <a:t>menores emisiones de gases</a:t>
            </a:r>
            <a:r>
              <a:rPr lang="es-ES" sz="1100">
                <a:solidFill>
                  <a:srgbClr val="7F7F7F"/>
                </a:solidFill>
                <a:latin typeface="Verdana"/>
                <a:ea typeface="Verdana"/>
                <a:cs typeface="Verdana"/>
                <a:sym typeface="Verdana"/>
              </a:rPr>
              <a:t>, menos materiales y energía.</a:t>
            </a:r>
            <a:endParaRPr sz="1100">
              <a:solidFill>
                <a:srgbClr val="7F7F7F"/>
              </a:solidFill>
              <a:latin typeface="Verdana"/>
              <a:ea typeface="Verdana"/>
              <a:cs typeface="Verdana"/>
              <a:sym typeface="Verdana"/>
            </a:endParaRPr>
          </a:p>
        </p:txBody>
      </p:sp>
      <p:graphicFrame>
        <p:nvGraphicFramePr>
          <p:cNvPr id="256" name="Google Shape;256;p8"/>
          <p:cNvGraphicFramePr/>
          <p:nvPr/>
        </p:nvGraphicFramePr>
        <p:xfrm>
          <a:off x="1207545" y="2492885"/>
          <a:ext cx="3000000" cy="3000000"/>
        </p:xfrm>
        <a:graphic>
          <a:graphicData uri="http://schemas.openxmlformats.org/drawingml/2006/table">
            <a:tbl>
              <a:tblPr bandRow="1" firstCol="1" firstRow="1">
                <a:noFill/>
                <a:tableStyleId>{B61225F4-141A-4D9D-BF19-C0078CF44FF6}</a:tableStyleId>
              </a:tblPr>
              <a:tblGrid>
                <a:gridCol w="1569100"/>
                <a:gridCol w="2780075"/>
                <a:gridCol w="3053875"/>
              </a:tblGrid>
              <a:tr h="439700">
                <a:tc>
                  <a:txBody>
                    <a:bodyPr/>
                    <a:lstStyle/>
                    <a:p>
                      <a:pPr indent="0" lvl="0" marL="0" marR="0" rtl="0" algn="ctr">
                        <a:spcBef>
                          <a:spcPts val="0"/>
                        </a:spcBef>
                        <a:spcAft>
                          <a:spcPts val="0"/>
                        </a:spcAft>
                        <a:buNone/>
                      </a:pPr>
                      <a:r>
                        <a:rPr lang="es-ES" sz="1050" u="none" cap="none" strike="noStrike">
                          <a:solidFill>
                            <a:schemeClr val="dk1"/>
                          </a:solidFill>
                        </a:rPr>
                        <a:t>Procesos</a:t>
                      </a:r>
                      <a:endParaRPr sz="1050" u="none" cap="none" strike="noStrike">
                        <a:solidFill>
                          <a:schemeClr val="dk1"/>
                        </a:solidFill>
                        <a:latin typeface="Verdana"/>
                        <a:ea typeface="Verdana"/>
                        <a:cs typeface="Verdana"/>
                        <a:sym typeface="Verdana"/>
                      </a:endParaRPr>
                    </a:p>
                  </a:txBody>
                  <a:tcPr marT="45725" marB="45725" marR="91450" marL="91450" anchor="ctr"/>
                </a:tc>
                <a:tc>
                  <a:txBody>
                    <a:bodyPr/>
                    <a:lstStyle/>
                    <a:p>
                      <a:pPr indent="0" lvl="0" marL="0" marR="0" rtl="0" algn="ctr">
                        <a:spcBef>
                          <a:spcPts val="0"/>
                        </a:spcBef>
                        <a:spcAft>
                          <a:spcPts val="0"/>
                        </a:spcAft>
                        <a:buNone/>
                      </a:pPr>
                      <a:r>
                        <a:rPr lang="es-ES" sz="1050" u="none" cap="none" strike="noStrike">
                          <a:solidFill>
                            <a:schemeClr val="dk1"/>
                          </a:solidFill>
                        </a:rPr>
                        <a:t>Tipos de acciones</a:t>
                      </a:r>
                      <a:endParaRPr b="1" sz="1050" u="none" cap="none" strike="noStrike">
                        <a:solidFill>
                          <a:schemeClr val="dk1"/>
                        </a:solidFill>
                        <a:latin typeface="Verdana"/>
                        <a:ea typeface="Verdana"/>
                        <a:cs typeface="Verdana"/>
                        <a:sym typeface="Verdana"/>
                      </a:endParaRPr>
                    </a:p>
                  </a:txBody>
                  <a:tcPr marT="45725" marB="45725" marR="91450" marL="91450" anchor="ctr"/>
                </a:tc>
                <a:tc>
                  <a:txBody>
                    <a:bodyPr/>
                    <a:lstStyle/>
                    <a:p>
                      <a:pPr indent="0" lvl="0" marL="0" marR="0" rtl="0" algn="ctr">
                        <a:spcBef>
                          <a:spcPts val="0"/>
                        </a:spcBef>
                        <a:spcAft>
                          <a:spcPts val="0"/>
                        </a:spcAft>
                        <a:buNone/>
                      </a:pPr>
                      <a:r>
                        <a:rPr lang="es-ES" sz="1050" u="none" cap="none" strike="noStrike">
                          <a:solidFill>
                            <a:schemeClr val="dk1"/>
                          </a:solidFill>
                        </a:rPr>
                        <a:t>Ejemplos en la empresa</a:t>
                      </a:r>
                      <a:endParaRPr b="1" sz="1050" u="none" cap="none" strike="noStrike">
                        <a:solidFill>
                          <a:schemeClr val="dk1"/>
                        </a:solidFill>
                        <a:latin typeface="Verdana"/>
                        <a:ea typeface="Verdana"/>
                        <a:cs typeface="Verdana"/>
                        <a:sym typeface="Verdana"/>
                      </a:endParaRPr>
                    </a:p>
                  </a:txBody>
                  <a:tcPr marT="45725" marB="45725" marR="91450" marL="91450" anchor="ctr"/>
                </a:tc>
              </a:tr>
              <a:tr h="489075">
                <a:tc rowSpan="2">
                  <a:txBody>
                    <a:bodyPr/>
                    <a:lstStyle/>
                    <a:p>
                      <a:pPr indent="0" lvl="0" marL="0" marR="0" rtl="0" algn="ctr">
                        <a:spcBef>
                          <a:spcPts val="0"/>
                        </a:spcBef>
                        <a:spcAft>
                          <a:spcPts val="0"/>
                        </a:spcAft>
                        <a:buNone/>
                      </a:pPr>
                      <a:r>
                        <a:rPr lang="es-ES" sz="1050" u="none" cap="none" strike="noStrike">
                          <a:solidFill>
                            <a:schemeClr val="dk1"/>
                          </a:solidFill>
                        </a:rPr>
                        <a:t>Descarbonización</a:t>
                      </a:r>
                      <a:endParaRPr b="1" sz="1050" u="none" cap="none" strike="noStrike">
                        <a:solidFill>
                          <a:schemeClr val="dk1"/>
                        </a:solidFill>
                        <a:latin typeface="Verdana"/>
                        <a:ea typeface="Verdana"/>
                        <a:cs typeface="Verdana"/>
                        <a:sym typeface="Verdana"/>
                      </a:endParaRPr>
                    </a:p>
                  </a:txBody>
                  <a:tcPr marT="45725" marB="45725" marR="91450" marL="91450" anchor="ctr">
                    <a:solidFill>
                      <a:srgbClr val="C2D59B"/>
                    </a:solidFill>
                  </a:tcPr>
                </a:tc>
                <a:tc>
                  <a:txBody>
                    <a:bodyPr/>
                    <a:lstStyle/>
                    <a:p>
                      <a:pPr indent="-171450" lvl="0" marL="171450" marR="0" rtl="0" algn="l">
                        <a:spcBef>
                          <a:spcPts val="0"/>
                        </a:spcBef>
                        <a:spcAft>
                          <a:spcPts val="0"/>
                        </a:spcAft>
                        <a:buSzPts val="1050"/>
                        <a:buFont typeface="Arial"/>
                        <a:buChar char="•"/>
                      </a:pPr>
                      <a:r>
                        <a:rPr lang="es-ES" sz="1050" u="none" cap="none" strike="noStrike"/>
                        <a:t>Utilizar fuentes de energía menos contaminantes.</a:t>
                      </a:r>
                      <a:endParaRPr b="0" sz="1050" u="none" cap="none" strike="noStrike">
                        <a:solidFill>
                          <a:srgbClr val="7F7F7F"/>
                        </a:solidFill>
                        <a:latin typeface="Verdana"/>
                        <a:ea typeface="Verdana"/>
                        <a:cs typeface="Verdana"/>
                        <a:sym typeface="Verdana"/>
                      </a:endParaRPr>
                    </a:p>
                  </a:txBody>
                  <a:tcPr marT="45725" marB="45725" marR="91450" marL="91450"/>
                </a:tc>
                <a:tc>
                  <a:txBody>
                    <a:bodyPr/>
                    <a:lstStyle/>
                    <a:p>
                      <a:pPr indent="-171450" lvl="0" marL="171450" marR="0" rtl="0" algn="l">
                        <a:spcBef>
                          <a:spcPts val="0"/>
                        </a:spcBef>
                        <a:spcAft>
                          <a:spcPts val="0"/>
                        </a:spcAft>
                        <a:buSzPts val="1050"/>
                        <a:buFont typeface="Arial"/>
                        <a:buChar char="•"/>
                      </a:pPr>
                      <a:r>
                        <a:rPr lang="es-ES" sz="1050" u="none" cap="none" strike="noStrike"/>
                        <a:t>Paneles solares o aerogeneradores.</a:t>
                      </a:r>
                      <a:endParaRPr/>
                    </a:p>
                    <a:p>
                      <a:pPr indent="-171450" lvl="0" marL="171450" marR="0" rtl="0" algn="l">
                        <a:spcBef>
                          <a:spcPts val="0"/>
                        </a:spcBef>
                        <a:spcAft>
                          <a:spcPts val="0"/>
                        </a:spcAft>
                        <a:buSzPts val="1050"/>
                        <a:buFont typeface="Arial"/>
                        <a:buChar char="•"/>
                      </a:pPr>
                      <a:r>
                        <a:rPr lang="es-ES" sz="1050" u="none" cap="none" strike="noStrike"/>
                        <a:t>Calefacción de biomasa en lugar de gas.</a:t>
                      </a:r>
                      <a:endParaRPr b="0" sz="1050" u="none" cap="none" strike="noStrike">
                        <a:solidFill>
                          <a:srgbClr val="7F7F7F"/>
                        </a:solidFill>
                        <a:latin typeface="Verdana"/>
                        <a:ea typeface="Verdana"/>
                        <a:cs typeface="Verdana"/>
                        <a:sym typeface="Verdana"/>
                      </a:endParaRPr>
                    </a:p>
                  </a:txBody>
                  <a:tcPr marT="45725" marB="45725" marR="91450" marL="91450"/>
                </a:tc>
              </a:tr>
              <a:tr h="381000">
                <a:tc vMerge="1"/>
                <a:tc>
                  <a:txBody>
                    <a:bodyPr/>
                    <a:lstStyle/>
                    <a:p>
                      <a:pPr indent="-171450" lvl="0" marL="171450" marR="0" rtl="0" algn="l">
                        <a:lnSpc>
                          <a:spcPct val="100000"/>
                        </a:lnSpc>
                        <a:spcBef>
                          <a:spcPts val="0"/>
                        </a:spcBef>
                        <a:spcAft>
                          <a:spcPts val="0"/>
                        </a:spcAft>
                        <a:buSzPts val="1050"/>
                        <a:buFont typeface="Arial"/>
                        <a:buChar char="•"/>
                      </a:pPr>
                      <a:r>
                        <a:rPr lang="es-ES" sz="1050" u="none" cap="none" strike="noStrike"/>
                        <a:t>Compensar las emisiones de CO</a:t>
                      </a:r>
                      <a:r>
                        <a:rPr baseline="-25000" lang="es-ES" sz="1050" u="none" cap="none" strike="noStrike"/>
                        <a:t>2</a:t>
                      </a:r>
                      <a:r>
                        <a:rPr lang="es-ES" sz="1050" u="none" cap="none" strike="noStrike"/>
                        <a:t>.</a:t>
                      </a:r>
                      <a:endParaRPr b="0" sz="1050" u="none" cap="none" strike="noStrike">
                        <a:solidFill>
                          <a:srgbClr val="7F7F7F"/>
                        </a:solidFill>
                        <a:latin typeface="Verdana"/>
                        <a:ea typeface="Verdana"/>
                        <a:cs typeface="Verdana"/>
                        <a:sym typeface="Verdana"/>
                      </a:endParaRPr>
                    </a:p>
                  </a:txBody>
                  <a:tcPr marT="45725" marB="45725" marR="91450" marL="91450"/>
                </a:tc>
                <a:tc>
                  <a:txBody>
                    <a:bodyPr/>
                    <a:lstStyle/>
                    <a:p>
                      <a:pPr indent="-171450" lvl="0" marL="171450" marR="0" rtl="0" algn="l">
                        <a:spcBef>
                          <a:spcPts val="0"/>
                        </a:spcBef>
                        <a:spcAft>
                          <a:spcPts val="0"/>
                        </a:spcAft>
                        <a:buSzPts val="1050"/>
                        <a:buFont typeface="Arial"/>
                        <a:buChar char="•"/>
                      </a:pPr>
                      <a:r>
                        <a:rPr lang="es-ES" sz="1050" u="none" cap="none" strike="noStrike"/>
                        <a:t>Plantar bosques.</a:t>
                      </a:r>
                      <a:endParaRPr b="0" sz="1050" u="none" cap="none" strike="noStrike">
                        <a:solidFill>
                          <a:srgbClr val="7F7F7F"/>
                        </a:solidFill>
                        <a:latin typeface="Verdana"/>
                        <a:ea typeface="Verdana"/>
                        <a:cs typeface="Verdana"/>
                        <a:sym typeface="Verdana"/>
                      </a:endParaRPr>
                    </a:p>
                  </a:txBody>
                  <a:tcPr marT="45725" marB="45725" marR="91450" marL="91450"/>
                </a:tc>
              </a:tr>
              <a:tr h="274325">
                <a:tc rowSpan="2">
                  <a:txBody>
                    <a:bodyPr/>
                    <a:lstStyle/>
                    <a:p>
                      <a:pPr indent="0" lvl="0" marL="0" marR="0" rtl="0" algn="ctr">
                        <a:spcBef>
                          <a:spcPts val="0"/>
                        </a:spcBef>
                        <a:spcAft>
                          <a:spcPts val="0"/>
                        </a:spcAft>
                        <a:buNone/>
                      </a:pPr>
                      <a:r>
                        <a:rPr lang="es-ES" sz="1050" u="none" cap="none" strike="noStrike">
                          <a:solidFill>
                            <a:schemeClr val="dk1"/>
                          </a:solidFill>
                        </a:rPr>
                        <a:t>Desmaterialización</a:t>
                      </a:r>
                      <a:endParaRPr b="1" sz="1050" u="none" cap="none" strike="noStrike">
                        <a:solidFill>
                          <a:schemeClr val="dk1"/>
                        </a:solidFill>
                        <a:latin typeface="Verdana"/>
                        <a:ea typeface="Verdana"/>
                        <a:cs typeface="Verdana"/>
                        <a:sym typeface="Verdana"/>
                      </a:endParaRPr>
                    </a:p>
                  </a:txBody>
                  <a:tcPr marT="45725" marB="45725" marR="91450" marL="91450" anchor="ctr">
                    <a:solidFill>
                      <a:srgbClr val="C2D59B"/>
                    </a:solidFill>
                  </a:tcPr>
                </a:tc>
                <a:tc>
                  <a:txBody>
                    <a:bodyPr/>
                    <a:lstStyle/>
                    <a:p>
                      <a:pPr indent="-171450" lvl="0" marL="171450" marR="0" rtl="0" algn="l">
                        <a:spcBef>
                          <a:spcPts val="0"/>
                        </a:spcBef>
                        <a:spcAft>
                          <a:spcPts val="0"/>
                        </a:spcAft>
                        <a:buSzPts val="1050"/>
                        <a:buFont typeface="Arial"/>
                        <a:buChar char="•"/>
                      </a:pPr>
                      <a:r>
                        <a:rPr lang="es-ES" sz="1050" u="none" cap="none" strike="noStrike"/>
                        <a:t>Reducir la necesidad de materiales en el diseño de productos.</a:t>
                      </a:r>
                      <a:endParaRPr b="0" sz="1050" u="none" cap="none" strike="noStrike">
                        <a:solidFill>
                          <a:srgbClr val="7F7F7F"/>
                        </a:solidFill>
                        <a:latin typeface="Verdana"/>
                        <a:ea typeface="Verdana"/>
                        <a:cs typeface="Verdana"/>
                        <a:sym typeface="Verdana"/>
                      </a:endParaRPr>
                    </a:p>
                  </a:txBody>
                  <a:tcPr marT="45725" marB="45725" marR="91450" marL="91450"/>
                </a:tc>
                <a:tc>
                  <a:txBody>
                    <a:bodyPr/>
                    <a:lstStyle/>
                    <a:p>
                      <a:pPr indent="-171450" lvl="0" marL="171450" marR="0" rtl="0" algn="l">
                        <a:spcBef>
                          <a:spcPts val="0"/>
                        </a:spcBef>
                        <a:spcAft>
                          <a:spcPts val="0"/>
                        </a:spcAft>
                        <a:buSzPts val="1050"/>
                        <a:buFont typeface="Arial"/>
                        <a:buChar char="•"/>
                      </a:pPr>
                      <a:r>
                        <a:rPr lang="es-ES" sz="1050" u="none" cap="none" strike="noStrike"/>
                        <a:t>Hacer estructuras más ligeras.</a:t>
                      </a:r>
                      <a:endParaRPr/>
                    </a:p>
                    <a:p>
                      <a:pPr indent="-171450" lvl="0" marL="171450" marR="0" rtl="0" algn="l">
                        <a:spcBef>
                          <a:spcPts val="0"/>
                        </a:spcBef>
                        <a:spcAft>
                          <a:spcPts val="0"/>
                        </a:spcAft>
                        <a:buSzPts val="1050"/>
                        <a:buFont typeface="Arial"/>
                        <a:buChar char="•"/>
                      </a:pPr>
                      <a:r>
                        <a:rPr lang="es-ES" sz="1050" u="none" cap="none" strike="noStrike"/>
                        <a:t>Utilizar materiales reciclados.</a:t>
                      </a:r>
                      <a:endParaRPr b="0" sz="1050" u="none" cap="none" strike="noStrike">
                        <a:solidFill>
                          <a:srgbClr val="7F7F7F"/>
                        </a:solidFill>
                        <a:latin typeface="Verdana"/>
                        <a:ea typeface="Verdana"/>
                        <a:cs typeface="Verdana"/>
                        <a:sym typeface="Verdana"/>
                      </a:endParaRPr>
                    </a:p>
                  </a:txBody>
                  <a:tcPr marT="45725" marB="45725" marR="91450" marL="91450"/>
                </a:tc>
              </a:tr>
              <a:tr h="274325">
                <a:tc vMerge="1"/>
                <a:tc>
                  <a:txBody>
                    <a:bodyPr/>
                    <a:lstStyle/>
                    <a:p>
                      <a:pPr indent="-171450" lvl="0" marL="171450" marR="0" rtl="0" algn="l">
                        <a:lnSpc>
                          <a:spcPct val="100000"/>
                        </a:lnSpc>
                        <a:spcBef>
                          <a:spcPts val="0"/>
                        </a:spcBef>
                        <a:spcAft>
                          <a:spcPts val="0"/>
                        </a:spcAft>
                        <a:buSzPts val="1050"/>
                        <a:buFont typeface="Arial"/>
                        <a:buChar char="•"/>
                      </a:pPr>
                      <a:r>
                        <a:rPr lang="es-ES" sz="1050" u="none" cap="none" strike="noStrike"/>
                        <a:t>Diseñar procesos de fabricación que utilicen menos energía y materiales.</a:t>
                      </a:r>
                      <a:endParaRPr b="0" sz="1050" u="none" cap="none" strike="noStrike">
                        <a:solidFill>
                          <a:srgbClr val="7F7F7F"/>
                        </a:solidFill>
                        <a:latin typeface="Verdana"/>
                        <a:ea typeface="Verdana"/>
                        <a:cs typeface="Verdana"/>
                        <a:sym typeface="Verdana"/>
                      </a:endParaRPr>
                    </a:p>
                  </a:txBody>
                  <a:tcPr marT="45725" marB="45725" marR="91450" marL="91450"/>
                </a:tc>
                <a:tc>
                  <a:txBody>
                    <a:bodyPr/>
                    <a:lstStyle/>
                    <a:p>
                      <a:pPr indent="-171450" lvl="0" marL="171450" marR="0" rtl="0" algn="l">
                        <a:spcBef>
                          <a:spcPts val="0"/>
                        </a:spcBef>
                        <a:spcAft>
                          <a:spcPts val="0"/>
                        </a:spcAft>
                        <a:buSzPts val="1050"/>
                        <a:buFont typeface="Arial"/>
                        <a:buChar char="•"/>
                      </a:pPr>
                      <a:r>
                        <a:rPr lang="es-ES" sz="1050" u="none" cap="none" strike="noStrike"/>
                        <a:t>Recuperar y reutilizar materiales.</a:t>
                      </a:r>
                      <a:endParaRPr/>
                    </a:p>
                    <a:p>
                      <a:pPr indent="-171450" lvl="0" marL="171450" marR="0" rtl="0" algn="l">
                        <a:spcBef>
                          <a:spcPts val="0"/>
                        </a:spcBef>
                        <a:spcAft>
                          <a:spcPts val="0"/>
                        </a:spcAft>
                        <a:buSzPts val="1050"/>
                        <a:buFont typeface="Arial"/>
                        <a:buChar char="•"/>
                      </a:pPr>
                      <a:r>
                        <a:rPr lang="es-ES" sz="1050" u="none" cap="none" strike="noStrike"/>
                        <a:t>No imprimir documentos.</a:t>
                      </a:r>
                      <a:endParaRPr b="0" sz="1050" u="none" cap="none" strike="noStrike">
                        <a:solidFill>
                          <a:srgbClr val="7F7F7F"/>
                        </a:solidFill>
                        <a:latin typeface="Verdana"/>
                        <a:ea typeface="Verdana"/>
                        <a:cs typeface="Verdana"/>
                        <a:sym typeface="Verdana"/>
                      </a:endParaRPr>
                    </a:p>
                  </a:txBody>
                  <a:tcPr marT="45725" marB="45725" marR="91450" marL="91450"/>
                </a:tc>
              </a:tr>
            </a:tbl>
          </a:graphicData>
        </a:graphic>
      </p:graphicFrame>
      <p:sp>
        <p:nvSpPr>
          <p:cNvPr id="257" name="Google Shape;257;p8"/>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9"/>
          <p:cNvSpPr/>
          <p:nvPr/>
        </p:nvSpPr>
        <p:spPr>
          <a:xfrm>
            <a:off x="11711" y="4898003"/>
            <a:ext cx="9132570" cy="245745"/>
          </a:xfrm>
          <a:custGeom>
            <a:rect b="b" l="l" r="r" t="t"/>
            <a:pathLst>
              <a:path extrusionOk="0" h="245745" w="9132570">
                <a:moveTo>
                  <a:pt x="0" y="0"/>
                </a:moveTo>
                <a:lnTo>
                  <a:pt x="9132288" y="0"/>
                </a:lnTo>
                <a:lnTo>
                  <a:pt x="9132288" y="245496"/>
                </a:lnTo>
                <a:lnTo>
                  <a:pt x="0" y="245496"/>
                </a:lnTo>
                <a:lnTo>
                  <a:pt x="0" y="0"/>
                </a:lnTo>
                <a:close/>
              </a:path>
            </a:pathLst>
          </a:custGeom>
          <a:solidFill>
            <a:srgbClr val="BFBFB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263" name="Google Shape;263;p9"/>
          <p:cNvGrpSpPr/>
          <p:nvPr/>
        </p:nvGrpSpPr>
        <p:grpSpPr>
          <a:xfrm>
            <a:off x="203278" y="166932"/>
            <a:ext cx="534035" cy="547370"/>
            <a:chOff x="203278" y="166932"/>
            <a:chExt cx="534035" cy="547370"/>
          </a:xfrm>
        </p:grpSpPr>
        <p:sp>
          <p:nvSpPr>
            <p:cNvPr id="264" name="Google Shape;264;p9"/>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5" name="Google Shape;265;p9"/>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266" name="Google Shape;266;p9"/>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7" name="Google Shape;267;p9"/>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268" name="Google Shape;268;p9"/>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sp>
        <p:nvSpPr>
          <p:cNvPr id="269" name="Google Shape;269;p9"/>
          <p:cNvSpPr txBox="1"/>
          <p:nvPr>
            <p:ph type="title"/>
          </p:nvPr>
        </p:nvSpPr>
        <p:spPr>
          <a:xfrm>
            <a:off x="1428272" y="259588"/>
            <a:ext cx="5658328" cy="259045"/>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lang="es-ES">
                <a:solidFill>
                  <a:srgbClr val="00AEBA"/>
                </a:solidFill>
              </a:rPr>
              <a:t>3. Acciones y alianzas para la sostenibilidad</a:t>
            </a:r>
            <a:endParaRPr>
              <a:solidFill>
                <a:srgbClr val="00AEBA"/>
              </a:solidFill>
            </a:endParaRPr>
          </a:p>
        </p:txBody>
      </p:sp>
      <p:sp>
        <p:nvSpPr>
          <p:cNvPr id="270" name="Google Shape;270;p9"/>
          <p:cNvSpPr txBox="1"/>
          <p:nvPr/>
        </p:nvSpPr>
        <p:spPr>
          <a:xfrm>
            <a:off x="1210519" y="922581"/>
            <a:ext cx="5114081" cy="1165704"/>
          </a:xfrm>
          <a:prstGeom prst="rect">
            <a:avLst/>
          </a:prstGeom>
          <a:noFill/>
          <a:ln>
            <a:noFill/>
          </a:ln>
        </p:spPr>
        <p:txBody>
          <a:bodyPr anchorCtr="0" anchor="t" bIns="0" lIns="0" spcFirstLastPara="1" rIns="0" wrap="square" tIns="21575">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Para encaminar a la humanidad al desarrollo sostenible se hace necesario crear alianzas y acuerdos entre todos los sectores de la sociedad y entre todos los países, por dos razones:</a:t>
            </a:r>
            <a:endParaRPr/>
          </a:p>
          <a:p>
            <a:pPr indent="-171450" lvl="0" marL="171450" rtl="0" algn="just">
              <a:spcBef>
                <a:spcPts val="50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Los desafíos a que nos enfrentamos son de escala planetaria.</a:t>
            </a:r>
            <a:endParaRPr/>
          </a:p>
          <a:p>
            <a:pPr indent="-171450" lvl="0" marL="171450" rtl="0" algn="just">
              <a:spcBef>
                <a:spcPts val="50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El conjunto de la humanidad se beneficia de las medidas para mejorar la sostenibilidad. </a:t>
            </a:r>
            <a:endParaRPr/>
          </a:p>
        </p:txBody>
      </p:sp>
      <p:pic>
        <p:nvPicPr>
          <p:cNvPr id="271" name="Google Shape;271;p9"/>
          <p:cNvPicPr preferRelativeResize="0"/>
          <p:nvPr/>
        </p:nvPicPr>
        <p:blipFill rotWithShape="1">
          <a:blip r:embed="rId6">
            <a:alphaModFix/>
          </a:blip>
          <a:srcRect b="0" l="0" r="0" t="0"/>
          <a:stretch/>
        </p:blipFill>
        <p:spPr>
          <a:xfrm>
            <a:off x="838200" y="135821"/>
            <a:ext cx="651776" cy="608324"/>
          </a:xfrm>
          <a:prstGeom prst="rect">
            <a:avLst/>
          </a:prstGeom>
          <a:noFill/>
          <a:ln>
            <a:noFill/>
          </a:ln>
        </p:spPr>
      </p:pic>
      <p:sp>
        <p:nvSpPr>
          <p:cNvPr id="272" name="Google Shape;272;p9"/>
          <p:cNvSpPr txBox="1"/>
          <p:nvPr/>
        </p:nvSpPr>
        <p:spPr>
          <a:xfrm>
            <a:off x="1210519" y="682166"/>
            <a:ext cx="6191728" cy="182101"/>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i="0" lang="es-ES" sz="1100">
                <a:solidFill>
                  <a:srgbClr val="00AEBA"/>
                </a:solidFill>
                <a:latin typeface="Verdana"/>
                <a:ea typeface="Verdana"/>
                <a:cs typeface="Verdana"/>
                <a:sym typeface="Verdana"/>
              </a:rPr>
              <a:t>3.2. Alianzas y acciones transversales para la sostenibilidad</a:t>
            </a:r>
            <a:endParaRPr/>
          </a:p>
        </p:txBody>
      </p:sp>
      <p:sp>
        <p:nvSpPr>
          <p:cNvPr id="273" name="Google Shape;273;p9"/>
          <p:cNvSpPr/>
          <p:nvPr/>
        </p:nvSpPr>
        <p:spPr>
          <a:xfrm>
            <a:off x="1210519" y="2164306"/>
            <a:ext cx="5114081" cy="725941"/>
          </a:xfrm>
          <a:prstGeom prst="rect">
            <a:avLst/>
          </a:prstGeom>
          <a:solidFill>
            <a:srgbClr val="EAF1DD"/>
          </a:solidFill>
          <a:ln cap="flat" cmpd="sng" w="19050">
            <a:solidFill>
              <a:srgbClr val="00964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108000" lIns="91425" spcFirstLastPara="1" rIns="91425" wrap="square" tIns="108000">
            <a:spAutoFit/>
          </a:bodyPr>
          <a:lstStyle/>
          <a:p>
            <a:pPr indent="0" lvl="0" marL="540000" rtl="0" algn="just">
              <a:spcBef>
                <a:spcPts val="0"/>
              </a:spcBef>
              <a:spcAft>
                <a:spcPts val="0"/>
              </a:spcAft>
              <a:buNone/>
            </a:pPr>
            <a:r>
              <a:rPr lang="es-ES" sz="1100">
                <a:solidFill>
                  <a:schemeClr val="dk1"/>
                </a:solidFill>
                <a:latin typeface="Verdana"/>
                <a:ea typeface="Verdana"/>
                <a:cs typeface="Verdana"/>
                <a:sym typeface="Verdana"/>
              </a:rPr>
              <a:t>Los </a:t>
            </a:r>
            <a:r>
              <a:rPr b="1" lang="es-ES" sz="1100">
                <a:solidFill>
                  <a:schemeClr val="dk1"/>
                </a:solidFill>
                <a:latin typeface="Verdana"/>
                <a:ea typeface="Verdana"/>
                <a:cs typeface="Verdana"/>
                <a:sym typeface="Verdana"/>
              </a:rPr>
              <a:t>Objetivos del Desarrollo Sostenible (ODS) </a:t>
            </a:r>
            <a:br>
              <a:rPr b="1" lang="es-ES" sz="1100">
                <a:solidFill>
                  <a:schemeClr val="dk1"/>
                </a:solidFill>
                <a:latin typeface="Verdana"/>
                <a:ea typeface="Verdana"/>
                <a:cs typeface="Verdana"/>
                <a:sym typeface="Verdana"/>
              </a:rPr>
            </a:br>
            <a:r>
              <a:rPr lang="es-ES" sz="1100">
                <a:solidFill>
                  <a:schemeClr val="dk1"/>
                </a:solidFill>
                <a:latin typeface="Verdana"/>
                <a:ea typeface="Verdana"/>
                <a:cs typeface="Verdana"/>
                <a:sym typeface="Verdana"/>
              </a:rPr>
              <a:t>son 17 metas que deben lograrse para 2030. </a:t>
            </a:r>
            <a:br>
              <a:rPr lang="es-ES" sz="1100">
                <a:solidFill>
                  <a:schemeClr val="dk1"/>
                </a:solidFill>
                <a:latin typeface="Verdana"/>
                <a:ea typeface="Verdana"/>
                <a:cs typeface="Verdana"/>
                <a:sym typeface="Verdana"/>
              </a:rPr>
            </a:br>
            <a:r>
              <a:rPr lang="es-ES" sz="1100">
                <a:solidFill>
                  <a:schemeClr val="dk1"/>
                </a:solidFill>
                <a:latin typeface="Verdana"/>
                <a:ea typeface="Verdana"/>
                <a:cs typeface="Verdana"/>
                <a:sym typeface="Verdana"/>
              </a:rPr>
              <a:t>Persiguen un futuro más sostenible para la humanidad. </a:t>
            </a:r>
            <a:endParaRPr/>
          </a:p>
        </p:txBody>
      </p:sp>
      <p:sp>
        <p:nvSpPr>
          <p:cNvPr id="274" name="Google Shape;274;p9"/>
          <p:cNvSpPr/>
          <p:nvPr/>
        </p:nvSpPr>
        <p:spPr>
          <a:xfrm>
            <a:off x="6849291" y="1133500"/>
            <a:ext cx="2221577" cy="600164"/>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ES" sz="1100">
                <a:solidFill>
                  <a:srgbClr val="7F7F7F"/>
                </a:solidFill>
                <a:latin typeface="Verdana"/>
                <a:ea typeface="Verdana"/>
                <a:cs typeface="Verdana"/>
                <a:sym typeface="Verdana"/>
              </a:rPr>
              <a:t>Muchas administraciones públicas crean contenidos relativos a los ODS:</a:t>
            </a:r>
            <a:endParaRPr/>
          </a:p>
        </p:txBody>
      </p:sp>
      <p:sp>
        <p:nvSpPr>
          <p:cNvPr id="275" name="Google Shape;275;p9"/>
          <p:cNvSpPr/>
          <p:nvPr/>
        </p:nvSpPr>
        <p:spPr>
          <a:xfrm>
            <a:off x="6764819" y="993160"/>
            <a:ext cx="2202797" cy="1775234"/>
          </a:xfrm>
          <a:custGeom>
            <a:rect b="b" l="l" r="r" t="t"/>
            <a:pathLst>
              <a:path extrusionOk="0" h="1326514" w="1977390">
                <a:moveTo>
                  <a:pt x="0" y="221004"/>
                </a:moveTo>
                <a:lnTo>
                  <a:pt x="4490" y="176464"/>
                </a:lnTo>
                <a:lnTo>
                  <a:pt x="17367" y="134979"/>
                </a:lnTo>
                <a:lnTo>
                  <a:pt x="37744" y="97438"/>
                </a:lnTo>
                <a:lnTo>
                  <a:pt x="64730" y="64730"/>
                </a:lnTo>
                <a:lnTo>
                  <a:pt x="97438" y="37744"/>
                </a:lnTo>
                <a:lnTo>
                  <a:pt x="134979" y="17367"/>
                </a:lnTo>
                <a:lnTo>
                  <a:pt x="176464" y="4490"/>
                </a:lnTo>
                <a:lnTo>
                  <a:pt x="221004" y="0"/>
                </a:lnTo>
                <a:lnTo>
                  <a:pt x="1755990" y="0"/>
                </a:lnTo>
                <a:lnTo>
                  <a:pt x="1800530" y="4490"/>
                </a:lnTo>
                <a:lnTo>
                  <a:pt x="1842014" y="17367"/>
                </a:lnTo>
                <a:lnTo>
                  <a:pt x="1879555" y="37744"/>
                </a:lnTo>
                <a:lnTo>
                  <a:pt x="1912263" y="64730"/>
                </a:lnTo>
                <a:lnTo>
                  <a:pt x="1939249" y="97438"/>
                </a:lnTo>
                <a:lnTo>
                  <a:pt x="1959626" y="134979"/>
                </a:lnTo>
                <a:lnTo>
                  <a:pt x="1972504" y="176464"/>
                </a:lnTo>
                <a:lnTo>
                  <a:pt x="1976994" y="221004"/>
                </a:lnTo>
                <a:lnTo>
                  <a:pt x="1976994" y="1104994"/>
                </a:lnTo>
                <a:lnTo>
                  <a:pt x="1972504" y="1149534"/>
                </a:lnTo>
                <a:lnTo>
                  <a:pt x="1959626" y="1191019"/>
                </a:lnTo>
                <a:lnTo>
                  <a:pt x="1939249" y="1228560"/>
                </a:lnTo>
                <a:lnTo>
                  <a:pt x="1912263" y="1261268"/>
                </a:lnTo>
                <a:lnTo>
                  <a:pt x="1879555" y="1288254"/>
                </a:lnTo>
                <a:lnTo>
                  <a:pt x="1842014" y="1308631"/>
                </a:lnTo>
                <a:lnTo>
                  <a:pt x="1800530" y="1321508"/>
                </a:lnTo>
                <a:lnTo>
                  <a:pt x="1755990" y="1325999"/>
                </a:lnTo>
                <a:lnTo>
                  <a:pt x="221004" y="1325999"/>
                </a:lnTo>
                <a:lnTo>
                  <a:pt x="176464" y="1321508"/>
                </a:lnTo>
                <a:lnTo>
                  <a:pt x="134979" y="1308631"/>
                </a:lnTo>
                <a:lnTo>
                  <a:pt x="97438" y="1288254"/>
                </a:lnTo>
                <a:lnTo>
                  <a:pt x="64730" y="1261268"/>
                </a:lnTo>
                <a:lnTo>
                  <a:pt x="37744" y="1228560"/>
                </a:lnTo>
                <a:lnTo>
                  <a:pt x="17367" y="1191019"/>
                </a:lnTo>
                <a:lnTo>
                  <a:pt x="4490" y="1149534"/>
                </a:lnTo>
                <a:lnTo>
                  <a:pt x="0" y="1104994"/>
                </a:lnTo>
                <a:lnTo>
                  <a:pt x="0" y="221004"/>
                </a:lnTo>
                <a:close/>
              </a:path>
            </a:pathLst>
          </a:custGeom>
          <a:noFill/>
          <a:ln cap="flat" cmpd="sng" w="19050">
            <a:solidFill>
              <a:srgbClr val="A0D27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76" name="Google Shape;276;p9"/>
          <p:cNvSpPr txBox="1"/>
          <p:nvPr/>
        </p:nvSpPr>
        <p:spPr>
          <a:xfrm>
            <a:off x="6856900" y="674519"/>
            <a:ext cx="2110716" cy="326349"/>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A0D273"/>
              </a:buClr>
              <a:buSzPts val="1600"/>
              <a:buFont typeface="Arial"/>
              <a:buNone/>
            </a:pPr>
            <a:r>
              <a:rPr lang="es-ES" sz="1600">
                <a:solidFill>
                  <a:srgbClr val="A0D273"/>
                </a:solidFill>
                <a:latin typeface="Verdana"/>
                <a:ea typeface="Verdana"/>
                <a:cs typeface="Verdana"/>
                <a:sym typeface="Verdana"/>
              </a:rPr>
              <a:t>Vídeo</a:t>
            </a:r>
            <a:endParaRPr/>
          </a:p>
          <a:p>
            <a:pPr indent="0" lvl="0" marL="0" rtl="0" algn="l">
              <a:spcBef>
                <a:spcPts val="320"/>
              </a:spcBef>
              <a:spcAft>
                <a:spcPts val="0"/>
              </a:spcAft>
              <a:buClr>
                <a:srgbClr val="888888"/>
              </a:buClr>
              <a:buSzPts val="1600"/>
              <a:buFont typeface="Arial"/>
              <a:buNone/>
            </a:pPr>
            <a:r>
              <a:t/>
            </a:r>
            <a:endParaRPr sz="1600">
              <a:solidFill>
                <a:srgbClr val="7F7F7F"/>
              </a:solidFill>
              <a:latin typeface="Verdana"/>
              <a:ea typeface="Verdana"/>
              <a:cs typeface="Verdana"/>
              <a:sym typeface="Verdana"/>
            </a:endParaRPr>
          </a:p>
          <a:p>
            <a:pPr indent="0" lvl="0" marL="0" rtl="0" algn="l">
              <a:spcBef>
                <a:spcPts val="320"/>
              </a:spcBef>
              <a:spcAft>
                <a:spcPts val="0"/>
              </a:spcAft>
              <a:buClr>
                <a:srgbClr val="888888"/>
              </a:buClr>
              <a:buSzPts val="1600"/>
              <a:buFont typeface="Arial"/>
              <a:buNone/>
            </a:pPr>
            <a:r>
              <a:t/>
            </a:r>
            <a:endParaRPr sz="1600">
              <a:solidFill>
                <a:srgbClr val="7F7F7F"/>
              </a:solidFill>
              <a:latin typeface="Verdana"/>
              <a:ea typeface="Verdana"/>
              <a:cs typeface="Verdana"/>
              <a:sym typeface="Verdana"/>
            </a:endParaRPr>
          </a:p>
        </p:txBody>
      </p:sp>
      <p:pic>
        <p:nvPicPr>
          <p:cNvPr descr="C:\Users\pcsss\Desktop\VIDEO.jpg" id="277" name="Google Shape;277;p9"/>
          <p:cNvPicPr preferRelativeResize="0"/>
          <p:nvPr/>
        </p:nvPicPr>
        <p:blipFill rotWithShape="1">
          <a:blip r:embed="rId7">
            <a:alphaModFix/>
          </a:blip>
          <a:srcRect b="0" l="0" r="0" t="0"/>
          <a:stretch/>
        </p:blipFill>
        <p:spPr>
          <a:xfrm>
            <a:off x="6439903" y="640550"/>
            <a:ext cx="367256" cy="399523"/>
          </a:xfrm>
          <a:prstGeom prst="rect">
            <a:avLst/>
          </a:prstGeom>
          <a:noFill/>
          <a:ln>
            <a:noFill/>
          </a:ln>
        </p:spPr>
      </p:pic>
      <p:pic>
        <p:nvPicPr>
          <p:cNvPr id="278" name="Google Shape;278;p9"/>
          <p:cNvPicPr preferRelativeResize="0"/>
          <p:nvPr/>
        </p:nvPicPr>
        <p:blipFill rotWithShape="1">
          <a:blip r:embed="rId8">
            <a:alphaModFix/>
          </a:blip>
          <a:srcRect b="11355" l="5513" r="10499" t="11787"/>
          <a:stretch/>
        </p:blipFill>
        <p:spPr>
          <a:xfrm>
            <a:off x="7491596" y="1753287"/>
            <a:ext cx="749241" cy="680135"/>
          </a:xfrm>
          <a:prstGeom prst="rect">
            <a:avLst/>
          </a:prstGeom>
          <a:noFill/>
          <a:ln>
            <a:noFill/>
          </a:ln>
        </p:spPr>
      </p:pic>
      <p:sp>
        <p:nvSpPr>
          <p:cNvPr id="279" name="Google Shape;279;p9"/>
          <p:cNvSpPr/>
          <p:nvPr/>
        </p:nvSpPr>
        <p:spPr>
          <a:xfrm>
            <a:off x="7168304" y="2454964"/>
            <a:ext cx="1487908" cy="26161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s-ES" sz="1100">
                <a:solidFill>
                  <a:srgbClr val="7F7F7F"/>
                </a:solidFill>
                <a:latin typeface="Verdana"/>
                <a:ea typeface="Verdana"/>
                <a:cs typeface="Verdana"/>
                <a:sym typeface="Verdana"/>
              </a:rPr>
              <a:t>bit.ly/onu_2030</a:t>
            </a:r>
            <a:endParaRPr sz="1100">
              <a:solidFill>
                <a:srgbClr val="7F7F7F"/>
              </a:solidFill>
              <a:latin typeface="Verdana"/>
              <a:ea typeface="Verdana"/>
              <a:cs typeface="Verdana"/>
              <a:sym typeface="Verdana"/>
            </a:endParaRPr>
          </a:p>
        </p:txBody>
      </p:sp>
      <p:pic>
        <p:nvPicPr>
          <p:cNvPr id="280" name="Google Shape;280;p9"/>
          <p:cNvPicPr preferRelativeResize="0"/>
          <p:nvPr/>
        </p:nvPicPr>
        <p:blipFill rotWithShape="1">
          <a:blip r:embed="rId9">
            <a:alphaModFix/>
          </a:blip>
          <a:srcRect b="0" l="0" r="0" t="0"/>
          <a:stretch/>
        </p:blipFill>
        <p:spPr>
          <a:xfrm>
            <a:off x="5055727" y="3512137"/>
            <a:ext cx="1234976" cy="1234976"/>
          </a:xfrm>
          <a:prstGeom prst="rect">
            <a:avLst/>
          </a:prstGeom>
          <a:noFill/>
          <a:ln>
            <a:noFill/>
          </a:ln>
        </p:spPr>
      </p:pic>
      <p:sp>
        <p:nvSpPr>
          <p:cNvPr id="281" name="Google Shape;281;p9"/>
          <p:cNvSpPr/>
          <p:nvPr/>
        </p:nvSpPr>
        <p:spPr>
          <a:xfrm>
            <a:off x="6892768" y="3744633"/>
            <a:ext cx="2074848" cy="919558"/>
          </a:xfrm>
          <a:custGeom>
            <a:rect b="b" l="l" r="r" t="t"/>
            <a:pathLst>
              <a:path extrusionOk="0" h="453389" w="1884045">
                <a:moveTo>
                  <a:pt x="0" y="75545"/>
                </a:moveTo>
                <a:lnTo>
                  <a:pt x="5936" y="46139"/>
                </a:lnTo>
                <a:lnTo>
                  <a:pt x="22126" y="22126"/>
                </a:lnTo>
                <a:lnTo>
                  <a:pt x="46139" y="5936"/>
                </a:lnTo>
                <a:lnTo>
                  <a:pt x="75545" y="0"/>
                </a:lnTo>
                <a:lnTo>
                  <a:pt x="1807938" y="0"/>
                </a:lnTo>
                <a:lnTo>
                  <a:pt x="1837343" y="5936"/>
                </a:lnTo>
                <a:lnTo>
                  <a:pt x="1861356" y="22126"/>
                </a:lnTo>
                <a:lnTo>
                  <a:pt x="1877546" y="46139"/>
                </a:lnTo>
                <a:lnTo>
                  <a:pt x="1883483" y="75545"/>
                </a:lnTo>
                <a:lnTo>
                  <a:pt x="1883483" y="377713"/>
                </a:lnTo>
                <a:lnTo>
                  <a:pt x="1877546" y="407119"/>
                </a:lnTo>
                <a:lnTo>
                  <a:pt x="1861356" y="431132"/>
                </a:lnTo>
                <a:lnTo>
                  <a:pt x="1837343" y="447322"/>
                </a:lnTo>
                <a:lnTo>
                  <a:pt x="1807938" y="453259"/>
                </a:lnTo>
                <a:lnTo>
                  <a:pt x="75545" y="453259"/>
                </a:lnTo>
                <a:lnTo>
                  <a:pt x="46139" y="447322"/>
                </a:lnTo>
                <a:lnTo>
                  <a:pt x="22126" y="431132"/>
                </a:lnTo>
                <a:lnTo>
                  <a:pt x="5936" y="407119"/>
                </a:lnTo>
                <a:lnTo>
                  <a:pt x="0" y="377713"/>
                </a:lnTo>
                <a:lnTo>
                  <a:pt x="0" y="75545"/>
                </a:lnTo>
                <a:close/>
              </a:path>
            </a:pathLst>
          </a:custGeom>
          <a:noFill/>
          <a:ln cap="flat" cmpd="sng" w="19050">
            <a:solidFill>
              <a:srgbClr val="A0D27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82" name="Google Shape;282;p9"/>
          <p:cNvSpPr txBox="1"/>
          <p:nvPr/>
        </p:nvSpPr>
        <p:spPr>
          <a:xfrm>
            <a:off x="6837338" y="3315143"/>
            <a:ext cx="1724511"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ES" sz="1800">
                <a:solidFill>
                  <a:srgbClr val="A0D273"/>
                </a:solidFill>
                <a:latin typeface="Verdana"/>
                <a:ea typeface="Verdana"/>
                <a:cs typeface="Verdana"/>
                <a:sym typeface="Verdana"/>
              </a:rPr>
              <a:t>Caso práctico</a:t>
            </a:r>
            <a:endParaRPr sz="1800">
              <a:solidFill>
                <a:srgbClr val="A0D273"/>
              </a:solidFill>
            </a:endParaRPr>
          </a:p>
        </p:txBody>
      </p:sp>
      <p:sp>
        <p:nvSpPr>
          <p:cNvPr id="283" name="Google Shape;283;p9"/>
          <p:cNvSpPr txBox="1"/>
          <p:nvPr/>
        </p:nvSpPr>
        <p:spPr>
          <a:xfrm>
            <a:off x="6972654" y="3838939"/>
            <a:ext cx="2059084" cy="738664"/>
          </a:xfrm>
          <a:prstGeom prst="rect">
            <a:avLst/>
          </a:prstGeom>
          <a:noFill/>
          <a:ln>
            <a:noFill/>
          </a:ln>
        </p:spPr>
        <p:txBody>
          <a:bodyPr anchorCtr="0" anchor="t" bIns="0" lIns="0" spcFirstLastPara="1" rIns="0" wrap="square" tIns="20300">
            <a:spAutoFit/>
          </a:bodyPr>
          <a:lstStyle/>
          <a:p>
            <a:pPr indent="0" lvl="0" marL="12700" marR="5080" rtl="0" algn="l">
              <a:lnSpc>
                <a:spcPct val="118181"/>
              </a:lnSpc>
              <a:spcBef>
                <a:spcPts val="0"/>
              </a:spcBef>
              <a:spcAft>
                <a:spcPts val="0"/>
              </a:spcAft>
              <a:buNone/>
            </a:pPr>
            <a:r>
              <a:rPr lang="es-ES" sz="1100">
                <a:solidFill>
                  <a:srgbClr val="7F7F7F"/>
                </a:solidFill>
                <a:latin typeface="Verdana"/>
                <a:ea typeface="Verdana"/>
                <a:cs typeface="Verdana"/>
                <a:sym typeface="Verdana"/>
              </a:rPr>
              <a:t>ACCIONES DE SOSTENIBILIDAD EN</a:t>
            </a:r>
            <a:endParaRPr/>
          </a:p>
          <a:p>
            <a:pPr indent="0" lvl="0" marL="12700" marR="5080" rtl="0" algn="l">
              <a:lnSpc>
                <a:spcPct val="118181"/>
              </a:lnSpc>
              <a:spcBef>
                <a:spcPts val="160"/>
              </a:spcBef>
              <a:spcAft>
                <a:spcPts val="0"/>
              </a:spcAft>
              <a:buNone/>
            </a:pPr>
            <a:r>
              <a:rPr lang="es-ES" sz="1100">
                <a:solidFill>
                  <a:srgbClr val="7F7F7F"/>
                </a:solidFill>
                <a:latin typeface="Verdana"/>
                <a:ea typeface="Verdana"/>
                <a:cs typeface="Verdana"/>
                <a:sym typeface="Verdana"/>
              </a:rPr>
              <a:t>UN CENTRO COMERCIAL.</a:t>
            </a:r>
            <a:endParaRPr/>
          </a:p>
          <a:p>
            <a:pPr indent="0" lvl="0" marL="12700" marR="5080" rtl="0" algn="l">
              <a:lnSpc>
                <a:spcPct val="118181"/>
              </a:lnSpc>
              <a:spcBef>
                <a:spcPts val="160"/>
              </a:spcBef>
              <a:spcAft>
                <a:spcPts val="0"/>
              </a:spcAft>
              <a:buNone/>
            </a:pPr>
            <a:r>
              <a:rPr lang="es-ES" sz="1100">
                <a:solidFill>
                  <a:srgbClr val="7F7F7F"/>
                </a:solidFill>
                <a:latin typeface="Verdana"/>
                <a:ea typeface="Verdana"/>
                <a:cs typeface="Verdana"/>
                <a:sym typeface="Verdana"/>
              </a:rPr>
              <a:t>PÁGINA 13.</a:t>
            </a:r>
            <a:endParaRPr sz="1100">
              <a:latin typeface="Verdana"/>
              <a:ea typeface="Verdana"/>
              <a:cs typeface="Verdana"/>
              <a:sym typeface="Verdana"/>
            </a:endParaRPr>
          </a:p>
        </p:txBody>
      </p:sp>
      <p:sp>
        <p:nvSpPr>
          <p:cNvPr id="284" name="Google Shape;284;p9"/>
          <p:cNvSpPr/>
          <p:nvPr/>
        </p:nvSpPr>
        <p:spPr>
          <a:xfrm>
            <a:off x="1140256" y="2986693"/>
            <a:ext cx="3791015" cy="1744067"/>
          </a:xfrm>
          <a:prstGeom prst="rect">
            <a:avLst/>
          </a:prstGeom>
          <a:noFill/>
          <a:ln>
            <a:noFill/>
          </a:ln>
        </p:spPr>
        <p:txBody>
          <a:bodyPr anchorCtr="0" anchor="t" bIns="45700" lIns="91425" spcFirstLastPara="1" rIns="91425" wrap="square" tIns="45700">
            <a:spAutoFit/>
          </a:bodyPr>
          <a:lstStyle/>
          <a:p>
            <a:pPr indent="-171450" lvl="0" marL="171450" rtl="0" algn="just">
              <a:spcBef>
                <a:spcPts val="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Los 17 objetivos y sus 169 metas se integran en una estrategia conjunta llamada </a:t>
            </a:r>
            <a:r>
              <a:rPr b="1" lang="es-ES" sz="1100">
                <a:solidFill>
                  <a:srgbClr val="7F7F7F"/>
                </a:solidFill>
                <a:latin typeface="Verdana"/>
                <a:ea typeface="Verdana"/>
                <a:cs typeface="Verdana"/>
                <a:sym typeface="Verdana"/>
              </a:rPr>
              <a:t>Agenda 2030. </a:t>
            </a:r>
            <a:endParaRPr sz="1100">
              <a:solidFill>
                <a:srgbClr val="7F7F7F"/>
              </a:solidFill>
              <a:latin typeface="Verdana"/>
              <a:ea typeface="Verdana"/>
              <a:cs typeface="Verdana"/>
              <a:sym typeface="Verdana"/>
            </a:endParaRPr>
          </a:p>
          <a:p>
            <a:pPr indent="-171450" lvl="0" marL="171450" rtl="0" algn="just">
              <a:spcBef>
                <a:spcPts val="50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Los países de la Unión Europea han impulsado diversos acuerdos, como el </a:t>
            </a:r>
            <a:r>
              <a:rPr b="1" lang="es-ES" sz="1100">
                <a:solidFill>
                  <a:srgbClr val="7F7F7F"/>
                </a:solidFill>
                <a:latin typeface="Verdana"/>
                <a:ea typeface="Verdana"/>
                <a:cs typeface="Verdana"/>
                <a:sym typeface="Verdana"/>
              </a:rPr>
              <a:t>Pacto Verde Europeo.</a:t>
            </a:r>
            <a:endParaRPr sz="1100">
              <a:solidFill>
                <a:srgbClr val="7F7F7F"/>
              </a:solidFill>
              <a:latin typeface="Verdana"/>
              <a:ea typeface="Verdana"/>
              <a:cs typeface="Verdana"/>
              <a:sym typeface="Verdana"/>
            </a:endParaRPr>
          </a:p>
          <a:p>
            <a:pPr indent="-171450" lvl="0" marL="171450" rtl="0" algn="just">
              <a:spcBef>
                <a:spcPts val="500"/>
              </a:spcBef>
              <a:spcAft>
                <a:spcPts val="0"/>
              </a:spcAft>
              <a:buClr>
                <a:srgbClr val="7F7F7F"/>
              </a:buClr>
              <a:buSzPts val="1100"/>
              <a:buFont typeface="Arial"/>
              <a:buChar char="•"/>
            </a:pPr>
            <a:r>
              <a:rPr lang="es-ES" sz="1100">
                <a:solidFill>
                  <a:srgbClr val="7F7F7F"/>
                </a:solidFill>
                <a:latin typeface="Verdana"/>
                <a:ea typeface="Verdana"/>
                <a:cs typeface="Verdana"/>
                <a:sym typeface="Verdana"/>
              </a:rPr>
              <a:t>La Agenda 2030 y los ODS buscan lograr </a:t>
            </a:r>
            <a:r>
              <a:rPr b="1" lang="es-ES" sz="1100">
                <a:solidFill>
                  <a:srgbClr val="7F7F7F"/>
                </a:solidFill>
                <a:latin typeface="Verdana"/>
                <a:ea typeface="Verdana"/>
                <a:cs typeface="Verdana"/>
                <a:sym typeface="Verdana"/>
              </a:rPr>
              <a:t>otras metas</a:t>
            </a:r>
            <a:r>
              <a:rPr lang="es-ES" sz="1100">
                <a:solidFill>
                  <a:srgbClr val="7F7F7F"/>
                </a:solidFill>
                <a:latin typeface="Verdana"/>
                <a:ea typeface="Verdana"/>
                <a:cs typeface="Verdana"/>
                <a:sym typeface="Verdana"/>
              </a:rPr>
              <a:t>: eliminación de la pobreza, alimentación adecuada, educación, salud, consumo respon-sable y justicia social.</a:t>
            </a:r>
            <a:endParaRPr sz="1100">
              <a:solidFill>
                <a:srgbClr val="7F7F7F"/>
              </a:solidFill>
              <a:latin typeface="Verdana"/>
              <a:ea typeface="Verdana"/>
              <a:cs typeface="Verdana"/>
              <a:sym typeface="Verdana"/>
            </a:endParaRPr>
          </a:p>
        </p:txBody>
      </p:sp>
      <p:sp>
        <p:nvSpPr>
          <p:cNvPr id="285" name="Google Shape;285;p9"/>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grpSp>
        <p:nvGrpSpPr>
          <p:cNvPr id="286" name="Google Shape;286;p9"/>
          <p:cNvGrpSpPr/>
          <p:nvPr/>
        </p:nvGrpSpPr>
        <p:grpSpPr>
          <a:xfrm>
            <a:off x="6522382" y="3333505"/>
            <a:ext cx="314956" cy="325120"/>
            <a:chOff x="974348" y="3037844"/>
            <a:chExt cx="314956" cy="325120"/>
          </a:xfrm>
        </p:grpSpPr>
        <p:grpSp>
          <p:nvGrpSpPr>
            <p:cNvPr id="287" name="Google Shape;287;p9"/>
            <p:cNvGrpSpPr/>
            <p:nvPr/>
          </p:nvGrpSpPr>
          <p:grpSpPr>
            <a:xfrm>
              <a:off x="974348" y="3037844"/>
              <a:ext cx="314956" cy="325120"/>
              <a:chOff x="953952" y="3064430"/>
              <a:chExt cx="314956" cy="325120"/>
            </a:xfrm>
          </p:grpSpPr>
          <p:sp>
            <p:nvSpPr>
              <p:cNvPr id="288" name="Google Shape;288;p9"/>
              <p:cNvSpPr/>
              <p:nvPr/>
            </p:nvSpPr>
            <p:spPr>
              <a:xfrm>
                <a:off x="953952" y="3064430"/>
                <a:ext cx="282575" cy="325120"/>
              </a:xfrm>
              <a:custGeom>
                <a:rect b="b" l="l" r="r" t="t"/>
                <a:pathLst>
                  <a:path extrusionOk="0" h="325120" w="282575">
                    <a:moveTo>
                      <a:pt x="282549" y="277097"/>
                    </a:moveTo>
                    <a:lnTo>
                      <a:pt x="247256" y="303513"/>
                    </a:lnTo>
                    <a:lnTo>
                      <a:pt x="207501" y="319364"/>
                    </a:lnTo>
                    <a:lnTo>
                      <a:pt x="165515" y="324650"/>
                    </a:lnTo>
                    <a:lnTo>
                      <a:pt x="123529" y="319370"/>
                    </a:lnTo>
                    <a:lnTo>
                      <a:pt x="83774" y="303524"/>
                    </a:lnTo>
                    <a:lnTo>
                      <a:pt x="48481" y="277109"/>
                    </a:lnTo>
                    <a:lnTo>
                      <a:pt x="21545" y="242494"/>
                    </a:lnTo>
                    <a:lnTo>
                      <a:pt x="5385" y="203504"/>
                    </a:lnTo>
                    <a:lnTo>
                      <a:pt x="0" y="162326"/>
                    </a:lnTo>
                    <a:lnTo>
                      <a:pt x="5388" y="121148"/>
                    </a:lnTo>
                    <a:lnTo>
                      <a:pt x="21549" y="82157"/>
                    </a:lnTo>
                    <a:lnTo>
                      <a:pt x="48481" y="47542"/>
                    </a:lnTo>
                    <a:lnTo>
                      <a:pt x="83774" y="21131"/>
                    </a:lnTo>
                    <a:lnTo>
                      <a:pt x="123529" y="5283"/>
                    </a:lnTo>
                    <a:lnTo>
                      <a:pt x="165515" y="0"/>
                    </a:lnTo>
                    <a:lnTo>
                      <a:pt x="207501" y="5281"/>
                    </a:lnTo>
                    <a:lnTo>
                      <a:pt x="247256" y="21128"/>
                    </a:lnTo>
                    <a:lnTo>
                      <a:pt x="282549" y="47542"/>
                    </a:lnTo>
                  </a:path>
                </a:pathLst>
              </a:custGeom>
              <a:noFill/>
              <a:ln cap="flat" cmpd="sng" w="30725">
                <a:solidFill>
                  <a:srgbClr val="ADCE6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89" name="Google Shape;289;p9"/>
              <p:cNvPicPr preferRelativeResize="0"/>
              <p:nvPr/>
            </p:nvPicPr>
            <p:blipFill rotWithShape="1">
              <a:blip r:embed="rId10">
                <a:alphaModFix/>
              </a:blip>
              <a:srcRect b="0" l="0" r="0" t="0"/>
              <a:stretch/>
            </p:blipFill>
            <p:spPr>
              <a:xfrm>
                <a:off x="1199475" y="3079761"/>
                <a:ext cx="69433" cy="68757"/>
              </a:xfrm>
              <a:prstGeom prst="rect">
                <a:avLst/>
              </a:prstGeom>
              <a:noFill/>
              <a:ln>
                <a:noFill/>
              </a:ln>
            </p:spPr>
          </p:pic>
        </p:grpSp>
        <p:sp>
          <p:nvSpPr>
            <p:cNvPr id="290" name="Google Shape;290;p9"/>
            <p:cNvSpPr txBox="1"/>
            <p:nvPr/>
          </p:nvSpPr>
          <p:spPr>
            <a:xfrm>
              <a:off x="1083564" y="3103506"/>
              <a:ext cx="114300" cy="18210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1100">
                  <a:solidFill>
                    <a:srgbClr val="A0D273"/>
                  </a:solidFill>
                  <a:latin typeface="Verdana"/>
                  <a:ea typeface="Verdana"/>
                  <a:cs typeface="Verdana"/>
                  <a:sym typeface="Verdana"/>
                </a:rPr>
                <a:t>3</a:t>
              </a:r>
              <a:endParaRPr sz="1100">
                <a:solidFill>
                  <a:srgbClr val="A0D273"/>
                </a:solidFill>
                <a:latin typeface="Verdana"/>
                <a:ea typeface="Verdana"/>
                <a:cs typeface="Verdana"/>
                <a:sym typeface="Verdana"/>
              </a:endParaRPr>
            </a:p>
          </p:txBody>
        </p:sp>
      </p:grpSp>
      <p:cxnSp>
        <p:nvCxnSpPr>
          <p:cNvPr id="291" name="Google Shape;291;p9"/>
          <p:cNvCxnSpPr/>
          <p:nvPr/>
        </p:nvCxnSpPr>
        <p:spPr>
          <a:xfrm>
            <a:off x="1371600" y="2164306"/>
            <a:ext cx="0" cy="725941"/>
          </a:xfrm>
          <a:prstGeom prst="straightConnector1">
            <a:avLst/>
          </a:prstGeom>
          <a:noFill/>
          <a:ln cap="flat" cmpd="sng" w="19050">
            <a:solidFill>
              <a:srgbClr val="009641"/>
            </a:solidFill>
            <a:prstDash val="solid"/>
            <a:round/>
            <a:headEnd len="sm" w="sm" type="none"/>
            <a:tailEnd len="sm" w="sm" type="none"/>
          </a:ln>
        </p:spPr>
      </p:cxnSp>
      <p:cxnSp>
        <p:nvCxnSpPr>
          <p:cNvPr id="292" name="Google Shape;292;p9"/>
          <p:cNvCxnSpPr/>
          <p:nvPr/>
        </p:nvCxnSpPr>
        <p:spPr>
          <a:xfrm>
            <a:off x="1457011" y="2164306"/>
            <a:ext cx="0" cy="725941"/>
          </a:xfrm>
          <a:prstGeom prst="straightConnector1">
            <a:avLst/>
          </a:prstGeom>
          <a:noFill/>
          <a:ln cap="flat" cmpd="sng" w="19050">
            <a:solidFill>
              <a:srgbClr val="009641"/>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10"/>
          <p:cNvPicPr preferRelativeResize="0"/>
          <p:nvPr/>
        </p:nvPicPr>
        <p:blipFill rotWithShape="1">
          <a:blip r:embed="rId3">
            <a:alphaModFix/>
          </a:blip>
          <a:srcRect b="45660" l="0" r="0" t="0"/>
          <a:stretch/>
        </p:blipFill>
        <p:spPr>
          <a:xfrm>
            <a:off x="949708" y="1164431"/>
            <a:ext cx="6828631" cy="2778920"/>
          </a:xfrm>
          <a:prstGeom prst="rect">
            <a:avLst/>
          </a:prstGeom>
          <a:noFill/>
          <a:ln>
            <a:noFill/>
          </a:ln>
        </p:spPr>
      </p:pic>
      <p:sp>
        <p:nvSpPr>
          <p:cNvPr id="298" name="Google Shape;298;p10"/>
          <p:cNvSpPr txBox="1"/>
          <p:nvPr>
            <p:ph type="title"/>
          </p:nvPr>
        </p:nvSpPr>
        <p:spPr>
          <a:xfrm>
            <a:off x="7924203" y="123444"/>
            <a:ext cx="101346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2000">
                <a:solidFill>
                  <a:srgbClr val="FFFFFF"/>
                </a:solidFill>
              </a:rPr>
              <a:t>Síntesis</a:t>
            </a:r>
            <a:endParaRPr sz="2000"/>
          </a:p>
        </p:txBody>
      </p:sp>
      <p:grpSp>
        <p:nvGrpSpPr>
          <p:cNvPr id="299" name="Google Shape;299;p10"/>
          <p:cNvGrpSpPr/>
          <p:nvPr/>
        </p:nvGrpSpPr>
        <p:grpSpPr>
          <a:xfrm>
            <a:off x="203278" y="166932"/>
            <a:ext cx="534035" cy="547370"/>
            <a:chOff x="203278" y="166932"/>
            <a:chExt cx="534035" cy="547370"/>
          </a:xfrm>
        </p:grpSpPr>
        <p:sp>
          <p:nvSpPr>
            <p:cNvPr id="300" name="Google Shape;300;p10"/>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01" name="Google Shape;301;p10"/>
            <p:cNvPicPr preferRelativeResize="0"/>
            <p:nvPr/>
          </p:nvPicPr>
          <p:blipFill rotWithShape="1">
            <a:blip r:embed="rId4">
              <a:alphaModFix/>
            </a:blip>
            <a:srcRect b="0" l="0" r="0" t="0"/>
            <a:stretch/>
          </p:blipFill>
          <p:spPr>
            <a:xfrm>
              <a:off x="246789" y="211114"/>
              <a:ext cx="268243" cy="135542"/>
            </a:xfrm>
            <a:prstGeom prst="rect">
              <a:avLst/>
            </a:prstGeom>
            <a:noFill/>
            <a:ln>
              <a:noFill/>
            </a:ln>
          </p:spPr>
        </p:pic>
        <p:sp>
          <p:nvSpPr>
            <p:cNvPr id="302" name="Google Shape;302;p10"/>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03" name="Google Shape;303;p10"/>
            <p:cNvPicPr preferRelativeResize="0"/>
            <p:nvPr/>
          </p:nvPicPr>
          <p:blipFill rotWithShape="1">
            <a:blip r:embed="rId5">
              <a:alphaModFix/>
            </a:blip>
            <a:srcRect b="0" l="0" r="0" t="0"/>
            <a:stretch/>
          </p:blipFill>
          <p:spPr>
            <a:xfrm>
              <a:off x="237282" y="369166"/>
              <a:ext cx="116423" cy="139338"/>
            </a:xfrm>
            <a:prstGeom prst="rect">
              <a:avLst/>
            </a:prstGeom>
            <a:noFill/>
            <a:ln>
              <a:noFill/>
            </a:ln>
          </p:spPr>
        </p:pic>
        <p:pic>
          <p:nvPicPr>
            <p:cNvPr id="304" name="Google Shape;304;p10"/>
            <p:cNvPicPr preferRelativeResize="0"/>
            <p:nvPr/>
          </p:nvPicPr>
          <p:blipFill rotWithShape="1">
            <a:blip r:embed="rId6">
              <a:alphaModFix/>
            </a:blip>
            <a:srcRect b="0" l="0" r="0" t="0"/>
            <a:stretch/>
          </p:blipFill>
          <p:spPr>
            <a:xfrm>
              <a:off x="380620" y="401045"/>
              <a:ext cx="313270" cy="104750"/>
            </a:xfrm>
            <a:prstGeom prst="rect">
              <a:avLst/>
            </a:prstGeom>
            <a:noFill/>
            <a:ln>
              <a:noFill/>
            </a:ln>
          </p:spPr>
        </p:pic>
      </p:grpSp>
      <p:sp>
        <p:nvSpPr>
          <p:cNvPr id="305" name="Google Shape;305;p10"/>
          <p:cNvSpPr/>
          <p:nvPr/>
        </p:nvSpPr>
        <p:spPr>
          <a:xfrm>
            <a:off x="949709" y="121221"/>
            <a:ext cx="1689100" cy="826769"/>
          </a:xfrm>
          <a:custGeom>
            <a:rect b="b" l="l" r="r" t="t"/>
            <a:pathLst>
              <a:path extrusionOk="0" h="826769" w="1689100">
                <a:moveTo>
                  <a:pt x="0" y="82664"/>
                </a:moveTo>
                <a:lnTo>
                  <a:pt x="6496" y="50487"/>
                </a:lnTo>
                <a:lnTo>
                  <a:pt x="24211" y="24211"/>
                </a:lnTo>
                <a:lnTo>
                  <a:pt x="50487" y="6496"/>
                </a:lnTo>
                <a:lnTo>
                  <a:pt x="82664" y="0"/>
                </a:lnTo>
                <a:lnTo>
                  <a:pt x="1606160" y="0"/>
                </a:lnTo>
                <a:lnTo>
                  <a:pt x="1638336" y="6496"/>
                </a:lnTo>
                <a:lnTo>
                  <a:pt x="1664612" y="24211"/>
                </a:lnTo>
                <a:lnTo>
                  <a:pt x="1682327" y="50487"/>
                </a:lnTo>
                <a:lnTo>
                  <a:pt x="1688824" y="82664"/>
                </a:lnTo>
                <a:lnTo>
                  <a:pt x="1688824" y="743982"/>
                </a:lnTo>
                <a:lnTo>
                  <a:pt x="1682327" y="776159"/>
                </a:lnTo>
                <a:lnTo>
                  <a:pt x="1664612" y="802435"/>
                </a:lnTo>
                <a:lnTo>
                  <a:pt x="1638336" y="820150"/>
                </a:lnTo>
                <a:lnTo>
                  <a:pt x="1606160" y="826647"/>
                </a:lnTo>
                <a:lnTo>
                  <a:pt x="82664" y="826647"/>
                </a:lnTo>
                <a:lnTo>
                  <a:pt x="50487" y="820150"/>
                </a:lnTo>
                <a:lnTo>
                  <a:pt x="24211" y="802435"/>
                </a:lnTo>
                <a:lnTo>
                  <a:pt x="6496" y="776159"/>
                </a:lnTo>
                <a:lnTo>
                  <a:pt x="0" y="743982"/>
                </a:lnTo>
                <a:lnTo>
                  <a:pt x="0" y="82664"/>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6" name="Google Shape;306;p10"/>
          <p:cNvSpPr txBox="1"/>
          <p:nvPr/>
        </p:nvSpPr>
        <p:spPr>
          <a:xfrm>
            <a:off x="935459" y="374695"/>
            <a:ext cx="1447799" cy="520655"/>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lang="es-ES" sz="1100">
                <a:solidFill>
                  <a:schemeClr val="lt1"/>
                </a:solidFill>
                <a:latin typeface="Verdana"/>
                <a:ea typeface="Verdana"/>
                <a:cs typeface="Verdana"/>
                <a:sym typeface="Verdana"/>
              </a:rPr>
              <a:t>Procedimientos en medicina oral y cirugía oral</a:t>
            </a:r>
            <a:endParaRPr b="1" sz="1100">
              <a:solidFill>
                <a:schemeClr val="lt1"/>
              </a:solidFill>
              <a:latin typeface="Verdana"/>
              <a:ea typeface="Verdana"/>
              <a:cs typeface="Verdana"/>
              <a:sym typeface="Verdana"/>
            </a:endParaRPr>
          </a:p>
        </p:txBody>
      </p:sp>
      <p:sp>
        <p:nvSpPr>
          <p:cNvPr id="307" name="Google Shape;307;p10"/>
          <p:cNvSpPr/>
          <p:nvPr/>
        </p:nvSpPr>
        <p:spPr>
          <a:xfrm>
            <a:off x="1045508" y="172997"/>
            <a:ext cx="5410200" cy="600164"/>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Completa en tu cuaderno el mapa conceptual con algunos de los contenidos del tema y, a partir de aquí, haz un mapa mental sobre lo que has aprendido en esta unidad.</a:t>
            </a:r>
            <a:endParaRPr/>
          </a:p>
        </p:txBody>
      </p:sp>
      <p:sp>
        <p:nvSpPr>
          <p:cNvPr id="308" name="Google Shape;308;p10"/>
          <p:cNvSpPr/>
          <p:nvPr/>
        </p:nvSpPr>
        <p:spPr>
          <a:xfrm>
            <a:off x="7232400" y="-19050"/>
            <a:ext cx="1911600" cy="615950"/>
          </a:xfrm>
          <a:custGeom>
            <a:rect b="b" l="l" r="r" t="t"/>
            <a:pathLst>
              <a:path extrusionOk="0" h="615950" w="2569845">
                <a:moveTo>
                  <a:pt x="2569579" y="0"/>
                </a:moveTo>
                <a:lnTo>
                  <a:pt x="469581" y="0"/>
                </a:lnTo>
                <a:lnTo>
                  <a:pt x="402478" y="2189"/>
                </a:lnTo>
                <a:lnTo>
                  <a:pt x="340882" y="8580"/>
                </a:lnTo>
                <a:lnTo>
                  <a:pt x="284706" y="18906"/>
                </a:lnTo>
                <a:lnTo>
                  <a:pt x="233865" y="32901"/>
                </a:lnTo>
                <a:lnTo>
                  <a:pt x="188273" y="50298"/>
                </a:lnTo>
                <a:lnTo>
                  <a:pt x="147844" y="70832"/>
                </a:lnTo>
                <a:lnTo>
                  <a:pt x="112492" y="94235"/>
                </a:lnTo>
                <a:lnTo>
                  <a:pt x="82133" y="120242"/>
                </a:lnTo>
                <a:lnTo>
                  <a:pt x="36046" y="179000"/>
                </a:lnTo>
                <a:lnTo>
                  <a:pt x="8897" y="244976"/>
                </a:lnTo>
                <a:lnTo>
                  <a:pt x="0" y="316039"/>
                </a:lnTo>
                <a:lnTo>
                  <a:pt x="2210" y="351838"/>
                </a:lnTo>
                <a:lnTo>
                  <a:pt x="20147" y="418954"/>
                </a:lnTo>
                <a:lnTo>
                  <a:pt x="56679" y="478790"/>
                </a:lnTo>
                <a:lnTo>
                  <a:pt x="112492" y="529778"/>
                </a:lnTo>
                <a:lnTo>
                  <a:pt x="147844" y="551465"/>
                </a:lnTo>
                <a:lnTo>
                  <a:pt x="188273" y="570353"/>
                </a:lnTo>
                <a:lnTo>
                  <a:pt x="233865" y="586245"/>
                </a:lnTo>
                <a:lnTo>
                  <a:pt x="284706" y="598947"/>
                </a:lnTo>
                <a:lnTo>
                  <a:pt x="340882" y="608262"/>
                </a:lnTo>
                <a:lnTo>
                  <a:pt x="402478" y="613995"/>
                </a:lnTo>
                <a:lnTo>
                  <a:pt x="469581" y="615950"/>
                </a:lnTo>
                <a:lnTo>
                  <a:pt x="2569579" y="615950"/>
                </a:lnTo>
                <a:lnTo>
                  <a:pt x="2569579" y="0"/>
                </a:lnTo>
                <a:close/>
              </a:path>
            </a:pathLst>
          </a:custGeom>
          <a:solidFill>
            <a:srgbClr val="00AEB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9" name="Google Shape;309;p10"/>
          <p:cNvSpPr txBox="1"/>
          <p:nvPr/>
        </p:nvSpPr>
        <p:spPr>
          <a:xfrm>
            <a:off x="7916583" y="131064"/>
            <a:ext cx="1013460" cy="3302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0" i="0" lang="es-ES" sz="2000">
                <a:solidFill>
                  <a:srgbClr val="FFFFFF"/>
                </a:solidFill>
                <a:latin typeface="Verdana"/>
                <a:ea typeface="Verdana"/>
                <a:cs typeface="Verdana"/>
                <a:sym typeface="Verdana"/>
              </a:rPr>
              <a:t>Síntesis</a:t>
            </a:r>
            <a:endParaRPr b="0" i="0" sz="2000">
              <a:solidFill>
                <a:srgbClr val="38B3BF"/>
              </a:solidFill>
              <a:latin typeface="Verdana"/>
              <a:ea typeface="Verdana"/>
              <a:cs typeface="Verdana"/>
              <a:sym typeface="Verdana"/>
            </a:endParaRPr>
          </a:p>
        </p:txBody>
      </p:sp>
      <p:sp>
        <p:nvSpPr>
          <p:cNvPr id="310" name="Google Shape;310;p10"/>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sp>
        <p:nvSpPr>
          <p:cNvPr id="311" name="Google Shape;311;p10"/>
          <p:cNvSpPr/>
          <p:nvPr/>
        </p:nvSpPr>
        <p:spPr>
          <a:xfrm>
            <a:off x="8139607" y="4565570"/>
            <a:ext cx="780911" cy="215444"/>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i="1" lang="es-ES" sz="800">
                <a:solidFill>
                  <a:schemeClr val="dk1"/>
                </a:solidFill>
                <a:latin typeface="Verdana"/>
                <a:ea typeface="Verdana"/>
                <a:cs typeface="Verdana"/>
                <a:sym typeface="Verdana"/>
              </a:rPr>
              <a:t>(Continúa)</a:t>
            </a:r>
            <a:endParaRPr/>
          </a:p>
        </p:txBody>
      </p:sp>
      <p:cxnSp>
        <p:nvCxnSpPr>
          <p:cNvPr id="312" name="Google Shape;312;p10"/>
          <p:cNvCxnSpPr/>
          <p:nvPr/>
        </p:nvCxnSpPr>
        <p:spPr>
          <a:xfrm>
            <a:off x="4245708" y="3835152"/>
            <a:ext cx="0" cy="793998"/>
          </a:xfrm>
          <a:prstGeom prst="straightConnector1">
            <a:avLst/>
          </a:prstGeom>
          <a:noFill/>
          <a:ln cap="flat" cmpd="sng" w="19050">
            <a:solidFill>
              <a:srgbClr val="EDEB83"/>
            </a:solidFill>
            <a:prstDash val="dash"/>
            <a:round/>
            <a:headEnd len="sm" w="sm" type="none"/>
            <a:tailEnd len="sm" w="sm" type="none"/>
          </a:ln>
        </p:spPr>
      </p:cxnSp>
      <p:cxnSp>
        <p:nvCxnSpPr>
          <p:cNvPr id="313" name="Google Shape;313;p10"/>
          <p:cNvCxnSpPr/>
          <p:nvPr/>
        </p:nvCxnSpPr>
        <p:spPr>
          <a:xfrm flipH="1">
            <a:off x="1905000" y="3927822"/>
            <a:ext cx="1077596" cy="701328"/>
          </a:xfrm>
          <a:prstGeom prst="straightConnector1">
            <a:avLst/>
          </a:prstGeom>
          <a:noFill/>
          <a:ln cap="flat" cmpd="sng" w="19050">
            <a:solidFill>
              <a:srgbClr val="EDEB83"/>
            </a:solidFill>
            <a:prstDash val="dash"/>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1"/>
          <p:cNvSpPr txBox="1"/>
          <p:nvPr>
            <p:ph type="title"/>
          </p:nvPr>
        </p:nvSpPr>
        <p:spPr>
          <a:xfrm>
            <a:off x="7924203" y="123444"/>
            <a:ext cx="101346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2000">
                <a:solidFill>
                  <a:srgbClr val="FFFFFF"/>
                </a:solidFill>
              </a:rPr>
              <a:t>Síntesis</a:t>
            </a:r>
            <a:endParaRPr sz="2000"/>
          </a:p>
        </p:txBody>
      </p:sp>
      <p:grpSp>
        <p:nvGrpSpPr>
          <p:cNvPr id="319" name="Google Shape;319;p11"/>
          <p:cNvGrpSpPr/>
          <p:nvPr/>
        </p:nvGrpSpPr>
        <p:grpSpPr>
          <a:xfrm>
            <a:off x="203278" y="166932"/>
            <a:ext cx="534035" cy="547370"/>
            <a:chOff x="203278" y="166932"/>
            <a:chExt cx="534035" cy="547370"/>
          </a:xfrm>
        </p:grpSpPr>
        <p:sp>
          <p:nvSpPr>
            <p:cNvPr id="320" name="Google Shape;320;p11"/>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21" name="Google Shape;321;p11"/>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322" name="Google Shape;322;p11"/>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23" name="Google Shape;323;p11"/>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324" name="Google Shape;324;p11"/>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sp>
        <p:nvSpPr>
          <p:cNvPr id="325" name="Google Shape;325;p11"/>
          <p:cNvSpPr/>
          <p:nvPr/>
        </p:nvSpPr>
        <p:spPr>
          <a:xfrm>
            <a:off x="949709" y="121221"/>
            <a:ext cx="1689100" cy="826769"/>
          </a:xfrm>
          <a:custGeom>
            <a:rect b="b" l="l" r="r" t="t"/>
            <a:pathLst>
              <a:path extrusionOk="0" h="826769" w="1689100">
                <a:moveTo>
                  <a:pt x="0" y="82664"/>
                </a:moveTo>
                <a:lnTo>
                  <a:pt x="6496" y="50487"/>
                </a:lnTo>
                <a:lnTo>
                  <a:pt x="24211" y="24211"/>
                </a:lnTo>
                <a:lnTo>
                  <a:pt x="50487" y="6496"/>
                </a:lnTo>
                <a:lnTo>
                  <a:pt x="82664" y="0"/>
                </a:lnTo>
                <a:lnTo>
                  <a:pt x="1606160" y="0"/>
                </a:lnTo>
                <a:lnTo>
                  <a:pt x="1638336" y="6496"/>
                </a:lnTo>
                <a:lnTo>
                  <a:pt x="1664612" y="24211"/>
                </a:lnTo>
                <a:lnTo>
                  <a:pt x="1682327" y="50487"/>
                </a:lnTo>
                <a:lnTo>
                  <a:pt x="1688824" y="82664"/>
                </a:lnTo>
                <a:lnTo>
                  <a:pt x="1688824" y="743982"/>
                </a:lnTo>
                <a:lnTo>
                  <a:pt x="1682327" y="776159"/>
                </a:lnTo>
                <a:lnTo>
                  <a:pt x="1664612" y="802435"/>
                </a:lnTo>
                <a:lnTo>
                  <a:pt x="1638336" y="820150"/>
                </a:lnTo>
                <a:lnTo>
                  <a:pt x="1606160" y="826647"/>
                </a:lnTo>
                <a:lnTo>
                  <a:pt x="82664" y="826647"/>
                </a:lnTo>
                <a:lnTo>
                  <a:pt x="50487" y="820150"/>
                </a:lnTo>
                <a:lnTo>
                  <a:pt x="24211" y="802435"/>
                </a:lnTo>
                <a:lnTo>
                  <a:pt x="6496" y="776159"/>
                </a:lnTo>
                <a:lnTo>
                  <a:pt x="0" y="743982"/>
                </a:lnTo>
                <a:lnTo>
                  <a:pt x="0" y="82664"/>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6" name="Google Shape;326;p11"/>
          <p:cNvSpPr txBox="1"/>
          <p:nvPr/>
        </p:nvSpPr>
        <p:spPr>
          <a:xfrm>
            <a:off x="935459" y="374695"/>
            <a:ext cx="1447799" cy="520655"/>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lang="es-ES" sz="1100">
                <a:solidFill>
                  <a:schemeClr val="lt1"/>
                </a:solidFill>
                <a:latin typeface="Verdana"/>
                <a:ea typeface="Verdana"/>
                <a:cs typeface="Verdana"/>
                <a:sym typeface="Verdana"/>
              </a:rPr>
              <a:t>Procedimientos en medicina oral y cirugía oral</a:t>
            </a:r>
            <a:endParaRPr b="1" sz="1100">
              <a:solidFill>
                <a:schemeClr val="lt1"/>
              </a:solidFill>
              <a:latin typeface="Verdana"/>
              <a:ea typeface="Verdana"/>
              <a:cs typeface="Verdana"/>
              <a:sym typeface="Verdana"/>
            </a:endParaRPr>
          </a:p>
        </p:txBody>
      </p:sp>
      <p:sp>
        <p:nvSpPr>
          <p:cNvPr id="327" name="Google Shape;327;p11"/>
          <p:cNvSpPr/>
          <p:nvPr/>
        </p:nvSpPr>
        <p:spPr>
          <a:xfrm>
            <a:off x="1045508" y="172997"/>
            <a:ext cx="5410200" cy="600164"/>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Completa en tu cuaderno el mapa conceptual con algunos de los contenidos del tema y, a partir de aquí, haz un mapa mental sobre lo que has aprendido en esta unidad.</a:t>
            </a:r>
            <a:endParaRPr/>
          </a:p>
        </p:txBody>
      </p:sp>
      <p:sp>
        <p:nvSpPr>
          <p:cNvPr id="328" name="Google Shape;328;p11"/>
          <p:cNvSpPr/>
          <p:nvPr/>
        </p:nvSpPr>
        <p:spPr>
          <a:xfrm>
            <a:off x="7232400" y="-19050"/>
            <a:ext cx="1911600" cy="615950"/>
          </a:xfrm>
          <a:custGeom>
            <a:rect b="b" l="l" r="r" t="t"/>
            <a:pathLst>
              <a:path extrusionOk="0" h="615950" w="2569845">
                <a:moveTo>
                  <a:pt x="2569579" y="0"/>
                </a:moveTo>
                <a:lnTo>
                  <a:pt x="469581" y="0"/>
                </a:lnTo>
                <a:lnTo>
                  <a:pt x="402478" y="2189"/>
                </a:lnTo>
                <a:lnTo>
                  <a:pt x="340882" y="8580"/>
                </a:lnTo>
                <a:lnTo>
                  <a:pt x="284706" y="18906"/>
                </a:lnTo>
                <a:lnTo>
                  <a:pt x="233865" y="32901"/>
                </a:lnTo>
                <a:lnTo>
                  <a:pt x="188273" y="50298"/>
                </a:lnTo>
                <a:lnTo>
                  <a:pt x="147844" y="70832"/>
                </a:lnTo>
                <a:lnTo>
                  <a:pt x="112492" y="94235"/>
                </a:lnTo>
                <a:lnTo>
                  <a:pt x="82133" y="120242"/>
                </a:lnTo>
                <a:lnTo>
                  <a:pt x="36046" y="179000"/>
                </a:lnTo>
                <a:lnTo>
                  <a:pt x="8897" y="244976"/>
                </a:lnTo>
                <a:lnTo>
                  <a:pt x="0" y="316039"/>
                </a:lnTo>
                <a:lnTo>
                  <a:pt x="2210" y="351838"/>
                </a:lnTo>
                <a:lnTo>
                  <a:pt x="20147" y="418954"/>
                </a:lnTo>
                <a:lnTo>
                  <a:pt x="56679" y="478790"/>
                </a:lnTo>
                <a:lnTo>
                  <a:pt x="112492" y="529778"/>
                </a:lnTo>
                <a:lnTo>
                  <a:pt x="147844" y="551465"/>
                </a:lnTo>
                <a:lnTo>
                  <a:pt x="188273" y="570353"/>
                </a:lnTo>
                <a:lnTo>
                  <a:pt x="233865" y="586245"/>
                </a:lnTo>
                <a:lnTo>
                  <a:pt x="284706" y="598947"/>
                </a:lnTo>
                <a:lnTo>
                  <a:pt x="340882" y="608262"/>
                </a:lnTo>
                <a:lnTo>
                  <a:pt x="402478" y="613995"/>
                </a:lnTo>
                <a:lnTo>
                  <a:pt x="469581" y="615950"/>
                </a:lnTo>
                <a:lnTo>
                  <a:pt x="2569579" y="615950"/>
                </a:lnTo>
                <a:lnTo>
                  <a:pt x="2569579" y="0"/>
                </a:lnTo>
                <a:close/>
              </a:path>
            </a:pathLst>
          </a:custGeom>
          <a:solidFill>
            <a:srgbClr val="00AEB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9" name="Google Shape;329;p11"/>
          <p:cNvSpPr txBox="1"/>
          <p:nvPr/>
        </p:nvSpPr>
        <p:spPr>
          <a:xfrm>
            <a:off x="7916583" y="131064"/>
            <a:ext cx="1013460" cy="3302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0" i="0" lang="es-ES" sz="2000">
                <a:solidFill>
                  <a:srgbClr val="FFFFFF"/>
                </a:solidFill>
                <a:latin typeface="Verdana"/>
                <a:ea typeface="Verdana"/>
                <a:cs typeface="Verdana"/>
                <a:sym typeface="Verdana"/>
              </a:rPr>
              <a:t>Síntesis</a:t>
            </a:r>
            <a:endParaRPr b="0" i="0" sz="2000">
              <a:solidFill>
                <a:srgbClr val="38B3BF"/>
              </a:solidFill>
              <a:latin typeface="Verdana"/>
              <a:ea typeface="Verdana"/>
              <a:cs typeface="Verdana"/>
              <a:sym typeface="Verdana"/>
            </a:endParaRPr>
          </a:p>
        </p:txBody>
      </p:sp>
      <p:sp>
        <p:nvSpPr>
          <p:cNvPr id="330" name="Google Shape;330;p11"/>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pic>
        <p:nvPicPr>
          <p:cNvPr id="331" name="Google Shape;331;p11"/>
          <p:cNvPicPr preferRelativeResize="0"/>
          <p:nvPr/>
        </p:nvPicPr>
        <p:blipFill rotWithShape="1">
          <a:blip r:embed="rId6">
            <a:alphaModFix/>
          </a:blip>
          <a:srcRect b="0" l="0" r="0" t="0"/>
          <a:stretch/>
        </p:blipFill>
        <p:spPr>
          <a:xfrm>
            <a:off x="1088266" y="1352802"/>
            <a:ext cx="6967467" cy="3228976"/>
          </a:xfrm>
          <a:prstGeom prst="rect">
            <a:avLst/>
          </a:prstGeom>
          <a:noFill/>
          <a:ln>
            <a:noFill/>
          </a:ln>
        </p:spPr>
      </p:pic>
      <p:sp>
        <p:nvSpPr>
          <p:cNvPr id="332" name="Google Shape;332;p11"/>
          <p:cNvSpPr/>
          <p:nvPr/>
        </p:nvSpPr>
        <p:spPr>
          <a:xfrm>
            <a:off x="1037160" y="1014729"/>
            <a:ext cx="1346098" cy="215444"/>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i="1" lang="es-ES" sz="800">
                <a:solidFill>
                  <a:schemeClr val="dk1"/>
                </a:solidFill>
                <a:latin typeface="Verdana"/>
                <a:ea typeface="Verdana"/>
                <a:cs typeface="Verdana"/>
                <a:sym typeface="Verdana"/>
              </a:rPr>
              <a:t>(Continuación)</a:t>
            </a:r>
            <a:endParaRPr/>
          </a:p>
        </p:txBody>
      </p:sp>
      <p:cxnSp>
        <p:nvCxnSpPr>
          <p:cNvPr id="333" name="Google Shape;333;p11"/>
          <p:cNvCxnSpPr/>
          <p:nvPr/>
        </p:nvCxnSpPr>
        <p:spPr>
          <a:xfrm>
            <a:off x="4458419" y="928465"/>
            <a:ext cx="0" cy="576485"/>
          </a:xfrm>
          <a:prstGeom prst="straightConnector1">
            <a:avLst/>
          </a:prstGeom>
          <a:noFill/>
          <a:ln cap="flat" cmpd="sng" w="19050">
            <a:solidFill>
              <a:srgbClr val="EDEB83"/>
            </a:solidFill>
            <a:prstDash val="dash"/>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grpSp>
        <p:nvGrpSpPr>
          <p:cNvPr id="338" name="Google Shape;338;p12"/>
          <p:cNvGrpSpPr/>
          <p:nvPr/>
        </p:nvGrpSpPr>
        <p:grpSpPr>
          <a:xfrm>
            <a:off x="203278" y="166370"/>
            <a:ext cx="534035" cy="547370"/>
            <a:chOff x="203278" y="166932"/>
            <a:chExt cx="534035" cy="547370"/>
          </a:xfrm>
        </p:grpSpPr>
        <p:sp>
          <p:nvSpPr>
            <p:cNvPr id="339" name="Google Shape;339;p12"/>
            <p:cNvSpPr/>
            <p:nvPr/>
          </p:nvSpPr>
          <p:spPr>
            <a:xfrm>
              <a:off x="203278" y="166932"/>
              <a:ext cx="534035" cy="547370"/>
            </a:xfrm>
            <a:custGeom>
              <a:rect b="b" l="l" r="r" t="t"/>
              <a:pathLst>
                <a:path extrusionOk="0" h="547370" w="534035">
                  <a:moveTo>
                    <a:pt x="533743" y="0"/>
                  </a:moveTo>
                  <a:lnTo>
                    <a:pt x="0" y="0"/>
                  </a:lnTo>
                  <a:lnTo>
                    <a:pt x="0" y="546745"/>
                  </a:lnTo>
                  <a:lnTo>
                    <a:pt x="533743" y="546745"/>
                  </a:lnTo>
                  <a:lnTo>
                    <a:pt x="533743" y="0"/>
                  </a:lnTo>
                  <a:close/>
                </a:path>
              </a:pathLst>
            </a:custGeom>
            <a:solidFill>
              <a:srgbClr val="ED1C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40" name="Google Shape;340;p12"/>
            <p:cNvPicPr preferRelativeResize="0"/>
            <p:nvPr/>
          </p:nvPicPr>
          <p:blipFill rotWithShape="1">
            <a:blip r:embed="rId3">
              <a:alphaModFix/>
            </a:blip>
            <a:srcRect b="0" l="0" r="0" t="0"/>
            <a:stretch/>
          </p:blipFill>
          <p:spPr>
            <a:xfrm>
              <a:off x="246789" y="211114"/>
              <a:ext cx="268243" cy="135542"/>
            </a:xfrm>
            <a:prstGeom prst="rect">
              <a:avLst/>
            </a:prstGeom>
            <a:noFill/>
            <a:ln>
              <a:noFill/>
            </a:ln>
          </p:spPr>
        </p:pic>
        <p:sp>
          <p:nvSpPr>
            <p:cNvPr id="341" name="Google Shape;341;p12"/>
            <p:cNvSpPr/>
            <p:nvPr/>
          </p:nvSpPr>
          <p:spPr>
            <a:xfrm>
              <a:off x="246799" y="534606"/>
              <a:ext cx="278130" cy="135255"/>
            </a:xfrm>
            <a:custGeom>
              <a:rect b="b" l="l" r="r" t="t"/>
              <a:pathLst>
                <a:path extrusionOk="0" h="135254" w="278130">
                  <a:moveTo>
                    <a:pt x="106895" y="1333"/>
                  </a:moveTo>
                  <a:lnTo>
                    <a:pt x="74968" y="1333"/>
                  </a:lnTo>
                  <a:lnTo>
                    <a:pt x="74968" y="52133"/>
                  </a:lnTo>
                  <a:lnTo>
                    <a:pt x="31927" y="52133"/>
                  </a:lnTo>
                  <a:lnTo>
                    <a:pt x="31927" y="1333"/>
                  </a:lnTo>
                  <a:lnTo>
                    <a:pt x="0" y="1333"/>
                  </a:lnTo>
                  <a:lnTo>
                    <a:pt x="0" y="52133"/>
                  </a:lnTo>
                  <a:lnTo>
                    <a:pt x="0" y="78803"/>
                  </a:lnTo>
                  <a:lnTo>
                    <a:pt x="0" y="134683"/>
                  </a:lnTo>
                  <a:lnTo>
                    <a:pt x="31927" y="134683"/>
                  </a:lnTo>
                  <a:lnTo>
                    <a:pt x="31927" y="78803"/>
                  </a:lnTo>
                  <a:lnTo>
                    <a:pt x="74968" y="78803"/>
                  </a:lnTo>
                  <a:lnTo>
                    <a:pt x="74968" y="134683"/>
                  </a:lnTo>
                  <a:lnTo>
                    <a:pt x="106895" y="134683"/>
                  </a:lnTo>
                  <a:lnTo>
                    <a:pt x="106895" y="78803"/>
                  </a:lnTo>
                  <a:lnTo>
                    <a:pt x="106895" y="52133"/>
                  </a:lnTo>
                  <a:lnTo>
                    <a:pt x="106895" y="1333"/>
                  </a:lnTo>
                  <a:close/>
                </a:path>
                <a:path extrusionOk="0" h="135254" w="278130">
                  <a:moveTo>
                    <a:pt x="164960" y="49415"/>
                  </a:moveTo>
                  <a:lnTo>
                    <a:pt x="133819" y="49415"/>
                  </a:lnTo>
                  <a:lnTo>
                    <a:pt x="133819" y="134493"/>
                  </a:lnTo>
                  <a:lnTo>
                    <a:pt x="164960" y="134493"/>
                  </a:lnTo>
                  <a:lnTo>
                    <a:pt x="164960" y="49415"/>
                  </a:lnTo>
                  <a:close/>
                </a:path>
                <a:path extrusionOk="0" h="135254" w="278130">
                  <a:moveTo>
                    <a:pt x="165938" y="7493"/>
                  </a:moveTo>
                  <a:lnTo>
                    <a:pt x="158737" y="0"/>
                  </a:lnTo>
                  <a:lnTo>
                    <a:pt x="140436" y="0"/>
                  </a:lnTo>
                  <a:lnTo>
                    <a:pt x="133032" y="7493"/>
                  </a:lnTo>
                  <a:lnTo>
                    <a:pt x="133032" y="26568"/>
                  </a:lnTo>
                  <a:lnTo>
                    <a:pt x="140436" y="34290"/>
                  </a:lnTo>
                  <a:lnTo>
                    <a:pt x="158737" y="34290"/>
                  </a:lnTo>
                  <a:lnTo>
                    <a:pt x="165938" y="26568"/>
                  </a:lnTo>
                  <a:lnTo>
                    <a:pt x="165938" y="7493"/>
                  </a:lnTo>
                  <a:close/>
                </a:path>
                <a:path extrusionOk="0" h="135254" w="278130">
                  <a:moveTo>
                    <a:pt x="221284" y="1930"/>
                  </a:moveTo>
                  <a:lnTo>
                    <a:pt x="191681" y="1930"/>
                  </a:lnTo>
                  <a:lnTo>
                    <a:pt x="191681" y="134493"/>
                  </a:lnTo>
                  <a:lnTo>
                    <a:pt x="221284" y="134493"/>
                  </a:lnTo>
                  <a:lnTo>
                    <a:pt x="221284" y="1930"/>
                  </a:lnTo>
                  <a:close/>
                </a:path>
                <a:path extrusionOk="0" h="135254" w="278130">
                  <a:moveTo>
                    <a:pt x="277812" y="1930"/>
                  </a:moveTo>
                  <a:lnTo>
                    <a:pt x="248208" y="1930"/>
                  </a:lnTo>
                  <a:lnTo>
                    <a:pt x="248208" y="134493"/>
                  </a:lnTo>
                  <a:lnTo>
                    <a:pt x="277812" y="134493"/>
                  </a:lnTo>
                  <a:lnTo>
                    <a:pt x="277812" y="19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42" name="Google Shape;342;p12"/>
            <p:cNvPicPr preferRelativeResize="0"/>
            <p:nvPr/>
          </p:nvPicPr>
          <p:blipFill rotWithShape="1">
            <a:blip r:embed="rId4">
              <a:alphaModFix/>
            </a:blip>
            <a:srcRect b="0" l="0" r="0" t="0"/>
            <a:stretch/>
          </p:blipFill>
          <p:spPr>
            <a:xfrm>
              <a:off x="237282" y="369166"/>
              <a:ext cx="116423" cy="139338"/>
            </a:xfrm>
            <a:prstGeom prst="rect">
              <a:avLst/>
            </a:prstGeom>
            <a:noFill/>
            <a:ln>
              <a:noFill/>
            </a:ln>
          </p:spPr>
        </p:pic>
        <p:pic>
          <p:nvPicPr>
            <p:cNvPr id="343" name="Google Shape;343;p12"/>
            <p:cNvPicPr preferRelativeResize="0"/>
            <p:nvPr/>
          </p:nvPicPr>
          <p:blipFill rotWithShape="1">
            <a:blip r:embed="rId5">
              <a:alphaModFix/>
            </a:blip>
            <a:srcRect b="0" l="0" r="0" t="0"/>
            <a:stretch/>
          </p:blipFill>
          <p:spPr>
            <a:xfrm>
              <a:off x="380620" y="401045"/>
              <a:ext cx="313270" cy="104750"/>
            </a:xfrm>
            <a:prstGeom prst="rect">
              <a:avLst/>
            </a:prstGeom>
            <a:noFill/>
            <a:ln>
              <a:noFill/>
            </a:ln>
          </p:spPr>
        </p:pic>
      </p:grpSp>
      <p:grpSp>
        <p:nvGrpSpPr>
          <p:cNvPr id="344" name="Google Shape;344;p12"/>
          <p:cNvGrpSpPr/>
          <p:nvPr/>
        </p:nvGrpSpPr>
        <p:grpSpPr>
          <a:xfrm>
            <a:off x="6531864" y="-22860"/>
            <a:ext cx="2612136" cy="679703"/>
            <a:chOff x="6531864" y="0"/>
            <a:chExt cx="2612136" cy="679703"/>
          </a:xfrm>
        </p:grpSpPr>
        <p:pic>
          <p:nvPicPr>
            <p:cNvPr id="345" name="Google Shape;345;p12"/>
            <p:cNvPicPr preferRelativeResize="0"/>
            <p:nvPr/>
          </p:nvPicPr>
          <p:blipFill rotWithShape="1">
            <a:blip r:embed="rId6">
              <a:alphaModFix/>
            </a:blip>
            <a:srcRect b="0" l="0" r="0" t="0"/>
            <a:stretch/>
          </p:blipFill>
          <p:spPr>
            <a:xfrm>
              <a:off x="6531864" y="0"/>
              <a:ext cx="2612135" cy="679703"/>
            </a:xfrm>
            <a:prstGeom prst="rect">
              <a:avLst/>
            </a:prstGeom>
            <a:noFill/>
            <a:ln>
              <a:noFill/>
            </a:ln>
          </p:spPr>
        </p:pic>
        <p:sp>
          <p:nvSpPr>
            <p:cNvPr id="346" name="Google Shape;346;p12"/>
            <p:cNvSpPr/>
            <p:nvPr/>
          </p:nvSpPr>
          <p:spPr>
            <a:xfrm>
              <a:off x="6574155" y="14015"/>
              <a:ext cx="2569845" cy="615950"/>
            </a:xfrm>
            <a:custGeom>
              <a:rect b="b" l="l" r="r" t="t"/>
              <a:pathLst>
                <a:path extrusionOk="0" h="615950" w="2569845">
                  <a:moveTo>
                    <a:pt x="2569579" y="0"/>
                  </a:moveTo>
                  <a:lnTo>
                    <a:pt x="469581" y="0"/>
                  </a:lnTo>
                  <a:lnTo>
                    <a:pt x="402478" y="2189"/>
                  </a:lnTo>
                  <a:lnTo>
                    <a:pt x="340882" y="8580"/>
                  </a:lnTo>
                  <a:lnTo>
                    <a:pt x="284706" y="18906"/>
                  </a:lnTo>
                  <a:lnTo>
                    <a:pt x="233865" y="32901"/>
                  </a:lnTo>
                  <a:lnTo>
                    <a:pt x="188273" y="50298"/>
                  </a:lnTo>
                  <a:lnTo>
                    <a:pt x="147844" y="70832"/>
                  </a:lnTo>
                  <a:lnTo>
                    <a:pt x="112492" y="94235"/>
                  </a:lnTo>
                  <a:lnTo>
                    <a:pt x="82133" y="120242"/>
                  </a:lnTo>
                  <a:lnTo>
                    <a:pt x="36046" y="179000"/>
                  </a:lnTo>
                  <a:lnTo>
                    <a:pt x="8897" y="244976"/>
                  </a:lnTo>
                  <a:lnTo>
                    <a:pt x="0" y="316039"/>
                  </a:lnTo>
                  <a:lnTo>
                    <a:pt x="2210" y="351838"/>
                  </a:lnTo>
                  <a:lnTo>
                    <a:pt x="20147" y="418954"/>
                  </a:lnTo>
                  <a:lnTo>
                    <a:pt x="56679" y="478790"/>
                  </a:lnTo>
                  <a:lnTo>
                    <a:pt x="112492" y="529778"/>
                  </a:lnTo>
                  <a:lnTo>
                    <a:pt x="147844" y="551465"/>
                  </a:lnTo>
                  <a:lnTo>
                    <a:pt x="188273" y="570353"/>
                  </a:lnTo>
                  <a:lnTo>
                    <a:pt x="233865" y="586245"/>
                  </a:lnTo>
                  <a:lnTo>
                    <a:pt x="284706" y="598947"/>
                  </a:lnTo>
                  <a:lnTo>
                    <a:pt x="340882" y="608262"/>
                  </a:lnTo>
                  <a:lnTo>
                    <a:pt x="402478" y="613995"/>
                  </a:lnTo>
                  <a:lnTo>
                    <a:pt x="469581" y="615950"/>
                  </a:lnTo>
                  <a:lnTo>
                    <a:pt x="2569579" y="615950"/>
                  </a:lnTo>
                  <a:lnTo>
                    <a:pt x="2569579" y="0"/>
                  </a:lnTo>
                  <a:close/>
                </a:path>
              </a:pathLst>
            </a:custGeom>
            <a:solidFill>
              <a:srgbClr val="00AEB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47" name="Google Shape;347;p12"/>
          <p:cNvSpPr txBox="1"/>
          <p:nvPr/>
        </p:nvSpPr>
        <p:spPr>
          <a:xfrm>
            <a:off x="6971279" y="141732"/>
            <a:ext cx="2088514"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ES" sz="2000">
                <a:solidFill>
                  <a:srgbClr val="FFFFFF"/>
                </a:solidFill>
                <a:latin typeface="Verdana"/>
                <a:ea typeface="Verdana"/>
                <a:cs typeface="Verdana"/>
                <a:sym typeface="Verdana"/>
              </a:rPr>
              <a:t>Reto profesional</a:t>
            </a:r>
            <a:endParaRPr sz="2000">
              <a:latin typeface="Verdana"/>
              <a:ea typeface="Verdana"/>
              <a:cs typeface="Verdana"/>
              <a:sym typeface="Verdana"/>
            </a:endParaRPr>
          </a:p>
        </p:txBody>
      </p:sp>
      <p:pic>
        <p:nvPicPr>
          <p:cNvPr id="348" name="Google Shape;348;p12"/>
          <p:cNvPicPr preferRelativeResize="0"/>
          <p:nvPr/>
        </p:nvPicPr>
        <p:blipFill rotWithShape="1">
          <a:blip r:embed="rId7">
            <a:alphaModFix/>
          </a:blip>
          <a:srcRect b="17769" l="0" r="0" t="0"/>
          <a:stretch/>
        </p:blipFill>
        <p:spPr>
          <a:xfrm>
            <a:off x="4322124" y="748991"/>
            <a:ext cx="4504061" cy="2239742"/>
          </a:xfrm>
          <a:prstGeom prst="rect">
            <a:avLst/>
          </a:prstGeom>
          <a:noFill/>
          <a:ln>
            <a:noFill/>
          </a:ln>
        </p:spPr>
      </p:pic>
      <p:sp>
        <p:nvSpPr>
          <p:cNvPr id="349" name="Google Shape;349;p12"/>
          <p:cNvSpPr txBox="1"/>
          <p:nvPr>
            <p:ph idx="11" type="ftr"/>
          </p:nvPr>
        </p:nvSpPr>
        <p:spPr>
          <a:xfrm>
            <a:off x="0" y="4933950"/>
            <a:ext cx="9144000" cy="167354"/>
          </a:xfrm>
          <a:prstGeom prst="rect">
            <a:avLst/>
          </a:prstGeom>
          <a:noFill/>
          <a:ln>
            <a:noFill/>
          </a:ln>
        </p:spPr>
        <p:txBody>
          <a:bodyPr anchorCtr="0" anchor="t" bIns="0" lIns="0" spcFirstLastPara="1" rIns="0" wrap="square" tIns="13325">
            <a:spAutoFit/>
          </a:bodyPr>
          <a:lstStyle/>
          <a:p>
            <a:pPr indent="0" lvl="0" marL="12700" rtl="0" algn="ctr">
              <a:lnSpc>
                <a:spcPct val="100000"/>
              </a:lnSpc>
              <a:spcBef>
                <a:spcPts val="0"/>
              </a:spcBef>
              <a:spcAft>
                <a:spcPts val="0"/>
              </a:spcAft>
              <a:buNone/>
            </a:pPr>
            <a:r>
              <a:rPr lang="es-ES"/>
              <a:t>© McGraw Hill</a:t>
            </a:r>
            <a:endParaRPr/>
          </a:p>
        </p:txBody>
      </p:sp>
      <p:sp>
        <p:nvSpPr>
          <p:cNvPr id="350" name="Google Shape;350;p12"/>
          <p:cNvSpPr txBox="1"/>
          <p:nvPr/>
        </p:nvSpPr>
        <p:spPr>
          <a:xfrm>
            <a:off x="913577" y="809957"/>
            <a:ext cx="3377487" cy="1615827"/>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es-ES" sz="1100">
                <a:solidFill>
                  <a:srgbClr val="7F7F7F"/>
                </a:solidFill>
                <a:latin typeface="Verdana"/>
                <a:ea typeface="Verdana"/>
                <a:cs typeface="Verdana"/>
                <a:sym typeface="Verdana"/>
              </a:rPr>
              <a:t>¿Puede medirse el grado de sostenibilidad medioambiental de un hábito de consumo? ¿Y de un proceso productivo? ¿Y de una persona o una empresa? ¿Y de un país o de toda la humanidad? La respuesta a todas estas preguntas es sí. Existe un indicador objetivo y generalmente aceptado para medir la sostenibilidad, y es la huella ecológica.</a:t>
            </a:r>
            <a:endParaRPr/>
          </a:p>
        </p:txBody>
      </p:sp>
      <p:graphicFrame>
        <p:nvGraphicFramePr>
          <p:cNvPr id="351" name="Google Shape;351;p12"/>
          <p:cNvGraphicFramePr/>
          <p:nvPr/>
        </p:nvGraphicFramePr>
        <p:xfrm>
          <a:off x="913578" y="3084027"/>
          <a:ext cx="3000000" cy="3000000"/>
        </p:xfrm>
        <a:graphic>
          <a:graphicData uri="http://schemas.openxmlformats.org/drawingml/2006/table">
            <a:tbl>
              <a:tblPr bandRow="1" firstRow="1">
                <a:noFill/>
                <a:tableStyleId>{EB370B70-F218-4A60-A2C0-7AD5B634E1D6}</a:tableStyleId>
              </a:tblPr>
              <a:tblGrid>
                <a:gridCol w="1524000"/>
                <a:gridCol w="6324600"/>
              </a:tblGrid>
              <a:tr h="286900">
                <a:tc>
                  <a:txBody>
                    <a:bodyPr/>
                    <a:lstStyle/>
                    <a:p>
                      <a:pPr indent="0" lvl="0" marL="0" marR="0" rtl="0" algn="l">
                        <a:spcBef>
                          <a:spcPts val="0"/>
                        </a:spcBef>
                        <a:spcAft>
                          <a:spcPts val="0"/>
                        </a:spcAft>
                        <a:buNone/>
                      </a:pPr>
                      <a:r>
                        <a:rPr b="1" lang="es-ES" sz="1200" u="none" cap="none" strike="noStrike">
                          <a:solidFill>
                            <a:schemeClr val="lt1"/>
                          </a:solidFill>
                          <a:latin typeface="Verdana"/>
                          <a:ea typeface="Verdana"/>
                          <a:cs typeface="Verdana"/>
                          <a:sym typeface="Verdana"/>
                        </a:rPr>
                        <a:t>Objetivo</a:t>
                      </a:r>
                      <a:endParaRPr/>
                    </a:p>
                  </a:txBody>
                  <a:tcPr marT="45725" marB="45725" marR="91450" marL="91450">
                    <a:lnL cap="flat" cmpd="sng" w="12700">
                      <a:solidFill>
                        <a:srgbClr val="A0D273"/>
                      </a:solidFill>
                      <a:prstDash val="solid"/>
                      <a:round/>
                      <a:headEnd len="sm" w="sm" type="none"/>
                      <a:tailEnd len="sm" w="sm" type="none"/>
                    </a:lnL>
                    <a:lnT cap="flat" cmpd="sng" w="12700">
                      <a:solidFill>
                        <a:srgbClr val="A0D273"/>
                      </a:solidFill>
                      <a:prstDash val="solid"/>
                      <a:round/>
                      <a:headEnd len="sm" w="sm" type="none"/>
                      <a:tailEnd len="sm" w="sm" type="none"/>
                    </a:lnT>
                    <a:lnB cap="flat" cmpd="sng" w="12700">
                      <a:solidFill>
                        <a:schemeClr val="lt1"/>
                      </a:solidFill>
                      <a:prstDash val="solid"/>
                      <a:round/>
                      <a:headEnd len="sm" w="sm" type="none"/>
                      <a:tailEnd len="sm" w="sm" type="none"/>
                    </a:lnB>
                    <a:solidFill>
                      <a:srgbClr val="A0D273"/>
                    </a:solidFill>
                  </a:tcPr>
                </a:tc>
                <a:tc>
                  <a:txBody>
                    <a:bodyPr/>
                    <a:lstStyle/>
                    <a:p>
                      <a:pPr indent="0" lvl="0" marL="0" marR="0" rtl="0" algn="just">
                        <a:spcBef>
                          <a:spcPts val="0"/>
                        </a:spcBef>
                        <a:spcAft>
                          <a:spcPts val="0"/>
                        </a:spcAft>
                        <a:buNone/>
                      </a:pPr>
                      <a:r>
                        <a:rPr b="0" lang="es-ES" sz="1200">
                          <a:solidFill>
                            <a:srgbClr val="A0D273"/>
                          </a:solidFill>
                          <a:latin typeface="Verdana"/>
                          <a:ea typeface="Verdana"/>
                          <a:cs typeface="Verdana"/>
                          <a:sym typeface="Verdana"/>
                        </a:rPr>
                        <a:t>Reducir la huella ecológica de una empresa.</a:t>
                      </a:r>
                      <a:endParaRPr/>
                    </a:p>
                  </a:txBody>
                  <a:tcPr marT="45725" marB="45725" marR="91450" marL="91450">
                    <a:lnR cap="flat" cmpd="sng" w="12700">
                      <a:solidFill>
                        <a:srgbClr val="A0D273"/>
                      </a:solidFill>
                      <a:prstDash val="solid"/>
                      <a:round/>
                      <a:headEnd len="sm" w="sm" type="none"/>
                      <a:tailEnd len="sm" w="sm" type="none"/>
                    </a:lnR>
                    <a:lnT cap="flat" cmpd="sng" w="12700">
                      <a:solidFill>
                        <a:srgbClr val="A0D273"/>
                      </a:solidFill>
                      <a:prstDash val="solid"/>
                      <a:round/>
                      <a:headEnd len="sm" w="sm" type="none"/>
                      <a:tailEnd len="sm" w="sm" type="none"/>
                    </a:lnT>
                    <a:lnB cap="flat" cmpd="sng" w="12700">
                      <a:solidFill>
                        <a:srgbClr val="A0D273"/>
                      </a:solidFill>
                      <a:prstDash val="solid"/>
                      <a:round/>
                      <a:headEnd len="sm" w="sm" type="none"/>
                      <a:tailEnd len="sm" w="sm" type="none"/>
                    </a:lnB>
                  </a:tcPr>
                </a:tc>
              </a:tr>
              <a:tr h="751675">
                <a:tc>
                  <a:txBody>
                    <a:bodyPr/>
                    <a:lstStyle/>
                    <a:p>
                      <a:pPr indent="0" lvl="0" marL="0" marR="0" rtl="0" algn="l">
                        <a:spcBef>
                          <a:spcPts val="0"/>
                        </a:spcBef>
                        <a:spcAft>
                          <a:spcPts val="0"/>
                        </a:spcAft>
                        <a:buNone/>
                      </a:pPr>
                      <a:r>
                        <a:rPr b="1" lang="es-ES" sz="1200">
                          <a:solidFill>
                            <a:schemeClr val="lt1"/>
                          </a:solidFill>
                          <a:latin typeface="Verdana"/>
                          <a:ea typeface="Verdana"/>
                          <a:cs typeface="Verdana"/>
                          <a:sym typeface="Verdana"/>
                        </a:rPr>
                        <a:t>Tarea</a:t>
                      </a:r>
                      <a:endParaRPr/>
                    </a:p>
                  </a:txBody>
                  <a:tcPr marT="45725" marB="45725" marR="91450" marL="91450">
                    <a:lnL cap="flat" cmpd="sng" w="12700">
                      <a:solidFill>
                        <a:srgbClr val="A0D273"/>
                      </a:solidFill>
                      <a:prstDash val="solid"/>
                      <a:round/>
                      <a:headEnd len="sm" w="sm" type="none"/>
                      <a:tailEnd len="sm" w="sm" type="none"/>
                    </a:lnL>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0D273"/>
                    </a:solidFill>
                  </a:tcPr>
                </a:tc>
                <a:tc>
                  <a:txBody>
                    <a:bodyPr/>
                    <a:lstStyle/>
                    <a:p>
                      <a:pPr indent="-342900" lvl="0" marL="342900" marR="0" rtl="0" algn="just">
                        <a:lnSpc>
                          <a:spcPct val="100000"/>
                        </a:lnSpc>
                        <a:spcBef>
                          <a:spcPts val="0"/>
                        </a:spcBef>
                        <a:spcAft>
                          <a:spcPts val="0"/>
                        </a:spcAft>
                        <a:buClr>
                          <a:srgbClr val="A0D273"/>
                        </a:buClr>
                        <a:buSzPts val="1200"/>
                        <a:buFont typeface="Verdana"/>
                        <a:buAutoNum type="arabicPeriod"/>
                      </a:pPr>
                      <a:r>
                        <a:rPr b="0" lang="es-ES" sz="1200">
                          <a:solidFill>
                            <a:srgbClr val="A0D273"/>
                          </a:solidFill>
                          <a:latin typeface="Verdana"/>
                          <a:ea typeface="Verdana"/>
                          <a:cs typeface="Verdana"/>
                          <a:sym typeface="Verdana"/>
                        </a:rPr>
                        <a:t>¿La Tierra es suficiente para todos? Vuestra huella ecológica personal.</a:t>
                      </a:r>
                      <a:endParaRPr/>
                    </a:p>
                    <a:p>
                      <a:pPr indent="-342900" lvl="0" marL="342900" marR="0" rtl="0" algn="just">
                        <a:lnSpc>
                          <a:spcPct val="100000"/>
                        </a:lnSpc>
                        <a:spcBef>
                          <a:spcPts val="0"/>
                        </a:spcBef>
                        <a:spcAft>
                          <a:spcPts val="0"/>
                        </a:spcAft>
                        <a:buClr>
                          <a:srgbClr val="A0D273"/>
                        </a:buClr>
                        <a:buSzPts val="1200"/>
                        <a:buFont typeface="Verdana"/>
                        <a:buAutoNum type="arabicPeriod"/>
                      </a:pPr>
                      <a:r>
                        <a:rPr b="0" lang="es-ES" sz="1200">
                          <a:solidFill>
                            <a:srgbClr val="A0D273"/>
                          </a:solidFill>
                          <a:latin typeface="Verdana"/>
                          <a:ea typeface="Verdana"/>
                          <a:cs typeface="Verdana"/>
                          <a:sym typeface="Verdana"/>
                        </a:rPr>
                        <a:t>No es (solo) vuestro problema: el saldo medioambiental del planeta.</a:t>
                      </a:r>
                      <a:endParaRPr/>
                    </a:p>
                    <a:p>
                      <a:pPr indent="-342900" lvl="0" marL="342900" marR="0" rtl="0" algn="just">
                        <a:lnSpc>
                          <a:spcPct val="100000"/>
                        </a:lnSpc>
                        <a:spcBef>
                          <a:spcPts val="0"/>
                        </a:spcBef>
                        <a:spcAft>
                          <a:spcPts val="0"/>
                        </a:spcAft>
                        <a:buClr>
                          <a:srgbClr val="A0D273"/>
                        </a:buClr>
                        <a:buSzPts val="1200"/>
                        <a:buFont typeface="Verdana"/>
                        <a:buAutoNum type="arabicPeriod"/>
                      </a:pPr>
                      <a:r>
                        <a:rPr b="0" lang="es-ES" sz="1200">
                          <a:solidFill>
                            <a:srgbClr val="A0D273"/>
                          </a:solidFill>
                          <a:latin typeface="Verdana"/>
                          <a:ea typeface="Verdana"/>
                          <a:cs typeface="Verdana"/>
                          <a:sym typeface="Verdana"/>
                        </a:rPr>
                        <a:t>Vamos al cine: reducir la huella ecológica de una empresa.</a:t>
                      </a:r>
                      <a:endParaRPr/>
                    </a:p>
                    <a:p>
                      <a:pPr indent="-342900" lvl="0" marL="342900" marR="0" rtl="0" algn="just">
                        <a:lnSpc>
                          <a:spcPct val="100000"/>
                        </a:lnSpc>
                        <a:spcBef>
                          <a:spcPts val="0"/>
                        </a:spcBef>
                        <a:spcAft>
                          <a:spcPts val="0"/>
                        </a:spcAft>
                        <a:buClr>
                          <a:srgbClr val="A0D273"/>
                        </a:buClr>
                        <a:buSzPts val="1200"/>
                        <a:buFont typeface="Verdana"/>
                        <a:buAutoNum type="arabicPeriod"/>
                      </a:pPr>
                      <a:r>
                        <a:rPr b="0" lang="es-ES" sz="1200">
                          <a:solidFill>
                            <a:srgbClr val="A0D273"/>
                          </a:solidFill>
                          <a:latin typeface="Verdana"/>
                          <a:ea typeface="Verdana"/>
                          <a:cs typeface="Verdana"/>
                          <a:sym typeface="Verdana"/>
                        </a:rPr>
                        <a:t>Más allá: calculando la huella del carbono.</a:t>
                      </a:r>
                      <a:endParaRPr/>
                    </a:p>
                  </a:txBody>
                  <a:tcPr marT="45725" marB="45725" marR="91450" marL="91450">
                    <a:lnR cap="flat" cmpd="sng" w="12700">
                      <a:solidFill>
                        <a:srgbClr val="A0D273"/>
                      </a:solidFill>
                      <a:prstDash val="solid"/>
                      <a:round/>
                      <a:headEnd len="sm" w="sm" type="none"/>
                      <a:tailEnd len="sm" w="sm" type="none"/>
                    </a:lnR>
                    <a:lnT cap="flat" cmpd="sng" w="12700">
                      <a:solidFill>
                        <a:srgbClr val="A0D273"/>
                      </a:solidFill>
                      <a:prstDash val="solid"/>
                      <a:round/>
                      <a:headEnd len="sm" w="sm" type="none"/>
                      <a:tailEnd len="sm" w="sm" type="none"/>
                    </a:lnT>
                    <a:lnB cap="flat" cmpd="sng" w="12700">
                      <a:solidFill>
                        <a:srgbClr val="A0D273"/>
                      </a:solidFill>
                      <a:prstDash val="solid"/>
                      <a:round/>
                      <a:headEnd len="sm" w="sm" type="none"/>
                      <a:tailEnd len="sm" w="sm" type="none"/>
                    </a:lnB>
                  </a:tcPr>
                </a:tc>
              </a:tr>
              <a:tr h="523825">
                <a:tc>
                  <a:txBody>
                    <a:bodyPr/>
                    <a:lstStyle/>
                    <a:p>
                      <a:pPr indent="0" lvl="0" marL="0" marR="0" rtl="0" algn="l">
                        <a:spcBef>
                          <a:spcPts val="0"/>
                        </a:spcBef>
                        <a:spcAft>
                          <a:spcPts val="0"/>
                        </a:spcAft>
                        <a:buNone/>
                      </a:pPr>
                      <a:r>
                        <a:rPr b="1" lang="es-ES" sz="1200">
                          <a:solidFill>
                            <a:schemeClr val="lt1"/>
                          </a:solidFill>
                          <a:latin typeface="Verdana"/>
                          <a:ea typeface="Verdana"/>
                          <a:cs typeface="Verdana"/>
                          <a:sym typeface="Verdana"/>
                        </a:rPr>
                        <a:t>Informe final</a:t>
                      </a:r>
                      <a:endParaRPr/>
                    </a:p>
                  </a:txBody>
                  <a:tcPr marT="45725" marB="45725" marR="91450" marL="91450">
                    <a:lnL cap="flat" cmpd="sng" w="12700">
                      <a:solidFill>
                        <a:srgbClr val="A0D273"/>
                      </a:solidFill>
                      <a:prstDash val="solid"/>
                      <a:round/>
                      <a:headEnd len="sm" w="sm" type="none"/>
                      <a:tailEnd len="sm" w="sm" type="none"/>
                    </a:lnL>
                    <a:lnT cap="flat" cmpd="sng" w="12700">
                      <a:solidFill>
                        <a:schemeClr val="lt1"/>
                      </a:solidFill>
                      <a:prstDash val="solid"/>
                      <a:round/>
                      <a:headEnd len="sm" w="sm" type="none"/>
                      <a:tailEnd len="sm" w="sm" type="none"/>
                    </a:lnT>
                    <a:lnB cap="flat" cmpd="sng" w="12700">
                      <a:solidFill>
                        <a:srgbClr val="A0D273"/>
                      </a:solidFill>
                      <a:prstDash val="solid"/>
                      <a:round/>
                      <a:headEnd len="sm" w="sm" type="none"/>
                      <a:tailEnd len="sm" w="sm" type="none"/>
                    </a:lnB>
                    <a:solidFill>
                      <a:srgbClr val="A0D273"/>
                    </a:solidFill>
                  </a:tcPr>
                </a:tc>
                <a:tc>
                  <a:txBody>
                    <a:bodyPr/>
                    <a:lstStyle/>
                    <a:p>
                      <a:pPr indent="0" lvl="0" marL="0" marR="0" rtl="0" algn="just">
                        <a:spcBef>
                          <a:spcPts val="0"/>
                        </a:spcBef>
                        <a:spcAft>
                          <a:spcPts val="0"/>
                        </a:spcAft>
                        <a:buNone/>
                      </a:pPr>
                      <a:r>
                        <a:rPr b="0" lang="es-ES" sz="1200">
                          <a:solidFill>
                            <a:srgbClr val="A0D273"/>
                          </a:solidFill>
                          <a:latin typeface="Verdana"/>
                          <a:ea typeface="Verdana"/>
                          <a:cs typeface="Verdana"/>
                          <a:sym typeface="Verdana"/>
                        </a:rPr>
                        <a:t>El resultado del trabajo debéis presentarlo a través de un informe para luego poderlo presentar en clase.</a:t>
                      </a:r>
                      <a:endParaRPr/>
                    </a:p>
                  </a:txBody>
                  <a:tcPr marT="45725" marB="45725" marR="91450" marL="91450">
                    <a:lnR cap="flat" cmpd="sng" w="12700">
                      <a:solidFill>
                        <a:srgbClr val="A0D273"/>
                      </a:solidFill>
                      <a:prstDash val="solid"/>
                      <a:round/>
                      <a:headEnd len="sm" w="sm" type="none"/>
                      <a:tailEnd len="sm" w="sm" type="none"/>
                    </a:lnR>
                    <a:lnT cap="flat" cmpd="sng" w="12700">
                      <a:solidFill>
                        <a:srgbClr val="A0D273"/>
                      </a:solidFill>
                      <a:prstDash val="solid"/>
                      <a:round/>
                      <a:headEnd len="sm" w="sm" type="none"/>
                      <a:tailEnd len="sm" w="sm" type="none"/>
                    </a:lnT>
                    <a:lnB cap="flat" cmpd="sng" w="12700">
                      <a:solidFill>
                        <a:srgbClr val="A0D273"/>
                      </a:solidFill>
                      <a:prstDash val="solid"/>
                      <a:round/>
                      <a:headEnd len="sm" w="sm" type="none"/>
                      <a:tailEnd len="sm" w="sm" type="none"/>
                    </a:lnB>
                  </a:tcPr>
                </a:tc>
              </a:tr>
            </a:tbl>
          </a:graphicData>
        </a:graphic>
      </p:graphicFrame>
      <p:sp>
        <p:nvSpPr>
          <p:cNvPr id="352" name="Google Shape;352;p12"/>
          <p:cNvSpPr txBox="1"/>
          <p:nvPr/>
        </p:nvSpPr>
        <p:spPr>
          <a:xfrm>
            <a:off x="1444757" y="334778"/>
            <a:ext cx="4362928" cy="259045"/>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0" i="0" lang="es-ES" sz="1600">
                <a:solidFill>
                  <a:srgbClr val="38B3BF"/>
                </a:solidFill>
                <a:latin typeface="Verdana"/>
                <a:ea typeface="Verdana"/>
                <a:cs typeface="Verdana"/>
                <a:sym typeface="Verdana"/>
              </a:rPr>
              <a:t>Mejorando la huella ecológica</a:t>
            </a:r>
            <a:endParaRPr b="0" i="0" sz="1600">
              <a:solidFill>
                <a:srgbClr val="20AAAF"/>
              </a:solidFill>
              <a:latin typeface="Verdana"/>
              <a:ea typeface="Verdana"/>
              <a:cs typeface="Verdana"/>
              <a:sym typeface="Verdana"/>
            </a:endParaRPr>
          </a:p>
        </p:txBody>
      </p:sp>
      <p:pic>
        <p:nvPicPr>
          <p:cNvPr id="353" name="Google Shape;353;p12"/>
          <p:cNvPicPr preferRelativeResize="0"/>
          <p:nvPr/>
        </p:nvPicPr>
        <p:blipFill rotWithShape="1">
          <a:blip r:embed="rId8">
            <a:alphaModFix/>
          </a:blip>
          <a:srcRect b="0" l="0" r="0" t="0"/>
          <a:stretch/>
        </p:blipFill>
        <p:spPr>
          <a:xfrm>
            <a:off x="787815" y="179610"/>
            <a:ext cx="651776" cy="608324"/>
          </a:xfrm>
          <a:prstGeom prst="rect">
            <a:avLst/>
          </a:prstGeom>
          <a:noFill/>
          <a:ln>
            <a:noFill/>
          </a:ln>
        </p:spPr>
      </p:pic>
      <p:pic>
        <p:nvPicPr>
          <p:cNvPr id="354" name="Google Shape;354;p12"/>
          <p:cNvPicPr preferRelativeResize="0"/>
          <p:nvPr/>
        </p:nvPicPr>
        <p:blipFill rotWithShape="1">
          <a:blip r:embed="rId7">
            <a:alphaModFix/>
          </a:blip>
          <a:srcRect b="-650" l="12311" r="12702" t="80989"/>
          <a:stretch/>
        </p:blipFill>
        <p:spPr>
          <a:xfrm>
            <a:off x="913578" y="2492186"/>
            <a:ext cx="3377487" cy="53551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2024-05-06T09:05:53Z</dcterms:created>
  <dc:creator>Alejandro Feijóo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2024-04-23T00:00:00Z</vt:filetime>
  </property>
  <property fmtid="{D5CDD505-2E9C-101B-9397-08002B2CF9AE}" pid="3" name="Creator">
    <vt:lpwstr>PowerPoint</vt:lpwstr>
  </property>
  <property fmtid="{D5CDD505-2E9C-101B-9397-08002B2CF9AE}" pid="4" name="LastSaved">
    <vt:filetime>2024-05-06T00:00:00Z</vt:filetime>
  </property>
  <property fmtid="{D5CDD505-2E9C-101B-9397-08002B2CF9AE}" pid="5" name="Producer">
    <vt:lpwstr>macOS Versión 14.4.1 (Compilación 23E224) Quartz PDFContext</vt:lpwstr>
  </property>
</Properties>
</file>