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1" d="100"/>
          <a:sy n="71" d="100"/>
        </p:scale>
        <p:origin x="672"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p>
        </p:txBody>
      </p:sp>
      <p:sp>
        <p:nvSpPr>
          <p:cNvPr id="3" name="Subtítulo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editar el estilo de subtítulo del patrón</a:t>
            </a:r>
          </a:p>
        </p:txBody>
      </p:sp>
      <p:sp>
        <p:nvSpPr>
          <p:cNvPr id="4" name="Marcador de fecha 3"/>
          <p:cNvSpPr>
            <a:spLocks noGrp="1"/>
          </p:cNvSpPr>
          <p:nvPr>
            <p:ph type="dt" sz="half" idx="10"/>
          </p:nvPr>
        </p:nvSpPr>
        <p:spPr/>
        <p:txBody>
          <a:bodyPr/>
          <a:lstStyle/>
          <a:p>
            <a:fld id="{DB5F4265-6385-41ED-B57F-50060633282C}" type="datetimeFigureOut">
              <a:rPr lang="es-ES" smtClean="0"/>
              <a:t>17/09/2026</a:t>
            </a:fld>
            <a:endParaRPr lang="es-ES"/>
          </a:p>
        </p:txBody>
      </p:sp>
      <p:sp>
        <p:nvSpPr>
          <p:cNvPr id="5" name="Marcador de pie de página 4"/>
          <p:cNvSpPr>
            <a:spLocks noGrp="1"/>
          </p:cNvSpPr>
          <p:nvPr>
            <p:ph type="ftr" sz="quarter" idx="11"/>
          </p:nvPr>
        </p:nvSpPr>
        <p:spPr/>
        <p:txBody>
          <a:bodyPr/>
          <a:lstStyle/>
          <a:p>
            <a:endParaRPr lang="es-ES"/>
          </a:p>
        </p:txBody>
      </p:sp>
      <p:sp>
        <p:nvSpPr>
          <p:cNvPr id="6" name="Marcador de número de diapositiva 5"/>
          <p:cNvSpPr>
            <a:spLocks noGrp="1"/>
          </p:cNvSpPr>
          <p:nvPr>
            <p:ph type="sldNum" sz="quarter" idx="12"/>
          </p:nvPr>
        </p:nvSpPr>
        <p:spPr/>
        <p:txBody>
          <a:bodyPr/>
          <a:lstStyle/>
          <a:p>
            <a:fld id="{21164975-28A8-48D5-854F-6F165DEF4DF6}" type="slidenum">
              <a:rPr lang="es-ES" smtClean="0"/>
              <a:t>‹Nº›</a:t>
            </a:fld>
            <a:endParaRPr lang="es-ES"/>
          </a:p>
        </p:txBody>
      </p:sp>
    </p:spTree>
    <p:extLst>
      <p:ext uri="{BB962C8B-B14F-4D97-AF65-F5344CB8AC3E}">
        <p14:creationId xmlns:p14="http://schemas.microsoft.com/office/powerpoint/2010/main" val="37292353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t>Haga clic para modificar el estilo de título del patrón</a:t>
            </a:r>
          </a:p>
        </p:txBody>
      </p:sp>
      <p:sp>
        <p:nvSpPr>
          <p:cNvPr id="3" name="Marcador de contenido 2"/>
          <p:cNvSpPr>
            <a:spLocks noGrp="1"/>
          </p:cNvSpPr>
          <p:nvPr>
            <p:ph idx="1"/>
          </p:nvPr>
        </p:nvSpPr>
        <p:spPr/>
        <p:txBody>
          <a:bodyPr/>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p:cNvSpPr>
            <a:spLocks noGrp="1"/>
          </p:cNvSpPr>
          <p:nvPr>
            <p:ph type="dt" sz="half" idx="10"/>
          </p:nvPr>
        </p:nvSpPr>
        <p:spPr/>
        <p:txBody>
          <a:bodyPr/>
          <a:lstStyle/>
          <a:p>
            <a:fld id="{DB5F4265-6385-41ED-B57F-50060633282C}" type="datetimeFigureOut">
              <a:rPr lang="es-ES" smtClean="0"/>
              <a:t>17/09/2026</a:t>
            </a:fld>
            <a:endParaRPr lang="es-ES"/>
          </a:p>
        </p:txBody>
      </p:sp>
      <p:sp>
        <p:nvSpPr>
          <p:cNvPr id="5" name="Marcador de pie de página 4"/>
          <p:cNvSpPr>
            <a:spLocks noGrp="1"/>
          </p:cNvSpPr>
          <p:nvPr>
            <p:ph type="ftr" sz="quarter" idx="11"/>
          </p:nvPr>
        </p:nvSpPr>
        <p:spPr/>
        <p:txBody>
          <a:bodyPr/>
          <a:lstStyle/>
          <a:p>
            <a:endParaRPr lang="es-ES"/>
          </a:p>
        </p:txBody>
      </p:sp>
      <p:sp>
        <p:nvSpPr>
          <p:cNvPr id="6" name="Marcador de número de diapositiva 5"/>
          <p:cNvSpPr>
            <a:spLocks noGrp="1"/>
          </p:cNvSpPr>
          <p:nvPr>
            <p:ph type="sldNum" sz="quarter" idx="12"/>
          </p:nvPr>
        </p:nvSpPr>
        <p:spPr/>
        <p:txBody>
          <a:bodyPr/>
          <a:lstStyle/>
          <a:p>
            <a:fld id="{21164975-28A8-48D5-854F-6F165DEF4DF6}" type="slidenum">
              <a:rPr lang="es-ES" smtClean="0"/>
              <a:t>‹Nº›</a:t>
            </a:fld>
            <a:endParaRPr lang="es-ES"/>
          </a:p>
        </p:txBody>
      </p:sp>
    </p:spTree>
    <p:extLst>
      <p:ext uri="{BB962C8B-B14F-4D97-AF65-F5344CB8AC3E}">
        <p14:creationId xmlns:p14="http://schemas.microsoft.com/office/powerpoint/2010/main" val="16611304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p>
        </p:txBody>
      </p:sp>
      <p:sp>
        <p:nvSpPr>
          <p:cNvPr id="3" name="Marcador de texto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Editar el estilo de texto del patrón</a:t>
            </a:r>
          </a:p>
        </p:txBody>
      </p:sp>
      <p:sp>
        <p:nvSpPr>
          <p:cNvPr id="4" name="Marcador de fecha 3"/>
          <p:cNvSpPr>
            <a:spLocks noGrp="1"/>
          </p:cNvSpPr>
          <p:nvPr>
            <p:ph type="dt" sz="half" idx="10"/>
          </p:nvPr>
        </p:nvSpPr>
        <p:spPr/>
        <p:txBody>
          <a:bodyPr/>
          <a:lstStyle/>
          <a:p>
            <a:fld id="{DB5F4265-6385-41ED-B57F-50060633282C}" type="datetimeFigureOut">
              <a:rPr lang="es-ES" smtClean="0"/>
              <a:t>17/09/2026</a:t>
            </a:fld>
            <a:endParaRPr lang="es-ES"/>
          </a:p>
        </p:txBody>
      </p:sp>
      <p:sp>
        <p:nvSpPr>
          <p:cNvPr id="5" name="Marcador de pie de página 4"/>
          <p:cNvSpPr>
            <a:spLocks noGrp="1"/>
          </p:cNvSpPr>
          <p:nvPr>
            <p:ph type="ftr" sz="quarter" idx="11"/>
          </p:nvPr>
        </p:nvSpPr>
        <p:spPr/>
        <p:txBody>
          <a:bodyPr/>
          <a:lstStyle/>
          <a:p>
            <a:endParaRPr lang="es-ES"/>
          </a:p>
        </p:txBody>
      </p:sp>
      <p:sp>
        <p:nvSpPr>
          <p:cNvPr id="6" name="Marcador de número de diapositiva 5"/>
          <p:cNvSpPr>
            <a:spLocks noGrp="1"/>
          </p:cNvSpPr>
          <p:nvPr>
            <p:ph type="sldNum" sz="quarter" idx="12"/>
          </p:nvPr>
        </p:nvSpPr>
        <p:spPr/>
        <p:txBody>
          <a:bodyPr/>
          <a:lstStyle/>
          <a:p>
            <a:fld id="{21164975-28A8-48D5-854F-6F165DEF4DF6}" type="slidenum">
              <a:rPr lang="es-ES" smtClean="0"/>
              <a:t>‹Nº›</a:t>
            </a:fld>
            <a:endParaRPr lang="es-ES"/>
          </a:p>
        </p:txBody>
      </p:sp>
    </p:spTree>
    <p:extLst>
      <p:ext uri="{BB962C8B-B14F-4D97-AF65-F5344CB8AC3E}">
        <p14:creationId xmlns:p14="http://schemas.microsoft.com/office/powerpoint/2010/main" val="34534723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t>Haga clic para modificar el estilo de título del patrón</a:t>
            </a:r>
          </a:p>
        </p:txBody>
      </p:sp>
      <p:sp>
        <p:nvSpPr>
          <p:cNvPr id="3" name="Marcador de contenido 2"/>
          <p:cNvSpPr>
            <a:spLocks noGrp="1"/>
          </p:cNvSpPr>
          <p:nvPr>
            <p:ph sz="half" idx="1"/>
          </p:nvPr>
        </p:nvSpPr>
        <p:spPr>
          <a:xfrm>
            <a:off x="838200" y="1825625"/>
            <a:ext cx="5181600" cy="4351338"/>
          </a:xfrm>
        </p:spPr>
        <p:txBody>
          <a:bodyPr/>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contenido 3"/>
          <p:cNvSpPr>
            <a:spLocks noGrp="1"/>
          </p:cNvSpPr>
          <p:nvPr>
            <p:ph sz="half" idx="2"/>
          </p:nvPr>
        </p:nvSpPr>
        <p:spPr>
          <a:xfrm>
            <a:off x="6172200" y="1825625"/>
            <a:ext cx="5181600" cy="4351338"/>
          </a:xfrm>
        </p:spPr>
        <p:txBody>
          <a:bodyPr/>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fecha 4"/>
          <p:cNvSpPr>
            <a:spLocks noGrp="1"/>
          </p:cNvSpPr>
          <p:nvPr>
            <p:ph type="dt" sz="half" idx="10"/>
          </p:nvPr>
        </p:nvSpPr>
        <p:spPr/>
        <p:txBody>
          <a:bodyPr/>
          <a:lstStyle/>
          <a:p>
            <a:fld id="{DB5F4265-6385-41ED-B57F-50060633282C}" type="datetimeFigureOut">
              <a:rPr lang="es-ES" smtClean="0"/>
              <a:t>17/09/2026</a:t>
            </a:fld>
            <a:endParaRPr lang="es-ES"/>
          </a:p>
        </p:txBody>
      </p:sp>
      <p:sp>
        <p:nvSpPr>
          <p:cNvPr id="6" name="Marcador de pie de página 5"/>
          <p:cNvSpPr>
            <a:spLocks noGrp="1"/>
          </p:cNvSpPr>
          <p:nvPr>
            <p:ph type="ftr" sz="quarter" idx="11"/>
          </p:nvPr>
        </p:nvSpPr>
        <p:spPr/>
        <p:txBody>
          <a:bodyPr/>
          <a:lstStyle/>
          <a:p>
            <a:endParaRPr lang="es-ES"/>
          </a:p>
        </p:txBody>
      </p:sp>
      <p:sp>
        <p:nvSpPr>
          <p:cNvPr id="7" name="Marcador de número de diapositiva 6"/>
          <p:cNvSpPr>
            <a:spLocks noGrp="1"/>
          </p:cNvSpPr>
          <p:nvPr>
            <p:ph type="sldNum" sz="quarter" idx="12"/>
          </p:nvPr>
        </p:nvSpPr>
        <p:spPr/>
        <p:txBody>
          <a:bodyPr/>
          <a:lstStyle/>
          <a:p>
            <a:fld id="{21164975-28A8-48D5-854F-6F165DEF4DF6}" type="slidenum">
              <a:rPr lang="es-ES" smtClean="0"/>
              <a:t>‹Nº›</a:t>
            </a:fld>
            <a:endParaRPr lang="es-ES"/>
          </a:p>
        </p:txBody>
      </p:sp>
    </p:spTree>
    <p:extLst>
      <p:ext uri="{BB962C8B-B14F-4D97-AF65-F5344CB8AC3E}">
        <p14:creationId xmlns:p14="http://schemas.microsoft.com/office/powerpoint/2010/main" val="17504732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p:cNvSpPr>
            <a:spLocks noGrp="1"/>
          </p:cNvSpPr>
          <p:nvPr>
            <p:ph type="title"/>
          </p:nvPr>
        </p:nvSpPr>
        <p:spPr>
          <a:xfrm>
            <a:off x="839788" y="365125"/>
            <a:ext cx="10515600" cy="1325563"/>
          </a:xfrm>
        </p:spPr>
        <p:txBody>
          <a:bodyPr/>
          <a:lstStyle/>
          <a:p>
            <a:r>
              <a:rPr lang="es-ES"/>
              <a:t>Haga clic para modificar el estilo de título del patrón</a:t>
            </a:r>
          </a:p>
        </p:txBody>
      </p:sp>
      <p:sp>
        <p:nvSpPr>
          <p:cNvPr id="3" name="Marcador de texto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Editar el estilo de texto del patrón</a:t>
            </a:r>
          </a:p>
        </p:txBody>
      </p:sp>
      <p:sp>
        <p:nvSpPr>
          <p:cNvPr id="4" name="Marcador de contenido 3"/>
          <p:cNvSpPr>
            <a:spLocks noGrp="1"/>
          </p:cNvSpPr>
          <p:nvPr>
            <p:ph sz="half" idx="2"/>
          </p:nvPr>
        </p:nvSpPr>
        <p:spPr>
          <a:xfrm>
            <a:off x="839788" y="2505075"/>
            <a:ext cx="5157787" cy="3684588"/>
          </a:xfrm>
        </p:spPr>
        <p:txBody>
          <a:bodyPr/>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texto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Editar el estilo de texto del patrón</a:t>
            </a:r>
          </a:p>
        </p:txBody>
      </p:sp>
      <p:sp>
        <p:nvSpPr>
          <p:cNvPr id="6" name="Marcador de contenido 5"/>
          <p:cNvSpPr>
            <a:spLocks noGrp="1"/>
          </p:cNvSpPr>
          <p:nvPr>
            <p:ph sz="quarter" idx="4"/>
          </p:nvPr>
        </p:nvSpPr>
        <p:spPr>
          <a:xfrm>
            <a:off x="6172200" y="2505075"/>
            <a:ext cx="5183188" cy="3684588"/>
          </a:xfrm>
        </p:spPr>
        <p:txBody>
          <a:bodyPr/>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p>
        </p:txBody>
      </p:sp>
      <p:sp>
        <p:nvSpPr>
          <p:cNvPr id="7" name="Marcador de fecha 6"/>
          <p:cNvSpPr>
            <a:spLocks noGrp="1"/>
          </p:cNvSpPr>
          <p:nvPr>
            <p:ph type="dt" sz="half" idx="10"/>
          </p:nvPr>
        </p:nvSpPr>
        <p:spPr/>
        <p:txBody>
          <a:bodyPr/>
          <a:lstStyle/>
          <a:p>
            <a:fld id="{DB5F4265-6385-41ED-B57F-50060633282C}" type="datetimeFigureOut">
              <a:rPr lang="es-ES" smtClean="0"/>
              <a:t>17/09/2026</a:t>
            </a:fld>
            <a:endParaRPr lang="es-ES"/>
          </a:p>
        </p:txBody>
      </p:sp>
      <p:sp>
        <p:nvSpPr>
          <p:cNvPr id="8" name="Marcador de pie de página 7"/>
          <p:cNvSpPr>
            <a:spLocks noGrp="1"/>
          </p:cNvSpPr>
          <p:nvPr>
            <p:ph type="ftr" sz="quarter" idx="11"/>
          </p:nvPr>
        </p:nvSpPr>
        <p:spPr/>
        <p:txBody>
          <a:bodyPr/>
          <a:lstStyle/>
          <a:p>
            <a:endParaRPr lang="es-ES"/>
          </a:p>
        </p:txBody>
      </p:sp>
      <p:sp>
        <p:nvSpPr>
          <p:cNvPr id="9" name="Marcador de número de diapositiva 8"/>
          <p:cNvSpPr>
            <a:spLocks noGrp="1"/>
          </p:cNvSpPr>
          <p:nvPr>
            <p:ph type="sldNum" sz="quarter" idx="12"/>
          </p:nvPr>
        </p:nvSpPr>
        <p:spPr/>
        <p:txBody>
          <a:bodyPr/>
          <a:lstStyle/>
          <a:p>
            <a:fld id="{21164975-28A8-48D5-854F-6F165DEF4DF6}" type="slidenum">
              <a:rPr lang="es-ES" smtClean="0"/>
              <a:t>‹Nº›</a:t>
            </a:fld>
            <a:endParaRPr lang="es-ES"/>
          </a:p>
        </p:txBody>
      </p:sp>
    </p:spTree>
    <p:extLst>
      <p:ext uri="{BB962C8B-B14F-4D97-AF65-F5344CB8AC3E}">
        <p14:creationId xmlns:p14="http://schemas.microsoft.com/office/powerpoint/2010/main" val="2947840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t>Haga clic para modificar el estilo de título del patrón</a:t>
            </a:r>
          </a:p>
        </p:txBody>
      </p:sp>
      <p:sp>
        <p:nvSpPr>
          <p:cNvPr id="3" name="Marcador de fecha 2"/>
          <p:cNvSpPr>
            <a:spLocks noGrp="1"/>
          </p:cNvSpPr>
          <p:nvPr>
            <p:ph type="dt" sz="half" idx="10"/>
          </p:nvPr>
        </p:nvSpPr>
        <p:spPr/>
        <p:txBody>
          <a:bodyPr/>
          <a:lstStyle/>
          <a:p>
            <a:fld id="{DB5F4265-6385-41ED-B57F-50060633282C}" type="datetimeFigureOut">
              <a:rPr lang="es-ES" smtClean="0"/>
              <a:t>17/09/2026</a:t>
            </a:fld>
            <a:endParaRPr lang="es-ES"/>
          </a:p>
        </p:txBody>
      </p:sp>
      <p:sp>
        <p:nvSpPr>
          <p:cNvPr id="4" name="Marcador de pie de página 3"/>
          <p:cNvSpPr>
            <a:spLocks noGrp="1"/>
          </p:cNvSpPr>
          <p:nvPr>
            <p:ph type="ftr" sz="quarter" idx="11"/>
          </p:nvPr>
        </p:nvSpPr>
        <p:spPr/>
        <p:txBody>
          <a:bodyPr/>
          <a:lstStyle/>
          <a:p>
            <a:endParaRPr lang="es-ES"/>
          </a:p>
        </p:txBody>
      </p:sp>
      <p:sp>
        <p:nvSpPr>
          <p:cNvPr id="5" name="Marcador de número de diapositiva 4"/>
          <p:cNvSpPr>
            <a:spLocks noGrp="1"/>
          </p:cNvSpPr>
          <p:nvPr>
            <p:ph type="sldNum" sz="quarter" idx="12"/>
          </p:nvPr>
        </p:nvSpPr>
        <p:spPr/>
        <p:txBody>
          <a:bodyPr/>
          <a:lstStyle/>
          <a:p>
            <a:fld id="{21164975-28A8-48D5-854F-6F165DEF4DF6}" type="slidenum">
              <a:rPr lang="es-ES" smtClean="0"/>
              <a:t>‹Nº›</a:t>
            </a:fld>
            <a:endParaRPr lang="es-ES"/>
          </a:p>
        </p:txBody>
      </p:sp>
    </p:spTree>
    <p:extLst>
      <p:ext uri="{BB962C8B-B14F-4D97-AF65-F5344CB8AC3E}">
        <p14:creationId xmlns:p14="http://schemas.microsoft.com/office/powerpoint/2010/main" val="27090739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p:cNvSpPr>
            <a:spLocks noGrp="1"/>
          </p:cNvSpPr>
          <p:nvPr>
            <p:ph type="dt" sz="half" idx="10"/>
          </p:nvPr>
        </p:nvSpPr>
        <p:spPr/>
        <p:txBody>
          <a:bodyPr/>
          <a:lstStyle/>
          <a:p>
            <a:fld id="{DB5F4265-6385-41ED-B57F-50060633282C}" type="datetimeFigureOut">
              <a:rPr lang="es-ES" smtClean="0"/>
              <a:t>17/09/2026</a:t>
            </a:fld>
            <a:endParaRPr lang="es-ES"/>
          </a:p>
        </p:txBody>
      </p:sp>
      <p:sp>
        <p:nvSpPr>
          <p:cNvPr id="3" name="Marcador de pie de página 2"/>
          <p:cNvSpPr>
            <a:spLocks noGrp="1"/>
          </p:cNvSpPr>
          <p:nvPr>
            <p:ph type="ftr" sz="quarter" idx="11"/>
          </p:nvPr>
        </p:nvSpPr>
        <p:spPr/>
        <p:txBody>
          <a:bodyPr/>
          <a:lstStyle/>
          <a:p>
            <a:endParaRPr lang="es-ES"/>
          </a:p>
        </p:txBody>
      </p:sp>
      <p:sp>
        <p:nvSpPr>
          <p:cNvPr id="4" name="Marcador de número de diapositiva 3"/>
          <p:cNvSpPr>
            <a:spLocks noGrp="1"/>
          </p:cNvSpPr>
          <p:nvPr>
            <p:ph type="sldNum" sz="quarter" idx="12"/>
          </p:nvPr>
        </p:nvSpPr>
        <p:spPr/>
        <p:txBody>
          <a:bodyPr/>
          <a:lstStyle/>
          <a:p>
            <a:fld id="{21164975-28A8-48D5-854F-6F165DEF4DF6}" type="slidenum">
              <a:rPr lang="es-ES" smtClean="0"/>
              <a:t>‹Nº›</a:t>
            </a:fld>
            <a:endParaRPr lang="es-ES"/>
          </a:p>
        </p:txBody>
      </p:sp>
    </p:spTree>
    <p:extLst>
      <p:ext uri="{BB962C8B-B14F-4D97-AF65-F5344CB8AC3E}">
        <p14:creationId xmlns:p14="http://schemas.microsoft.com/office/powerpoint/2010/main" val="13957724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contenido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texto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Editar el estilo de texto del patrón</a:t>
            </a:r>
          </a:p>
        </p:txBody>
      </p:sp>
      <p:sp>
        <p:nvSpPr>
          <p:cNvPr id="5" name="Marcador de fecha 4"/>
          <p:cNvSpPr>
            <a:spLocks noGrp="1"/>
          </p:cNvSpPr>
          <p:nvPr>
            <p:ph type="dt" sz="half" idx="10"/>
          </p:nvPr>
        </p:nvSpPr>
        <p:spPr/>
        <p:txBody>
          <a:bodyPr/>
          <a:lstStyle/>
          <a:p>
            <a:fld id="{DB5F4265-6385-41ED-B57F-50060633282C}" type="datetimeFigureOut">
              <a:rPr lang="es-ES" smtClean="0"/>
              <a:t>17/09/2026</a:t>
            </a:fld>
            <a:endParaRPr lang="es-ES"/>
          </a:p>
        </p:txBody>
      </p:sp>
      <p:sp>
        <p:nvSpPr>
          <p:cNvPr id="6" name="Marcador de pie de página 5"/>
          <p:cNvSpPr>
            <a:spLocks noGrp="1"/>
          </p:cNvSpPr>
          <p:nvPr>
            <p:ph type="ftr" sz="quarter" idx="11"/>
          </p:nvPr>
        </p:nvSpPr>
        <p:spPr/>
        <p:txBody>
          <a:bodyPr/>
          <a:lstStyle/>
          <a:p>
            <a:endParaRPr lang="es-ES"/>
          </a:p>
        </p:txBody>
      </p:sp>
      <p:sp>
        <p:nvSpPr>
          <p:cNvPr id="7" name="Marcador de número de diapositiva 6"/>
          <p:cNvSpPr>
            <a:spLocks noGrp="1"/>
          </p:cNvSpPr>
          <p:nvPr>
            <p:ph type="sldNum" sz="quarter" idx="12"/>
          </p:nvPr>
        </p:nvSpPr>
        <p:spPr/>
        <p:txBody>
          <a:bodyPr/>
          <a:lstStyle/>
          <a:p>
            <a:fld id="{21164975-28A8-48D5-854F-6F165DEF4DF6}" type="slidenum">
              <a:rPr lang="es-ES" smtClean="0"/>
              <a:t>‹Nº›</a:t>
            </a:fld>
            <a:endParaRPr lang="es-ES"/>
          </a:p>
        </p:txBody>
      </p:sp>
    </p:spTree>
    <p:extLst>
      <p:ext uri="{BB962C8B-B14F-4D97-AF65-F5344CB8AC3E}">
        <p14:creationId xmlns:p14="http://schemas.microsoft.com/office/powerpoint/2010/main" val="34299050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posición de imagen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ES"/>
          </a:p>
        </p:txBody>
      </p:sp>
      <p:sp>
        <p:nvSpPr>
          <p:cNvPr id="4" name="Marcador de texto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Editar el estilo de texto del patrón</a:t>
            </a:r>
          </a:p>
        </p:txBody>
      </p:sp>
      <p:sp>
        <p:nvSpPr>
          <p:cNvPr id="5" name="Marcador de fecha 4"/>
          <p:cNvSpPr>
            <a:spLocks noGrp="1"/>
          </p:cNvSpPr>
          <p:nvPr>
            <p:ph type="dt" sz="half" idx="10"/>
          </p:nvPr>
        </p:nvSpPr>
        <p:spPr/>
        <p:txBody>
          <a:bodyPr/>
          <a:lstStyle/>
          <a:p>
            <a:fld id="{DB5F4265-6385-41ED-B57F-50060633282C}" type="datetimeFigureOut">
              <a:rPr lang="es-ES" smtClean="0"/>
              <a:t>17/09/2026</a:t>
            </a:fld>
            <a:endParaRPr lang="es-ES"/>
          </a:p>
        </p:txBody>
      </p:sp>
      <p:sp>
        <p:nvSpPr>
          <p:cNvPr id="6" name="Marcador de pie de página 5"/>
          <p:cNvSpPr>
            <a:spLocks noGrp="1"/>
          </p:cNvSpPr>
          <p:nvPr>
            <p:ph type="ftr" sz="quarter" idx="11"/>
          </p:nvPr>
        </p:nvSpPr>
        <p:spPr/>
        <p:txBody>
          <a:bodyPr/>
          <a:lstStyle/>
          <a:p>
            <a:endParaRPr lang="es-ES"/>
          </a:p>
        </p:txBody>
      </p:sp>
      <p:sp>
        <p:nvSpPr>
          <p:cNvPr id="7" name="Marcador de número de diapositiva 6"/>
          <p:cNvSpPr>
            <a:spLocks noGrp="1"/>
          </p:cNvSpPr>
          <p:nvPr>
            <p:ph type="sldNum" sz="quarter" idx="12"/>
          </p:nvPr>
        </p:nvSpPr>
        <p:spPr/>
        <p:txBody>
          <a:bodyPr/>
          <a:lstStyle/>
          <a:p>
            <a:fld id="{21164975-28A8-48D5-854F-6F165DEF4DF6}" type="slidenum">
              <a:rPr lang="es-ES" smtClean="0"/>
              <a:t>‹Nº›</a:t>
            </a:fld>
            <a:endParaRPr lang="es-ES"/>
          </a:p>
        </p:txBody>
      </p:sp>
    </p:spTree>
    <p:extLst>
      <p:ext uri="{BB962C8B-B14F-4D97-AF65-F5344CB8AC3E}">
        <p14:creationId xmlns:p14="http://schemas.microsoft.com/office/powerpoint/2010/main" val="64328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t>Haga clic para modificar el estilo de título del patrón</a:t>
            </a:r>
          </a:p>
        </p:txBody>
      </p:sp>
      <p:sp>
        <p:nvSpPr>
          <p:cNvPr id="3" name="Marcador de texto vertical 2"/>
          <p:cNvSpPr>
            <a:spLocks noGrp="1"/>
          </p:cNvSpPr>
          <p:nvPr>
            <p:ph type="body" orient="vert" idx="1"/>
          </p:nvPr>
        </p:nvSpPr>
        <p:spPr/>
        <p:txBody>
          <a:bodyPr vert="eaVert"/>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p:cNvSpPr>
            <a:spLocks noGrp="1"/>
          </p:cNvSpPr>
          <p:nvPr>
            <p:ph type="dt" sz="half" idx="10"/>
          </p:nvPr>
        </p:nvSpPr>
        <p:spPr/>
        <p:txBody>
          <a:bodyPr/>
          <a:lstStyle/>
          <a:p>
            <a:fld id="{DB5F4265-6385-41ED-B57F-50060633282C}" type="datetimeFigureOut">
              <a:rPr lang="es-ES" smtClean="0"/>
              <a:t>17/09/2026</a:t>
            </a:fld>
            <a:endParaRPr lang="es-ES"/>
          </a:p>
        </p:txBody>
      </p:sp>
      <p:sp>
        <p:nvSpPr>
          <p:cNvPr id="5" name="Marcador de pie de página 4"/>
          <p:cNvSpPr>
            <a:spLocks noGrp="1"/>
          </p:cNvSpPr>
          <p:nvPr>
            <p:ph type="ftr" sz="quarter" idx="11"/>
          </p:nvPr>
        </p:nvSpPr>
        <p:spPr/>
        <p:txBody>
          <a:bodyPr/>
          <a:lstStyle/>
          <a:p>
            <a:endParaRPr lang="es-ES"/>
          </a:p>
        </p:txBody>
      </p:sp>
      <p:sp>
        <p:nvSpPr>
          <p:cNvPr id="6" name="Marcador de número de diapositiva 5"/>
          <p:cNvSpPr>
            <a:spLocks noGrp="1"/>
          </p:cNvSpPr>
          <p:nvPr>
            <p:ph type="sldNum" sz="quarter" idx="12"/>
          </p:nvPr>
        </p:nvSpPr>
        <p:spPr/>
        <p:txBody>
          <a:bodyPr/>
          <a:lstStyle/>
          <a:p>
            <a:fld id="{21164975-28A8-48D5-854F-6F165DEF4DF6}" type="slidenum">
              <a:rPr lang="es-ES" smtClean="0"/>
              <a:t>‹Nº›</a:t>
            </a:fld>
            <a:endParaRPr lang="es-ES"/>
          </a:p>
        </p:txBody>
      </p:sp>
    </p:spTree>
    <p:extLst>
      <p:ext uri="{BB962C8B-B14F-4D97-AF65-F5344CB8AC3E}">
        <p14:creationId xmlns:p14="http://schemas.microsoft.com/office/powerpoint/2010/main" val="21422483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p:cNvSpPr>
            <a:spLocks noGrp="1"/>
          </p:cNvSpPr>
          <p:nvPr>
            <p:ph type="title" orient="vert"/>
          </p:nvPr>
        </p:nvSpPr>
        <p:spPr>
          <a:xfrm>
            <a:off x="8724900" y="365125"/>
            <a:ext cx="2628900" cy="5811838"/>
          </a:xfrm>
        </p:spPr>
        <p:txBody>
          <a:bodyPr vert="eaVert"/>
          <a:lstStyle/>
          <a:p>
            <a:r>
              <a:rPr lang="es-ES"/>
              <a:t>Haga clic para modificar el estilo de título del patrón</a:t>
            </a:r>
          </a:p>
        </p:txBody>
      </p:sp>
      <p:sp>
        <p:nvSpPr>
          <p:cNvPr id="3" name="Marcador de texto vertical 2"/>
          <p:cNvSpPr>
            <a:spLocks noGrp="1"/>
          </p:cNvSpPr>
          <p:nvPr>
            <p:ph type="body" orient="vert" idx="1"/>
          </p:nvPr>
        </p:nvSpPr>
        <p:spPr>
          <a:xfrm>
            <a:off x="838200" y="365125"/>
            <a:ext cx="7734300" cy="5811838"/>
          </a:xfrm>
        </p:spPr>
        <p:txBody>
          <a:bodyPr vert="eaVert"/>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p:cNvSpPr>
            <a:spLocks noGrp="1"/>
          </p:cNvSpPr>
          <p:nvPr>
            <p:ph type="dt" sz="half" idx="10"/>
          </p:nvPr>
        </p:nvSpPr>
        <p:spPr/>
        <p:txBody>
          <a:bodyPr/>
          <a:lstStyle/>
          <a:p>
            <a:fld id="{DB5F4265-6385-41ED-B57F-50060633282C}" type="datetimeFigureOut">
              <a:rPr lang="es-ES" smtClean="0"/>
              <a:t>17/09/2026</a:t>
            </a:fld>
            <a:endParaRPr lang="es-ES"/>
          </a:p>
        </p:txBody>
      </p:sp>
      <p:sp>
        <p:nvSpPr>
          <p:cNvPr id="5" name="Marcador de pie de página 4"/>
          <p:cNvSpPr>
            <a:spLocks noGrp="1"/>
          </p:cNvSpPr>
          <p:nvPr>
            <p:ph type="ftr" sz="quarter" idx="11"/>
          </p:nvPr>
        </p:nvSpPr>
        <p:spPr/>
        <p:txBody>
          <a:bodyPr/>
          <a:lstStyle/>
          <a:p>
            <a:endParaRPr lang="es-ES"/>
          </a:p>
        </p:txBody>
      </p:sp>
      <p:sp>
        <p:nvSpPr>
          <p:cNvPr id="6" name="Marcador de número de diapositiva 5"/>
          <p:cNvSpPr>
            <a:spLocks noGrp="1"/>
          </p:cNvSpPr>
          <p:nvPr>
            <p:ph type="sldNum" sz="quarter" idx="12"/>
          </p:nvPr>
        </p:nvSpPr>
        <p:spPr/>
        <p:txBody>
          <a:bodyPr/>
          <a:lstStyle/>
          <a:p>
            <a:fld id="{21164975-28A8-48D5-854F-6F165DEF4DF6}" type="slidenum">
              <a:rPr lang="es-ES" smtClean="0"/>
              <a:t>‹Nº›</a:t>
            </a:fld>
            <a:endParaRPr lang="es-ES"/>
          </a:p>
        </p:txBody>
      </p:sp>
    </p:spTree>
    <p:extLst>
      <p:ext uri="{BB962C8B-B14F-4D97-AF65-F5344CB8AC3E}">
        <p14:creationId xmlns:p14="http://schemas.microsoft.com/office/powerpoint/2010/main" val="13534840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p>
        </p:txBody>
      </p:sp>
      <p:sp>
        <p:nvSpPr>
          <p:cNvPr id="3" name="Marcador de texto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B5F4265-6385-41ED-B57F-50060633282C}" type="datetimeFigureOut">
              <a:rPr lang="es-ES" smtClean="0"/>
              <a:t>17/09/2026</a:t>
            </a:fld>
            <a:endParaRPr lang="es-ES"/>
          </a:p>
        </p:txBody>
      </p:sp>
      <p:sp>
        <p:nvSpPr>
          <p:cNvPr id="5" name="Marcador de pie de página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ES"/>
          </a:p>
        </p:txBody>
      </p:sp>
      <p:sp>
        <p:nvSpPr>
          <p:cNvPr id="6" name="Marcador de número de diapositiva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1164975-28A8-48D5-854F-6F165DEF4DF6}" type="slidenum">
              <a:rPr lang="es-ES" smtClean="0"/>
              <a:t>‹Nº›</a:t>
            </a:fld>
            <a:endParaRPr lang="es-ES"/>
          </a:p>
        </p:txBody>
      </p:sp>
    </p:spTree>
    <p:extLst>
      <p:ext uri="{BB962C8B-B14F-4D97-AF65-F5344CB8AC3E}">
        <p14:creationId xmlns:p14="http://schemas.microsoft.com/office/powerpoint/2010/main" val="30794376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pPr algn="ctr"/>
            <a:r>
              <a:rPr lang="es-ES" b="1" dirty="0"/>
              <a:t>1.- Características de la programación web </a:t>
            </a:r>
          </a:p>
        </p:txBody>
      </p:sp>
      <p:sp>
        <p:nvSpPr>
          <p:cNvPr id="4" name="Marcador de contenido 3"/>
          <p:cNvSpPr>
            <a:spLocks noGrp="1"/>
          </p:cNvSpPr>
          <p:nvPr>
            <p:ph idx="1"/>
          </p:nvPr>
        </p:nvSpPr>
        <p:spPr/>
        <p:txBody>
          <a:bodyPr/>
          <a:lstStyle/>
          <a:p>
            <a:pPr marL="0" indent="0" algn="just">
              <a:buNone/>
            </a:pPr>
            <a:r>
              <a:rPr lang="es-ES" dirty="0"/>
              <a:t>Cuando una página web se descarga a tu ordenador, su contenido define qué se debe mostrar en pantalla. Este contenido está programado en HTML o XHTML.</a:t>
            </a:r>
          </a:p>
          <a:p>
            <a:pPr marL="0" indent="0" algn="just">
              <a:buNone/>
            </a:pPr>
            <a:endParaRPr lang="es-ES" dirty="0"/>
          </a:p>
          <a:p>
            <a:pPr marL="0" indent="0" algn="just">
              <a:buNone/>
            </a:pPr>
            <a:r>
              <a:rPr lang="es-ES" dirty="0"/>
              <a:t>Además, la información que le indica al navegador el estilo con que se debe mostrar cada parte de la página estará almacenado en otro fichero, una hoja de estilos o CSS.</a:t>
            </a:r>
          </a:p>
        </p:txBody>
      </p:sp>
    </p:spTree>
    <p:extLst>
      <p:ext uri="{BB962C8B-B14F-4D97-AF65-F5344CB8AC3E}">
        <p14:creationId xmlns:p14="http://schemas.microsoft.com/office/powerpoint/2010/main" val="10265961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p:cNvPicPr>
            <a:picLocks noChangeAspect="1"/>
          </p:cNvPicPr>
          <p:nvPr/>
        </p:nvPicPr>
        <p:blipFill>
          <a:blip r:embed="rId2"/>
          <a:stretch>
            <a:fillRect/>
          </a:stretch>
        </p:blipFill>
        <p:spPr>
          <a:xfrm>
            <a:off x="2209257" y="1466576"/>
            <a:ext cx="7773485" cy="3924848"/>
          </a:xfrm>
          <a:prstGeom prst="rect">
            <a:avLst/>
          </a:prstGeom>
        </p:spPr>
      </p:pic>
      <p:sp>
        <p:nvSpPr>
          <p:cNvPr id="3" name="CuadroTexto 2">
            <a:extLst>
              <a:ext uri="{FF2B5EF4-FFF2-40B4-BE49-F238E27FC236}">
                <a16:creationId xmlns:a16="http://schemas.microsoft.com/office/drawing/2014/main" id="{234BD3CC-C0C6-F0BD-D788-75BE8D1219BC}"/>
              </a:ext>
            </a:extLst>
          </p:cNvPr>
          <p:cNvSpPr txBox="1"/>
          <p:nvPr/>
        </p:nvSpPr>
        <p:spPr>
          <a:xfrm>
            <a:off x="3603812" y="903643"/>
            <a:ext cx="4254649" cy="369332"/>
          </a:xfrm>
          <a:prstGeom prst="rect">
            <a:avLst/>
          </a:prstGeom>
          <a:noFill/>
        </p:spPr>
        <p:txBody>
          <a:bodyPr wrap="square" rtlCol="0">
            <a:spAutoFit/>
          </a:bodyPr>
          <a:lstStyle/>
          <a:p>
            <a:r>
              <a:rPr lang="es-ES" dirty="0"/>
              <a:t>PROCESO DE PÁGINAS WEB  DINÁMICAS</a:t>
            </a:r>
          </a:p>
        </p:txBody>
      </p:sp>
    </p:spTree>
    <p:extLst>
      <p:ext uri="{BB962C8B-B14F-4D97-AF65-F5344CB8AC3E}">
        <p14:creationId xmlns:p14="http://schemas.microsoft.com/office/powerpoint/2010/main" val="11222297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1D97EC-E53A-17B2-B1AF-EBC0C68789A3}"/>
              </a:ext>
            </a:extLst>
          </p:cNvPr>
          <p:cNvSpPr>
            <a:spLocks noGrp="1"/>
          </p:cNvSpPr>
          <p:nvPr>
            <p:ph type="title"/>
          </p:nvPr>
        </p:nvSpPr>
        <p:spPr/>
        <p:txBody>
          <a:bodyPr/>
          <a:lstStyle/>
          <a:p>
            <a:r>
              <a:rPr lang="es-ES" b="1" dirty="0"/>
              <a:t>1.1.- Páginas web estáticas y dinámicas</a:t>
            </a:r>
          </a:p>
        </p:txBody>
      </p:sp>
      <p:sp>
        <p:nvSpPr>
          <p:cNvPr id="3" name="CuadroTexto 2">
            <a:extLst>
              <a:ext uri="{FF2B5EF4-FFF2-40B4-BE49-F238E27FC236}">
                <a16:creationId xmlns:a16="http://schemas.microsoft.com/office/drawing/2014/main" id="{A913060E-820E-CCF5-E7E5-C53E4848F7DF}"/>
              </a:ext>
            </a:extLst>
          </p:cNvPr>
          <p:cNvSpPr txBox="1"/>
          <p:nvPr/>
        </p:nvSpPr>
        <p:spPr>
          <a:xfrm>
            <a:off x="1074420" y="2011680"/>
            <a:ext cx="10515600" cy="2031325"/>
          </a:xfrm>
          <a:prstGeom prst="rect">
            <a:avLst/>
          </a:prstGeom>
          <a:noFill/>
        </p:spPr>
        <p:txBody>
          <a:bodyPr wrap="square" rtlCol="0">
            <a:spAutoFit/>
          </a:bodyPr>
          <a:lstStyle/>
          <a:p>
            <a:pPr marL="285750" indent="-285750" algn="just">
              <a:buFont typeface="Wingdings" panose="05000000000000000000" pitchFamily="2" charset="2"/>
              <a:buChar char="ü"/>
            </a:pPr>
            <a:r>
              <a:rPr lang="es-ES" b="1" dirty="0">
                <a:solidFill>
                  <a:srgbClr val="FF0000"/>
                </a:solidFill>
              </a:rPr>
              <a:t>Páginas web estáticas</a:t>
            </a:r>
            <a:r>
              <a:rPr lang="es-ES" dirty="0"/>
              <a:t>: Son útiles para mostrar una información concreta, y mostrarán esa misma información cada vez que se carguen. La única forma en que pueden cambiar es si un programador la modifica y actualiza su contenido. </a:t>
            </a:r>
          </a:p>
          <a:p>
            <a:pPr marL="285750" indent="-285750" algn="just">
              <a:buFont typeface="Wingdings" panose="05000000000000000000" pitchFamily="2" charset="2"/>
              <a:buChar char="ü"/>
            </a:pPr>
            <a:endParaRPr lang="es-ES" dirty="0"/>
          </a:p>
          <a:p>
            <a:pPr marL="285750" indent="-285750" algn="just">
              <a:buFont typeface="Wingdings" panose="05000000000000000000" pitchFamily="2" charset="2"/>
              <a:buChar char="ü"/>
            </a:pPr>
            <a:r>
              <a:rPr lang="es-ES" b="1" dirty="0">
                <a:solidFill>
                  <a:srgbClr val="FF0000"/>
                </a:solidFill>
              </a:rPr>
              <a:t>Páginas web dinámicas</a:t>
            </a:r>
            <a:r>
              <a:rPr lang="es-ES" dirty="0"/>
              <a:t>: se caracterizan porque su contenido cambia en función de diversas variables, como puede ser el navegador que estás usando, el usuario con el que te has identificado, o las acciones que has efectuado con anterioridad. </a:t>
            </a:r>
          </a:p>
        </p:txBody>
      </p:sp>
    </p:spTree>
    <p:extLst>
      <p:ext uri="{BB962C8B-B14F-4D97-AF65-F5344CB8AC3E}">
        <p14:creationId xmlns:p14="http://schemas.microsoft.com/office/powerpoint/2010/main" val="16681816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80DCBA2-17B1-1F44-AD70-DCF43563E748}"/>
              </a:ext>
            </a:extLst>
          </p:cNvPr>
          <p:cNvSpPr>
            <a:spLocks noGrp="1"/>
          </p:cNvSpPr>
          <p:nvPr>
            <p:ph type="title"/>
          </p:nvPr>
        </p:nvSpPr>
        <p:spPr/>
        <p:txBody>
          <a:bodyPr/>
          <a:lstStyle/>
          <a:p>
            <a:pPr algn="ctr"/>
            <a:r>
              <a:rPr lang="es-ES" dirty="0"/>
              <a:t>TIPOS DE PÁGINAS WEB DINÁMICAS</a:t>
            </a:r>
          </a:p>
        </p:txBody>
      </p:sp>
      <p:pic>
        <p:nvPicPr>
          <p:cNvPr id="4" name="Imagen 3">
            <a:extLst>
              <a:ext uri="{FF2B5EF4-FFF2-40B4-BE49-F238E27FC236}">
                <a16:creationId xmlns:a16="http://schemas.microsoft.com/office/drawing/2014/main" id="{07606FFA-3B25-1D6A-7131-ABEB38B6E661}"/>
              </a:ext>
            </a:extLst>
          </p:cNvPr>
          <p:cNvPicPr>
            <a:picLocks noChangeAspect="1"/>
          </p:cNvPicPr>
          <p:nvPr/>
        </p:nvPicPr>
        <p:blipFill>
          <a:blip r:embed="rId2"/>
          <a:stretch>
            <a:fillRect/>
          </a:stretch>
        </p:blipFill>
        <p:spPr>
          <a:xfrm>
            <a:off x="3862107" y="1229452"/>
            <a:ext cx="4010585" cy="1629002"/>
          </a:xfrm>
          <a:prstGeom prst="rect">
            <a:avLst/>
          </a:prstGeom>
        </p:spPr>
      </p:pic>
      <p:sp>
        <p:nvSpPr>
          <p:cNvPr id="5" name="CuadroTexto 4">
            <a:extLst>
              <a:ext uri="{FF2B5EF4-FFF2-40B4-BE49-F238E27FC236}">
                <a16:creationId xmlns:a16="http://schemas.microsoft.com/office/drawing/2014/main" id="{A8A6D6E8-B91E-4EDD-79FF-1C05D69E65C6}"/>
              </a:ext>
            </a:extLst>
          </p:cNvPr>
          <p:cNvSpPr txBox="1"/>
          <p:nvPr/>
        </p:nvSpPr>
        <p:spPr>
          <a:xfrm>
            <a:off x="2484120" y="3025588"/>
            <a:ext cx="7223760" cy="3139321"/>
          </a:xfrm>
          <a:prstGeom prst="rect">
            <a:avLst/>
          </a:prstGeom>
          <a:noFill/>
        </p:spPr>
        <p:txBody>
          <a:bodyPr wrap="square" rtlCol="0">
            <a:spAutoFit/>
          </a:bodyPr>
          <a:lstStyle/>
          <a:p>
            <a:r>
              <a:rPr lang="es-ES" dirty="0"/>
              <a:t>Pasos:</a:t>
            </a:r>
          </a:p>
          <a:p>
            <a:pPr marL="800100" lvl="1" indent="-342900">
              <a:buFont typeface="+mj-lt"/>
              <a:buAutoNum type="arabicPeriod"/>
            </a:pPr>
            <a:r>
              <a:rPr lang="es-ES" dirty="0"/>
              <a:t>El cliente web (navegador) de tu ordenador solicita a un servidor una página web.</a:t>
            </a:r>
          </a:p>
          <a:p>
            <a:pPr marL="800100" lvl="1" indent="-342900">
              <a:buFont typeface="+mj-lt"/>
              <a:buAutoNum type="arabicPeriod"/>
            </a:pPr>
            <a:r>
              <a:rPr lang="es-ES" dirty="0"/>
              <a:t>El servidor busca esta página.</a:t>
            </a:r>
          </a:p>
          <a:p>
            <a:pPr marL="800100" lvl="1" indent="-342900">
              <a:buFont typeface="+mj-lt"/>
              <a:buAutoNum type="arabicPeriod"/>
            </a:pPr>
            <a:r>
              <a:rPr lang="es-ES" dirty="0"/>
              <a:t>En el caso de que se trate de una página web dinámica el servidor web contacta con el módulo responsable de ejecutar el código y se lo envía.</a:t>
            </a:r>
          </a:p>
          <a:p>
            <a:pPr marL="800100" lvl="1" indent="-342900">
              <a:buFont typeface="+mj-lt"/>
              <a:buAutoNum type="arabicPeriod"/>
            </a:pPr>
            <a:r>
              <a:rPr lang="es-ES" dirty="0"/>
              <a:t>Puede ser necesario obtener información de algún repositorio.</a:t>
            </a:r>
          </a:p>
          <a:p>
            <a:pPr marL="800100" lvl="1" indent="-342900">
              <a:buFont typeface="+mj-lt"/>
              <a:buAutoNum type="arabicPeriod"/>
            </a:pPr>
            <a:r>
              <a:rPr lang="es-ES" dirty="0"/>
              <a:t>El resultado de la ejecución será una página en formato HTML.</a:t>
            </a:r>
          </a:p>
          <a:p>
            <a:pPr marL="800100" lvl="1" indent="-342900">
              <a:buFont typeface="+mj-lt"/>
              <a:buAutoNum type="arabicPeriod"/>
            </a:pPr>
            <a:r>
              <a:rPr lang="es-ES" dirty="0"/>
              <a:t>El servidor web envía el resultado obtenido al navegador, que la procesa y muestra en pantalla.</a:t>
            </a:r>
          </a:p>
        </p:txBody>
      </p:sp>
    </p:spTree>
    <p:extLst>
      <p:ext uri="{BB962C8B-B14F-4D97-AF65-F5344CB8AC3E}">
        <p14:creationId xmlns:p14="http://schemas.microsoft.com/office/powerpoint/2010/main" val="18250682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FD0A3F2-79DA-5136-0F37-C8D9BA991BD4}"/>
              </a:ext>
            </a:extLst>
          </p:cNvPr>
          <p:cNvSpPr>
            <a:spLocks noGrp="1"/>
          </p:cNvSpPr>
          <p:nvPr>
            <p:ph type="title"/>
          </p:nvPr>
        </p:nvSpPr>
        <p:spPr/>
        <p:txBody>
          <a:bodyPr/>
          <a:lstStyle/>
          <a:p>
            <a:pPr algn="ctr"/>
            <a:r>
              <a:rPr lang="es-ES" b="1" dirty="0"/>
              <a:t>1.1.1.- Aplicaciones web </a:t>
            </a:r>
          </a:p>
        </p:txBody>
      </p:sp>
      <p:sp>
        <p:nvSpPr>
          <p:cNvPr id="3" name="CuadroTexto 2">
            <a:extLst>
              <a:ext uri="{FF2B5EF4-FFF2-40B4-BE49-F238E27FC236}">
                <a16:creationId xmlns:a16="http://schemas.microsoft.com/office/drawing/2014/main" id="{21FF97FA-4FF2-0F93-370E-3474E640436D}"/>
              </a:ext>
            </a:extLst>
          </p:cNvPr>
          <p:cNvSpPr txBox="1"/>
          <p:nvPr/>
        </p:nvSpPr>
        <p:spPr>
          <a:xfrm>
            <a:off x="1465729" y="1815353"/>
            <a:ext cx="9345706" cy="646331"/>
          </a:xfrm>
          <a:prstGeom prst="rect">
            <a:avLst/>
          </a:prstGeom>
          <a:noFill/>
        </p:spPr>
        <p:txBody>
          <a:bodyPr wrap="square" rtlCol="0">
            <a:spAutoFit/>
          </a:bodyPr>
          <a:lstStyle/>
          <a:p>
            <a:pPr algn="just"/>
            <a:r>
              <a:rPr lang="es-ES" dirty="0"/>
              <a:t>Las aplicaciones web emplean páginas web dinámicas para crear aplicaciones que se ejecuten en un servidor web y se muestren en un navegador. </a:t>
            </a:r>
          </a:p>
        </p:txBody>
      </p:sp>
      <p:graphicFrame>
        <p:nvGraphicFramePr>
          <p:cNvPr id="4" name="Tabla 3">
            <a:extLst>
              <a:ext uri="{FF2B5EF4-FFF2-40B4-BE49-F238E27FC236}">
                <a16:creationId xmlns:a16="http://schemas.microsoft.com/office/drawing/2014/main" id="{E700C6A4-515F-9225-D98E-051E4375DB01}"/>
              </a:ext>
            </a:extLst>
          </p:cNvPr>
          <p:cNvGraphicFramePr>
            <a:graphicFrameLocks noGrp="1"/>
          </p:cNvGraphicFramePr>
          <p:nvPr>
            <p:extLst>
              <p:ext uri="{D42A27DB-BD31-4B8C-83A1-F6EECF244321}">
                <p14:modId xmlns:p14="http://schemas.microsoft.com/office/powerpoint/2010/main" val="1741815085"/>
              </p:ext>
            </p:extLst>
          </p:nvPr>
        </p:nvGraphicFramePr>
        <p:xfrm>
          <a:off x="2032000" y="2738755"/>
          <a:ext cx="8128000" cy="375412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3045881933"/>
                    </a:ext>
                  </a:extLst>
                </a:gridCol>
                <a:gridCol w="4064000">
                  <a:extLst>
                    <a:ext uri="{9D8B030D-6E8A-4147-A177-3AD203B41FA5}">
                      <a16:colId xmlns:a16="http://schemas.microsoft.com/office/drawing/2014/main" val="3280495194"/>
                    </a:ext>
                  </a:extLst>
                </a:gridCol>
              </a:tblGrid>
              <a:tr h="370840">
                <a:tc>
                  <a:txBody>
                    <a:bodyPr/>
                    <a:lstStyle/>
                    <a:p>
                      <a:pPr algn="ctr"/>
                      <a:r>
                        <a:rPr lang="es-ES" dirty="0"/>
                        <a:t>VENTAJAS</a:t>
                      </a:r>
                    </a:p>
                  </a:txBody>
                  <a:tcPr/>
                </a:tc>
                <a:tc>
                  <a:txBody>
                    <a:bodyPr/>
                    <a:lstStyle/>
                    <a:p>
                      <a:pPr algn="ctr"/>
                      <a:r>
                        <a:rPr lang="es-ES" dirty="0"/>
                        <a:t>INCONVENIENTES</a:t>
                      </a:r>
                    </a:p>
                  </a:txBody>
                  <a:tcPr/>
                </a:tc>
                <a:extLst>
                  <a:ext uri="{0D108BD9-81ED-4DB2-BD59-A6C34878D82A}">
                    <a16:rowId xmlns:a16="http://schemas.microsoft.com/office/drawing/2014/main" val="1579884731"/>
                  </a:ext>
                </a:extLst>
              </a:tr>
              <a:tr h="370840">
                <a:tc>
                  <a:txBody>
                    <a:bodyPr/>
                    <a:lstStyle/>
                    <a:p>
                      <a:pPr algn="just"/>
                      <a:r>
                        <a:rPr lang="es-ES" dirty="0"/>
                        <a:t>No es necesario instalarlas en aquellos equipos en que se vayan a utilizar.</a:t>
                      </a:r>
                    </a:p>
                  </a:txBody>
                  <a:tcPr/>
                </a:tc>
                <a:tc>
                  <a:txBody>
                    <a:bodyPr/>
                    <a:lstStyle/>
                    <a:p>
                      <a:pPr algn="just"/>
                      <a:r>
                        <a:rPr lang="es-ES" dirty="0"/>
                        <a:t> La interface de usuario de las aplicaciones web es la página que se muestra en el navegador.</a:t>
                      </a:r>
                    </a:p>
                  </a:txBody>
                  <a:tcPr/>
                </a:tc>
                <a:extLst>
                  <a:ext uri="{0D108BD9-81ED-4DB2-BD59-A6C34878D82A}">
                    <a16:rowId xmlns:a16="http://schemas.microsoft.com/office/drawing/2014/main" val="345288039"/>
                  </a:ext>
                </a:extLst>
              </a:tr>
              <a:tr h="370840">
                <a:tc>
                  <a:txBody>
                    <a:bodyPr/>
                    <a:lstStyle/>
                    <a:p>
                      <a:pPr algn="just"/>
                      <a:r>
                        <a:rPr lang="es-ES" dirty="0"/>
                        <a:t> es muy sencillo gestionarlas </a:t>
                      </a:r>
                    </a:p>
                  </a:txBody>
                  <a:tcPr/>
                </a:tc>
                <a:tc>
                  <a:txBody>
                    <a:bodyPr/>
                    <a:lstStyle/>
                    <a:p>
                      <a:pPr algn="just"/>
                      <a:r>
                        <a:rPr lang="es-ES" dirty="0"/>
                        <a:t>Dependemos de una conexión con el servidor para poder utilizarlas.</a:t>
                      </a:r>
                    </a:p>
                  </a:txBody>
                  <a:tcPr/>
                </a:tc>
                <a:extLst>
                  <a:ext uri="{0D108BD9-81ED-4DB2-BD59-A6C34878D82A}">
                    <a16:rowId xmlns:a16="http://schemas.microsoft.com/office/drawing/2014/main" val="2674701947"/>
                  </a:ext>
                </a:extLst>
              </a:tr>
              <a:tr h="370840">
                <a:tc>
                  <a:txBody>
                    <a:bodyPr/>
                    <a:lstStyle/>
                    <a:p>
                      <a:pPr algn="just"/>
                      <a:r>
                        <a:rPr lang="es-ES" dirty="0"/>
                        <a:t>Se pueden utilizar en todos aquellos sistemas que dispongan de un navegador web, </a:t>
                      </a:r>
                    </a:p>
                  </a:txBody>
                  <a:tcPr/>
                </a:tc>
                <a:tc>
                  <a:txBody>
                    <a:bodyPr/>
                    <a:lstStyle/>
                    <a:p>
                      <a:pPr algn="just"/>
                      <a:r>
                        <a:rPr lang="es-ES" dirty="0"/>
                        <a:t>La información que se muestra en el navegador debe transmitirse desde el servidor.</a:t>
                      </a:r>
                    </a:p>
                  </a:txBody>
                  <a:tcPr/>
                </a:tc>
                <a:extLst>
                  <a:ext uri="{0D108BD9-81ED-4DB2-BD59-A6C34878D82A}">
                    <a16:rowId xmlns:a16="http://schemas.microsoft.com/office/drawing/2014/main" val="3937974680"/>
                  </a:ext>
                </a:extLst>
              </a:tr>
              <a:tr h="370840">
                <a:tc>
                  <a:txBody>
                    <a:bodyPr/>
                    <a:lstStyle/>
                    <a:p>
                      <a:pPr algn="just"/>
                      <a:r>
                        <a:rPr lang="es-ES" dirty="0"/>
                        <a:t>Se pueden utilizar desde cualquier lugar en el que dispongamos de conexión con el servidor.</a:t>
                      </a:r>
                    </a:p>
                  </a:txBody>
                  <a:tcPr/>
                </a:tc>
                <a:tc>
                  <a:txBody>
                    <a:bodyPr/>
                    <a:lstStyle/>
                    <a:p>
                      <a:pPr algn="just"/>
                      <a:endParaRPr lang="es-ES" dirty="0"/>
                    </a:p>
                  </a:txBody>
                  <a:tcPr/>
                </a:tc>
                <a:extLst>
                  <a:ext uri="{0D108BD9-81ED-4DB2-BD59-A6C34878D82A}">
                    <a16:rowId xmlns:a16="http://schemas.microsoft.com/office/drawing/2014/main" val="3151239162"/>
                  </a:ext>
                </a:extLst>
              </a:tr>
            </a:tbl>
          </a:graphicData>
        </a:graphic>
      </p:graphicFrame>
    </p:spTree>
    <p:extLst>
      <p:ext uri="{BB962C8B-B14F-4D97-AF65-F5344CB8AC3E}">
        <p14:creationId xmlns:p14="http://schemas.microsoft.com/office/powerpoint/2010/main" val="31966047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6C02A4-EA30-A1B1-CBA1-AF09FD2248EF}"/>
              </a:ext>
            </a:extLst>
          </p:cNvPr>
          <p:cNvSpPr>
            <a:spLocks noGrp="1"/>
          </p:cNvSpPr>
          <p:nvPr>
            <p:ph type="title"/>
          </p:nvPr>
        </p:nvSpPr>
        <p:spPr/>
        <p:txBody>
          <a:bodyPr/>
          <a:lstStyle/>
          <a:p>
            <a:pPr algn="ctr"/>
            <a:r>
              <a:rPr lang="es-ES" sz="4400" b="1" i="0" u="none" strike="noStrike" baseline="0" dirty="0">
                <a:solidFill>
                  <a:srgbClr val="000000"/>
                </a:solidFill>
                <a:latin typeface="Times New Roman" panose="02020603050405020304" pitchFamily="18" charset="0"/>
              </a:rPr>
              <a:t>1.2.- Ejecución de código en el servidor y en el cliente </a:t>
            </a:r>
            <a:endParaRPr lang="es-ES" dirty="0"/>
          </a:p>
        </p:txBody>
      </p:sp>
      <p:sp>
        <p:nvSpPr>
          <p:cNvPr id="3" name="CuadroTexto 2">
            <a:extLst>
              <a:ext uri="{FF2B5EF4-FFF2-40B4-BE49-F238E27FC236}">
                <a16:creationId xmlns:a16="http://schemas.microsoft.com/office/drawing/2014/main" id="{115D29B1-5255-EBF8-CEAB-32A15255A41A}"/>
              </a:ext>
            </a:extLst>
          </p:cNvPr>
          <p:cNvSpPr txBox="1"/>
          <p:nvPr/>
        </p:nvSpPr>
        <p:spPr>
          <a:xfrm>
            <a:off x="968188" y="2097741"/>
            <a:ext cx="9829800" cy="2862322"/>
          </a:xfrm>
          <a:prstGeom prst="rect">
            <a:avLst/>
          </a:prstGeom>
          <a:noFill/>
        </p:spPr>
        <p:txBody>
          <a:bodyPr wrap="square" rtlCol="0">
            <a:spAutoFit/>
          </a:bodyPr>
          <a:lstStyle/>
          <a:p>
            <a:r>
              <a:rPr lang="es-ES" dirty="0">
                <a:solidFill>
                  <a:srgbClr val="000000"/>
                </a:solidFill>
                <a:latin typeface="Times New Roman" panose="02020603050405020304" pitchFamily="18" charset="0"/>
              </a:rPr>
              <a:t>C</a:t>
            </a:r>
            <a:r>
              <a:rPr lang="es-ES" sz="1800" b="0" i="0" u="none" strike="noStrike" baseline="0" dirty="0">
                <a:solidFill>
                  <a:srgbClr val="000000"/>
                </a:solidFill>
                <a:latin typeface="Times New Roman" panose="02020603050405020304" pitchFamily="18" charset="0"/>
              </a:rPr>
              <a:t>uando tu navegador solicita a un servidor web una página, es posible que antes de enviártela haya tenido que ejecutar, por sí mismo o por delegación, algún programa para obtenerla. Ese programa es el que genera, en parte o en su totalidad, la página web que llega a tu equipo. En estos casos, </a:t>
            </a:r>
            <a:r>
              <a:rPr lang="es-ES" sz="1800" b="1" i="0" u="none" strike="noStrike" baseline="0" dirty="0">
                <a:solidFill>
                  <a:srgbClr val="000000"/>
                </a:solidFill>
                <a:latin typeface="Times New Roman" panose="02020603050405020304" pitchFamily="18" charset="0"/>
              </a:rPr>
              <a:t>el código se ejecuta en el entorno del servidor web</a:t>
            </a:r>
            <a:r>
              <a:rPr lang="es-ES" sz="1800" b="0" i="0" u="none" strike="noStrike" baseline="0" dirty="0">
                <a:solidFill>
                  <a:srgbClr val="000000"/>
                </a:solidFill>
                <a:latin typeface="Times New Roman" panose="02020603050405020304" pitchFamily="18" charset="0"/>
              </a:rPr>
              <a:t>. </a:t>
            </a:r>
          </a:p>
          <a:p>
            <a:endParaRPr lang="es-ES" dirty="0">
              <a:solidFill>
                <a:srgbClr val="000000"/>
              </a:solidFill>
              <a:latin typeface="Times New Roman" panose="02020603050405020304" pitchFamily="18" charset="0"/>
            </a:endParaRPr>
          </a:p>
          <a:p>
            <a:r>
              <a:rPr lang="es-ES" dirty="0"/>
              <a:t>Cuando una página web llega a tu navegador, es también posible que incluya algún programa o fragmentos de código que se deban ejecutar. Ese código, normalmente en lenguaje </a:t>
            </a:r>
            <a:r>
              <a:rPr lang="es-ES" b="1" dirty="0"/>
              <a:t>JavaScript, se ejecutará en tu navegador </a:t>
            </a:r>
            <a:r>
              <a:rPr lang="es-ES" dirty="0"/>
              <a:t>y, además de poder modificar el contenido de la página, también puede llevar a cabo acciones como la animación de textos u objetos de la página o la comprobación de los datos que introduces en un formulario. Complementándose una tecnología con otra</a:t>
            </a:r>
          </a:p>
        </p:txBody>
      </p:sp>
    </p:spTree>
    <p:extLst>
      <p:ext uri="{BB962C8B-B14F-4D97-AF65-F5344CB8AC3E}">
        <p14:creationId xmlns:p14="http://schemas.microsoft.com/office/powerpoint/2010/main" val="41286690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D5C959F-9FFF-F680-B5D3-F357AB094F99}"/>
              </a:ext>
            </a:extLst>
          </p:cNvPr>
          <p:cNvSpPr>
            <a:spLocks noGrp="1"/>
          </p:cNvSpPr>
          <p:nvPr>
            <p:ph type="title"/>
          </p:nvPr>
        </p:nvSpPr>
        <p:spPr/>
        <p:txBody>
          <a:bodyPr/>
          <a:lstStyle/>
          <a:p>
            <a:pPr algn="ctr"/>
            <a:r>
              <a:rPr lang="es-ES" sz="4400" b="1" i="0" u="none" strike="noStrike" baseline="0" dirty="0">
                <a:solidFill>
                  <a:srgbClr val="000000"/>
                </a:solidFill>
                <a:latin typeface="Times New Roman" panose="02020603050405020304" pitchFamily="18" charset="0"/>
              </a:rPr>
              <a:t>2.- Tecnologías para programación web del lado del servidor </a:t>
            </a:r>
            <a:endParaRPr lang="es-ES" dirty="0"/>
          </a:p>
        </p:txBody>
      </p:sp>
      <p:sp>
        <p:nvSpPr>
          <p:cNvPr id="3" name="CuadroTexto 2">
            <a:extLst>
              <a:ext uri="{FF2B5EF4-FFF2-40B4-BE49-F238E27FC236}">
                <a16:creationId xmlns:a16="http://schemas.microsoft.com/office/drawing/2014/main" id="{3AE80805-31B5-0FB9-B09B-E53E4924D032}"/>
              </a:ext>
            </a:extLst>
          </p:cNvPr>
          <p:cNvSpPr txBox="1"/>
          <p:nvPr/>
        </p:nvSpPr>
        <p:spPr>
          <a:xfrm>
            <a:off x="954741" y="1690688"/>
            <a:ext cx="10219765" cy="4801314"/>
          </a:xfrm>
          <a:prstGeom prst="rect">
            <a:avLst/>
          </a:prstGeom>
          <a:noFill/>
        </p:spPr>
        <p:txBody>
          <a:bodyPr wrap="square" rtlCol="0">
            <a:spAutoFit/>
          </a:bodyPr>
          <a:lstStyle/>
          <a:p>
            <a:r>
              <a:rPr lang="es-ES" sz="1800" b="0" i="0" u="none" strike="noStrike" baseline="0" dirty="0">
                <a:solidFill>
                  <a:srgbClr val="000000"/>
                </a:solidFill>
                <a:latin typeface="Times New Roman" panose="02020603050405020304" pitchFamily="18" charset="0"/>
              </a:rPr>
              <a:t>Los componentes principales con los que debes contar para ejecutar aplicaciones web en un servidor son los siguientes: </a:t>
            </a:r>
          </a:p>
          <a:p>
            <a:pPr algn="l"/>
            <a:r>
              <a:rPr lang="es-ES" sz="1800" b="0" i="0" u="none" strike="noStrike" baseline="0" dirty="0">
                <a:solidFill>
                  <a:srgbClr val="000000"/>
                </a:solidFill>
                <a:latin typeface="Wingdings" panose="05000000000000000000" pitchFamily="2" charset="2"/>
              </a:rPr>
              <a:t> </a:t>
            </a:r>
            <a:r>
              <a:rPr lang="es-ES" sz="1800" b="0" i="0" u="none" strike="noStrike" baseline="0" dirty="0">
                <a:solidFill>
                  <a:srgbClr val="000000"/>
                </a:solidFill>
                <a:latin typeface="Times New Roman" panose="02020603050405020304" pitchFamily="18" charset="0"/>
              </a:rPr>
              <a:t>Un </a:t>
            </a:r>
            <a:r>
              <a:rPr lang="es-ES" sz="1800" b="1" i="0" u="none" strike="noStrike" baseline="0" dirty="0">
                <a:solidFill>
                  <a:srgbClr val="000000"/>
                </a:solidFill>
                <a:latin typeface="Times New Roman" panose="02020603050405020304" pitchFamily="18" charset="0"/>
              </a:rPr>
              <a:t>servidor web </a:t>
            </a:r>
            <a:r>
              <a:rPr lang="es-ES" sz="1800" b="0" i="0" u="none" strike="noStrike" baseline="0" dirty="0">
                <a:solidFill>
                  <a:srgbClr val="000000"/>
                </a:solidFill>
                <a:latin typeface="Times New Roman" panose="02020603050405020304" pitchFamily="18" charset="0"/>
              </a:rPr>
              <a:t>para recibir las peticiones de los clientes web (normalmente navegadores) y enviarles la página que solicitan (una vez generada puesto que hablamos de páginas web dinámicas). El servidor web debe conocer el procedimiento a seguir para generar la página web: qué módulo se encargará de </a:t>
            </a:r>
            <a:endParaRPr lang="es-ES" sz="2000" b="0" i="0" u="none" strike="noStrike" baseline="0" dirty="0">
              <a:solidFill>
                <a:srgbClr val="000000"/>
              </a:solidFill>
              <a:latin typeface="Times New Roman" panose="02020603050405020304" pitchFamily="18" charset="0"/>
            </a:endParaRPr>
          </a:p>
          <a:p>
            <a:r>
              <a:rPr lang="es-ES" sz="1800" b="0" i="0" u="none" strike="noStrike" baseline="0" dirty="0">
                <a:solidFill>
                  <a:srgbClr val="000000"/>
                </a:solidFill>
                <a:latin typeface="Times New Roman" panose="02020603050405020304" pitchFamily="18" charset="0"/>
              </a:rPr>
              <a:t>la ejecución del código y cómo se debe comunicar con él. </a:t>
            </a:r>
          </a:p>
          <a:p>
            <a:endParaRPr lang="es-ES" sz="1800" b="0" i="0" u="none" strike="noStrike" baseline="0" dirty="0">
              <a:solidFill>
                <a:srgbClr val="000000"/>
              </a:solidFill>
              <a:latin typeface="Times New Roman" panose="02020603050405020304" pitchFamily="18" charset="0"/>
            </a:endParaRPr>
          </a:p>
          <a:p>
            <a:r>
              <a:rPr lang="es-ES" sz="1800" b="0" i="0" u="none" strike="noStrike" baseline="0" dirty="0">
                <a:solidFill>
                  <a:srgbClr val="000000"/>
                </a:solidFill>
                <a:latin typeface="Wingdings" panose="05000000000000000000" pitchFamily="2" charset="2"/>
              </a:rPr>
              <a:t> </a:t>
            </a:r>
            <a:r>
              <a:rPr lang="es-ES" sz="1800" b="0" i="0" u="none" strike="noStrike" baseline="0" dirty="0">
                <a:solidFill>
                  <a:srgbClr val="000000"/>
                </a:solidFill>
                <a:latin typeface="Times New Roman" panose="02020603050405020304" pitchFamily="18" charset="0"/>
              </a:rPr>
              <a:t>El </a:t>
            </a:r>
            <a:r>
              <a:rPr lang="es-ES" sz="1800" b="1" i="0" u="none" strike="noStrike" baseline="0" dirty="0">
                <a:solidFill>
                  <a:srgbClr val="000000"/>
                </a:solidFill>
                <a:latin typeface="Times New Roman" panose="02020603050405020304" pitchFamily="18" charset="0"/>
              </a:rPr>
              <a:t>módulo encargado de ejecutar el código </a:t>
            </a:r>
            <a:r>
              <a:rPr lang="es-ES" sz="1800" b="0" i="0" u="none" strike="noStrike" baseline="0" dirty="0">
                <a:solidFill>
                  <a:srgbClr val="000000"/>
                </a:solidFill>
                <a:latin typeface="Times New Roman" panose="02020603050405020304" pitchFamily="18" charset="0"/>
              </a:rPr>
              <a:t>o programa y generar la página web resultante. Este módulo debe integrarse de alguna forma con el servidor web, y dependerá del lenguaje y tecnología que utilicemos para programar la aplicación web. </a:t>
            </a:r>
          </a:p>
          <a:p>
            <a:endParaRPr lang="es-ES" sz="1800" b="0" i="0" u="none" strike="noStrike" baseline="0" dirty="0">
              <a:solidFill>
                <a:srgbClr val="000000"/>
              </a:solidFill>
              <a:latin typeface="Times New Roman" panose="02020603050405020304" pitchFamily="18" charset="0"/>
            </a:endParaRPr>
          </a:p>
          <a:p>
            <a:r>
              <a:rPr lang="es-ES" sz="1800" b="0" i="0" u="none" strike="noStrike" baseline="0" dirty="0">
                <a:solidFill>
                  <a:srgbClr val="000000"/>
                </a:solidFill>
                <a:latin typeface="Wingdings" panose="05000000000000000000" pitchFamily="2" charset="2"/>
              </a:rPr>
              <a:t> </a:t>
            </a:r>
            <a:r>
              <a:rPr lang="es-ES" sz="1800" b="0" i="0" u="none" strike="noStrike" baseline="0" dirty="0">
                <a:solidFill>
                  <a:srgbClr val="000000"/>
                </a:solidFill>
                <a:latin typeface="Times New Roman" panose="02020603050405020304" pitchFamily="18" charset="0"/>
              </a:rPr>
              <a:t>Una </a:t>
            </a:r>
            <a:r>
              <a:rPr lang="es-ES" sz="1800" b="1" i="0" u="none" strike="noStrike" baseline="0" dirty="0">
                <a:solidFill>
                  <a:srgbClr val="000000"/>
                </a:solidFill>
                <a:latin typeface="Times New Roman" panose="02020603050405020304" pitchFamily="18" charset="0"/>
              </a:rPr>
              <a:t>aplicación de base de datos</a:t>
            </a:r>
            <a:r>
              <a:rPr lang="es-ES" sz="1800" b="0" i="0" u="none" strike="noStrike" baseline="0" dirty="0">
                <a:solidFill>
                  <a:srgbClr val="000000"/>
                </a:solidFill>
                <a:latin typeface="Times New Roman" panose="02020603050405020304" pitchFamily="18" charset="0"/>
              </a:rPr>
              <a:t>, que normalmente también será un servidor. Este módulo no es estrictamente necesario pero en la práctica se utiliza en todas las aplicaciones web que utilizan grandes cantidades de datos para almacenarlos. </a:t>
            </a:r>
          </a:p>
          <a:p>
            <a:endParaRPr lang="es-ES" sz="1800" b="0" i="0" u="none" strike="noStrike" baseline="0" dirty="0">
              <a:solidFill>
                <a:srgbClr val="000000"/>
              </a:solidFill>
              <a:latin typeface="Times New Roman" panose="02020603050405020304" pitchFamily="18" charset="0"/>
            </a:endParaRPr>
          </a:p>
          <a:p>
            <a:r>
              <a:rPr lang="es-ES" sz="1800" b="0" i="0" u="none" strike="noStrike" baseline="0" dirty="0">
                <a:solidFill>
                  <a:srgbClr val="000000"/>
                </a:solidFill>
                <a:latin typeface="Wingdings" panose="05000000000000000000" pitchFamily="2" charset="2"/>
              </a:rPr>
              <a:t> </a:t>
            </a:r>
            <a:r>
              <a:rPr lang="es-ES" sz="1800" b="0" i="0" u="none" strike="noStrike" baseline="0" dirty="0">
                <a:solidFill>
                  <a:srgbClr val="000000"/>
                </a:solidFill>
                <a:latin typeface="Times New Roman" panose="02020603050405020304" pitchFamily="18" charset="0"/>
              </a:rPr>
              <a:t>El </a:t>
            </a:r>
            <a:r>
              <a:rPr lang="es-ES" sz="1800" b="1" i="0" u="none" strike="noStrike" baseline="0" dirty="0">
                <a:solidFill>
                  <a:srgbClr val="000000"/>
                </a:solidFill>
                <a:latin typeface="Times New Roman" panose="02020603050405020304" pitchFamily="18" charset="0"/>
              </a:rPr>
              <a:t>lenguaje de programación </a:t>
            </a:r>
            <a:r>
              <a:rPr lang="es-ES" sz="1800" b="0" i="0" u="none" strike="noStrike" baseline="0" dirty="0">
                <a:solidFill>
                  <a:srgbClr val="000000"/>
                </a:solidFill>
                <a:latin typeface="Times New Roman" panose="02020603050405020304" pitchFamily="18" charset="0"/>
              </a:rPr>
              <a:t>que utilizarás para desarrollar las aplicaciones. </a:t>
            </a:r>
          </a:p>
          <a:p>
            <a:endParaRPr lang="es-ES" sz="1800" b="0" i="0" u="none" strike="noStrike" baseline="0" dirty="0">
              <a:solidFill>
                <a:srgbClr val="000000"/>
              </a:solidFill>
              <a:latin typeface="Times New Roman" panose="02020603050405020304" pitchFamily="18" charset="0"/>
            </a:endParaRPr>
          </a:p>
        </p:txBody>
      </p:sp>
    </p:spTree>
    <p:extLst>
      <p:ext uri="{BB962C8B-B14F-4D97-AF65-F5344CB8AC3E}">
        <p14:creationId xmlns:p14="http://schemas.microsoft.com/office/powerpoint/2010/main" val="15533105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1785A5BF-3FC4-359B-65F1-7C8DFE678D57}"/>
              </a:ext>
            </a:extLst>
          </p:cNvPr>
          <p:cNvSpPr txBox="1"/>
          <p:nvPr/>
        </p:nvSpPr>
        <p:spPr>
          <a:xfrm>
            <a:off x="475129" y="1443841"/>
            <a:ext cx="11241741" cy="3970318"/>
          </a:xfrm>
          <a:prstGeom prst="rect">
            <a:avLst/>
          </a:prstGeom>
          <a:noFill/>
        </p:spPr>
        <p:txBody>
          <a:bodyPr wrap="square" rtlCol="0">
            <a:spAutoFit/>
          </a:bodyPr>
          <a:lstStyle/>
          <a:p>
            <a:r>
              <a:rPr lang="es-ES" sz="1800" b="0" i="0" u="none" strike="noStrike" baseline="0" dirty="0">
                <a:solidFill>
                  <a:srgbClr val="000000"/>
                </a:solidFill>
                <a:latin typeface="Times New Roman" panose="02020603050405020304" pitchFamily="18" charset="0"/>
              </a:rPr>
              <a:t>En una aplicación puedes distinguir, de forma general, </a:t>
            </a:r>
            <a:r>
              <a:rPr lang="es-ES" sz="1800" b="1" i="0" u="none" strike="noStrike" baseline="0" dirty="0">
                <a:solidFill>
                  <a:srgbClr val="000000"/>
                </a:solidFill>
                <a:latin typeface="Times New Roman" panose="02020603050405020304" pitchFamily="18" charset="0"/>
              </a:rPr>
              <a:t>funciones de presentación </a:t>
            </a:r>
            <a:r>
              <a:rPr lang="es-ES" sz="1800" b="0" i="0" u="none" strike="noStrike" baseline="0" dirty="0">
                <a:solidFill>
                  <a:srgbClr val="000000"/>
                </a:solidFill>
                <a:latin typeface="Times New Roman" panose="02020603050405020304" pitchFamily="18" charset="0"/>
              </a:rPr>
              <a:t>(se encarga de dar formato a los datos para presentárselo al usuario final), </a:t>
            </a:r>
            <a:r>
              <a:rPr lang="es-ES" sz="1800" b="1" i="0" u="none" strike="noStrike" baseline="0" dirty="0">
                <a:solidFill>
                  <a:srgbClr val="000000"/>
                </a:solidFill>
                <a:latin typeface="Times New Roman" panose="02020603050405020304" pitchFamily="18" charset="0"/>
              </a:rPr>
              <a:t>lógica </a:t>
            </a:r>
            <a:r>
              <a:rPr lang="es-ES" sz="1800" b="0" i="0" u="none" strike="noStrike" baseline="0" dirty="0">
                <a:solidFill>
                  <a:srgbClr val="000000"/>
                </a:solidFill>
                <a:latin typeface="Times New Roman" panose="02020603050405020304" pitchFamily="18" charset="0"/>
              </a:rPr>
              <a:t>(utiliza los datos para ejecutar un proceso y obtener un resultado), </a:t>
            </a:r>
            <a:r>
              <a:rPr lang="es-ES" sz="1800" b="1" i="0" u="none" strike="noStrike" baseline="0" dirty="0">
                <a:solidFill>
                  <a:srgbClr val="000000"/>
                </a:solidFill>
                <a:latin typeface="Times New Roman" panose="02020603050405020304" pitchFamily="18" charset="0"/>
              </a:rPr>
              <a:t>persistencia </a:t>
            </a:r>
            <a:r>
              <a:rPr lang="es-ES" sz="1800" b="0" i="0" u="none" strike="noStrike" baseline="0" dirty="0">
                <a:solidFill>
                  <a:srgbClr val="000000"/>
                </a:solidFill>
                <a:latin typeface="Times New Roman" panose="02020603050405020304" pitchFamily="18" charset="0"/>
              </a:rPr>
              <a:t>(que mantiene los datos almacenados de forma organizada) y </a:t>
            </a:r>
            <a:r>
              <a:rPr lang="es-ES" sz="1800" b="1" i="0" u="none" strike="noStrike" baseline="0" dirty="0">
                <a:solidFill>
                  <a:srgbClr val="000000"/>
                </a:solidFill>
                <a:latin typeface="Times New Roman" panose="02020603050405020304" pitchFamily="18" charset="0"/>
              </a:rPr>
              <a:t>acceso </a:t>
            </a:r>
            <a:r>
              <a:rPr lang="es-ES" sz="1800" b="0" i="0" u="none" strike="noStrike" baseline="0" dirty="0">
                <a:solidFill>
                  <a:srgbClr val="000000"/>
                </a:solidFill>
                <a:latin typeface="Times New Roman" panose="02020603050405020304" pitchFamily="18" charset="0"/>
              </a:rPr>
              <a:t>(que obtiene e introduce datos en el espacio de almacenamiento). </a:t>
            </a:r>
          </a:p>
          <a:p>
            <a:endParaRPr lang="es-ES" sz="1800" b="0" i="0" u="none" strike="noStrike" baseline="0" dirty="0">
              <a:solidFill>
                <a:srgbClr val="000000"/>
              </a:solidFill>
              <a:latin typeface="Times New Roman" panose="02020603050405020304" pitchFamily="18" charset="0"/>
            </a:endParaRPr>
          </a:p>
          <a:p>
            <a:r>
              <a:rPr lang="es-ES" sz="1800" b="0" i="0" u="none" strike="noStrike" baseline="0" dirty="0">
                <a:solidFill>
                  <a:srgbClr val="000000"/>
                </a:solidFill>
                <a:latin typeface="Times New Roman" panose="02020603050405020304" pitchFamily="18" charset="0"/>
              </a:rPr>
              <a:t>Cada capa puede ocuparse de una o varias de las funciones anteriores. Por ejemplo, en las aplicaciones de </a:t>
            </a:r>
            <a:r>
              <a:rPr lang="es-ES" sz="1800" b="1" i="0" u="none" strike="noStrike" baseline="0" dirty="0">
                <a:solidFill>
                  <a:srgbClr val="000000"/>
                </a:solidFill>
                <a:latin typeface="Times New Roman" panose="02020603050405020304" pitchFamily="18" charset="0"/>
              </a:rPr>
              <a:t>3 capas </a:t>
            </a:r>
            <a:r>
              <a:rPr lang="es-ES" sz="1800" b="0" i="0" u="none" strike="noStrike" baseline="0" dirty="0">
                <a:solidFill>
                  <a:srgbClr val="000000"/>
                </a:solidFill>
                <a:latin typeface="Times New Roman" panose="02020603050405020304" pitchFamily="18" charset="0"/>
              </a:rPr>
              <a:t>nos podemos encontrar con: </a:t>
            </a:r>
          </a:p>
          <a:p>
            <a:pPr marL="742950" lvl="1" indent="-285750">
              <a:buFont typeface="Wingdings" panose="05000000000000000000" pitchFamily="2" charset="2"/>
              <a:buChar char="ü"/>
            </a:pPr>
            <a:r>
              <a:rPr lang="es-ES" b="0" i="0" u="none" strike="noStrike" baseline="0" dirty="0">
                <a:solidFill>
                  <a:srgbClr val="000000"/>
                </a:solidFill>
                <a:latin typeface="Times New Roman" panose="02020603050405020304" pitchFamily="18" charset="0"/>
              </a:rPr>
              <a:t>Una </a:t>
            </a:r>
            <a:r>
              <a:rPr lang="es-ES" b="1" i="0" u="none" strike="noStrike" baseline="0" dirty="0">
                <a:solidFill>
                  <a:srgbClr val="000000"/>
                </a:solidFill>
                <a:latin typeface="Times New Roman" panose="02020603050405020304" pitchFamily="18" charset="0"/>
              </a:rPr>
              <a:t>capa cliente</a:t>
            </a:r>
            <a:r>
              <a:rPr lang="es-ES" b="0" i="0" u="none" strike="noStrike" baseline="0" dirty="0">
                <a:solidFill>
                  <a:srgbClr val="000000"/>
                </a:solidFill>
                <a:latin typeface="Times New Roman" panose="02020603050405020304" pitchFamily="18" charset="0"/>
              </a:rPr>
              <a:t>, que es donde programarás todo lo relacionado con la interface de usuario, esto es, la parte visible de la aplicación con la que interactuará el usuario. </a:t>
            </a:r>
          </a:p>
          <a:p>
            <a:pPr lvl="1"/>
            <a:endParaRPr lang="es-ES" b="0" i="0" u="none" strike="noStrike" baseline="0" dirty="0">
              <a:solidFill>
                <a:srgbClr val="000000"/>
              </a:solidFill>
              <a:latin typeface="Times New Roman" panose="02020603050405020304" pitchFamily="18" charset="0"/>
            </a:endParaRPr>
          </a:p>
          <a:p>
            <a:pPr marL="742950" lvl="1" indent="-285750">
              <a:buFont typeface="Wingdings" panose="05000000000000000000" pitchFamily="2" charset="2"/>
              <a:buChar char="ü"/>
            </a:pPr>
            <a:r>
              <a:rPr lang="es-ES" b="0" i="0" u="none" strike="noStrike" baseline="0" dirty="0">
                <a:solidFill>
                  <a:srgbClr val="000000"/>
                </a:solidFill>
                <a:latin typeface="Times New Roman" panose="02020603050405020304" pitchFamily="18" charset="0"/>
              </a:rPr>
              <a:t>Una </a:t>
            </a:r>
            <a:r>
              <a:rPr lang="es-ES" b="1" i="0" u="none" strike="noStrike" baseline="0" dirty="0">
                <a:solidFill>
                  <a:srgbClr val="000000"/>
                </a:solidFill>
                <a:latin typeface="Times New Roman" panose="02020603050405020304" pitchFamily="18" charset="0"/>
              </a:rPr>
              <a:t>capa intermedia </a:t>
            </a:r>
            <a:r>
              <a:rPr lang="es-ES" b="0" i="0" u="none" strike="noStrike" baseline="0" dirty="0">
                <a:solidFill>
                  <a:srgbClr val="000000"/>
                </a:solidFill>
                <a:latin typeface="Times New Roman" panose="02020603050405020304" pitchFamily="18" charset="0"/>
              </a:rPr>
              <a:t>donde deberás programar la funcionalidad de tu aplicación. </a:t>
            </a:r>
          </a:p>
          <a:p>
            <a:pPr lvl="1"/>
            <a:endParaRPr lang="es-ES" b="0" i="0" u="none" strike="noStrike" baseline="0" dirty="0">
              <a:solidFill>
                <a:srgbClr val="000000"/>
              </a:solidFill>
              <a:latin typeface="Times New Roman" panose="02020603050405020304" pitchFamily="18" charset="0"/>
            </a:endParaRPr>
          </a:p>
          <a:p>
            <a:pPr lvl="1"/>
            <a:r>
              <a:rPr lang="es-ES" b="0" i="0" u="none" strike="noStrike" baseline="0" dirty="0">
                <a:solidFill>
                  <a:srgbClr val="000000"/>
                </a:solidFill>
                <a:latin typeface="Wingdings" panose="05000000000000000000" pitchFamily="2" charset="2"/>
              </a:rPr>
              <a:t> </a:t>
            </a:r>
            <a:r>
              <a:rPr lang="es-ES" b="0" i="0" u="none" strike="noStrike" baseline="0" dirty="0">
                <a:solidFill>
                  <a:srgbClr val="000000"/>
                </a:solidFill>
                <a:latin typeface="Times New Roman" panose="02020603050405020304" pitchFamily="18" charset="0"/>
              </a:rPr>
              <a:t>Una </a:t>
            </a:r>
            <a:r>
              <a:rPr lang="es-ES" b="1" i="0" u="none" strike="noStrike" baseline="0" dirty="0">
                <a:solidFill>
                  <a:srgbClr val="000000"/>
                </a:solidFill>
                <a:latin typeface="Times New Roman" panose="02020603050405020304" pitchFamily="18" charset="0"/>
              </a:rPr>
              <a:t>capa de acceso a datos</a:t>
            </a:r>
            <a:r>
              <a:rPr lang="es-ES" b="0" i="0" u="none" strike="noStrike" baseline="0" dirty="0">
                <a:solidFill>
                  <a:srgbClr val="000000"/>
                </a:solidFill>
                <a:latin typeface="Times New Roman" panose="02020603050405020304" pitchFamily="18" charset="0"/>
              </a:rPr>
              <a:t>, que se tendrá que encargar de almacenar la información de la aplicación en una base de datos y recuperarla cuando sea necesario.</a:t>
            </a:r>
          </a:p>
        </p:txBody>
      </p:sp>
    </p:spTree>
    <p:extLst>
      <p:ext uri="{BB962C8B-B14F-4D97-AF65-F5344CB8AC3E}">
        <p14:creationId xmlns:p14="http://schemas.microsoft.com/office/powerpoint/2010/main" val="7758259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23803B2-3191-0404-3161-503A4453CA17}"/>
              </a:ext>
            </a:extLst>
          </p:cNvPr>
          <p:cNvSpPr>
            <a:spLocks noGrp="1"/>
          </p:cNvSpPr>
          <p:nvPr>
            <p:ph type="title"/>
          </p:nvPr>
        </p:nvSpPr>
        <p:spPr/>
        <p:txBody>
          <a:bodyPr/>
          <a:lstStyle/>
          <a:p>
            <a:pPr algn="ctr"/>
            <a:r>
              <a:rPr lang="es-ES" sz="4400" b="1" i="0" u="none" strike="noStrike" baseline="0" dirty="0">
                <a:solidFill>
                  <a:srgbClr val="000000"/>
                </a:solidFill>
                <a:latin typeface="Times New Roman" panose="02020603050405020304" pitchFamily="18" charset="0"/>
              </a:rPr>
              <a:t>2.1.- Arquitecturas y plataformas </a:t>
            </a:r>
            <a:endParaRPr lang="es-ES" dirty="0"/>
          </a:p>
        </p:txBody>
      </p:sp>
      <p:sp>
        <p:nvSpPr>
          <p:cNvPr id="3" name="CuadroTexto 2">
            <a:extLst>
              <a:ext uri="{FF2B5EF4-FFF2-40B4-BE49-F238E27FC236}">
                <a16:creationId xmlns:a16="http://schemas.microsoft.com/office/drawing/2014/main" id="{48D2336E-8319-649A-5FF2-88FF46D3CC82}"/>
              </a:ext>
            </a:extLst>
          </p:cNvPr>
          <p:cNvSpPr txBox="1"/>
          <p:nvPr/>
        </p:nvSpPr>
        <p:spPr>
          <a:xfrm>
            <a:off x="847165" y="1990165"/>
            <a:ext cx="10502153" cy="4001095"/>
          </a:xfrm>
          <a:prstGeom prst="rect">
            <a:avLst/>
          </a:prstGeom>
          <a:noFill/>
        </p:spPr>
        <p:txBody>
          <a:bodyPr wrap="square" rtlCol="0">
            <a:spAutoFit/>
          </a:bodyPr>
          <a:lstStyle/>
          <a:p>
            <a:r>
              <a:rPr lang="es-ES" sz="1800" b="0" i="0" u="none" strike="noStrike" baseline="0" dirty="0">
                <a:solidFill>
                  <a:srgbClr val="000000"/>
                </a:solidFill>
                <a:latin typeface="Times New Roman" panose="02020603050405020304" pitchFamily="18" charset="0"/>
              </a:rPr>
              <a:t>Hoy en día, puedes elegir entre: </a:t>
            </a:r>
          </a:p>
          <a:p>
            <a:r>
              <a:rPr lang="es-ES" sz="1800" b="0" i="0" u="none" strike="noStrike" baseline="0" dirty="0">
                <a:solidFill>
                  <a:srgbClr val="000000"/>
                </a:solidFill>
                <a:latin typeface="Wingdings" panose="05000000000000000000" pitchFamily="2" charset="2"/>
              </a:rPr>
              <a:t> </a:t>
            </a:r>
            <a:r>
              <a:rPr lang="es-ES" sz="1800" b="0" i="0" u="none" strike="noStrike" baseline="0" dirty="0">
                <a:solidFill>
                  <a:srgbClr val="000000"/>
                </a:solidFill>
                <a:latin typeface="Times New Roman" panose="02020603050405020304" pitchFamily="18" charset="0"/>
              </a:rPr>
              <a:t>Java EE (Enterprise </a:t>
            </a:r>
            <a:r>
              <a:rPr lang="es-ES" sz="1800" b="0" i="0" u="none" strike="noStrike" baseline="0" dirty="0" err="1">
                <a:solidFill>
                  <a:srgbClr val="000000"/>
                </a:solidFill>
                <a:latin typeface="Times New Roman" panose="02020603050405020304" pitchFamily="18" charset="0"/>
              </a:rPr>
              <a:t>Edition</a:t>
            </a:r>
            <a:r>
              <a:rPr lang="es-ES" sz="1800" b="0" i="0" u="none" strike="noStrike" baseline="0" dirty="0">
                <a:solidFill>
                  <a:srgbClr val="000000"/>
                </a:solidFill>
                <a:latin typeface="Times New Roman" panose="02020603050405020304" pitchFamily="18" charset="0"/>
              </a:rPr>
              <a:t>), que antes también se conocía como J2EE. Es una plataforma orientada a la programación de aplicaciones en lenguaje Java. Puede funcionar con distintos gestores de bases de datos, e incluye varias librerías y especificaciones para el desarrollo de aplicaciones de forma modular. </a:t>
            </a:r>
          </a:p>
          <a:p>
            <a:endParaRPr lang="es-ES" sz="1800" b="0" i="0" u="none" strike="noStrike" baseline="0" dirty="0">
              <a:solidFill>
                <a:srgbClr val="000000"/>
              </a:solidFill>
              <a:latin typeface="Times New Roman" panose="02020603050405020304" pitchFamily="18" charset="0"/>
            </a:endParaRPr>
          </a:p>
          <a:p>
            <a:pPr algn="l"/>
            <a:endParaRPr lang="es-ES" sz="2000" b="0" i="0" u="none" strike="noStrike" baseline="0" dirty="0">
              <a:solidFill>
                <a:srgbClr val="000000"/>
              </a:solidFill>
              <a:latin typeface="Times New Roman" panose="02020603050405020304" pitchFamily="18" charset="0"/>
            </a:endParaRPr>
          </a:p>
          <a:p>
            <a:pPr marL="285750" indent="-285750">
              <a:buFont typeface="Wingdings" panose="05000000000000000000" pitchFamily="2" charset="2"/>
              <a:buChar char="ü"/>
            </a:pPr>
            <a:r>
              <a:rPr lang="es-ES" sz="1800" b="0" i="0" u="none" strike="noStrike" baseline="0" dirty="0">
                <a:solidFill>
                  <a:srgbClr val="000000"/>
                </a:solidFill>
                <a:latin typeface="Times New Roman" panose="02020603050405020304" pitchFamily="18" charset="0"/>
              </a:rPr>
              <a:t>AMP. Son las siglas de Apache, MySQL y PHP/Perl/Python. Las dos primeras siglas hacen referencia al servidor web (Apache) y al servidor de base de datos (MySQL). La última se corresponde con el lenguaje de programación utilizado, que puede ser PHP, Perl o Python, siendo PHP el más empleado de los tres. Dependiendo del sistema operativo que se utilice para el servidor, se utilizan las siglas LAMP (para Linux), WAMP (para Windows) o MAMP (para Mac). También es posible usar otros componentes, como el gestor de bases de datos PostgreSQL en lugar de MySQL. </a:t>
            </a:r>
          </a:p>
          <a:p>
            <a:endParaRPr lang="es-ES" sz="1800" b="0" i="0" u="none" strike="noStrike" baseline="0" dirty="0">
              <a:solidFill>
                <a:srgbClr val="000000"/>
              </a:solidFill>
              <a:latin typeface="Times New Roman" panose="02020603050405020304" pitchFamily="18" charset="0"/>
            </a:endParaRPr>
          </a:p>
          <a:p>
            <a:endParaRPr lang="es-ES" sz="1800" b="0" i="0" u="none" strike="noStrike" baseline="0" dirty="0">
              <a:solidFill>
                <a:srgbClr val="000000"/>
              </a:solidFill>
              <a:latin typeface="Times New Roman" panose="02020603050405020304" pitchFamily="18" charset="0"/>
            </a:endParaRPr>
          </a:p>
        </p:txBody>
      </p:sp>
    </p:spTree>
    <p:extLst>
      <p:ext uri="{BB962C8B-B14F-4D97-AF65-F5344CB8AC3E}">
        <p14:creationId xmlns:p14="http://schemas.microsoft.com/office/powerpoint/2010/main" val="9298693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B49C9D92-EDE6-79A5-E4FC-AFD77306C67F}"/>
              </a:ext>
            </a:extLst>
          </p:cNvPr>
          <p:cNvSpPr txBox="1"/>
          <p:nvPr/>
        </p:nvSpPr>
        <p:spPr>
          <a:xfrm>
            <a:off x="340659" y="1967061"/>
            <a:ext cx="11510682" cy="2923877"/>
          </a:xfrm>
          <a:prstGeom prst="rect">
            <a:avLst/>
          </a:prstGeom>
          <a:noFill/>
        </p:spPr>
        <p:txBody>
          <a:bodyPr wrap="square" rtlCol="0">
            <a:spAutoFit/>
          </a:bodyPr>
          <a:lstStyle/>
          <a:p>
            <a:pPr algn="l"/>
            <a:endParaRPr lang="es-ES" sz="2000" b="0" i="0" u="none" strike="noStrike" baseline="0" dirty="0">
              <a:solidFill>
                <a:srgbClr val="000000"/>
              </a:solidFill>
              <a:latin typeface="Times New Roman" panose="02020603050405020304" pitchFamily="18" charset="0"/>
            </a:endParaRPr>
          </a:p>
          <a:p>
            <a:pPr marL="285750" indent="-285750">
              <a:buFont typeface="Wingdings" panose="05000000000000000000" pitchFamily="2" charset="2"/>
              <a:buChar char="ü"/>
            </a:pPr>
            <a:r>
              <a:rPr lang="es-ES" sz="1800" b="0" i="0" u="none" strike="noStrike" baseline="0" dirty="0">
                <a:solidFill>
                  <a:srgbClr val="000000"/>
                </a:solidFill>
                <a:latin typeface="Times New Roman" panose="02020603050405020304" pitchFamily="18" charset="0"/>
              </a:rPr>
              <a:t>CGI/Perl. Es la combinación de dos componentes: Perl, un potente lenguaje de código libre creado originalmente para la administración de servidores, y CGI, un estándar para permitir al servidor web ejecutar programas genéricos, escritos en cualquier lenguaje (también se pueden utilizar por ejemplo C o Python), que devuelven páginas web (HTML) como resultado de su ejecución. Es la más primitiva de las arquitecturas que comparamos aquí. </a:t>
            </a:r>
          </a:p>
          <a:p>
            <a:pPr marL="285750" indent="-285750">
              <a:buFont typeface="Wingdings" panose="05000000000000000000" pitchFamily="2" charset="2"/>
              <a:buChar char="ü"/>
            </a:pPr>
            <a:endParaRPr lang="es-ES" dirty="0">
              <a:solidFill>
                <a:srgbClr val="000000"/>
              </a:solidFill>
              <a:latin typeface="Times New Roman" panose="02020603050405020304" pitchFamily="18" charset="0"/>
            </a:endParaRPr>
          </a:p>
          <a:p>
            <a:pPr algn="l"/>
            <a:endParaRPr lang="es-ES" sz="2000" b="0" i="0" u="none" strike="noStrike" baseline="0" dirty="0">
              <a:solidFill>
                <a:srgbClr val="000000"/>
              </a:solidFill>
              <a:latin typeface="Times New Roman" panose="02020603050405020304" pitchFamily="18" charset="0"/>
            </a:endParaRPr>
          </a:p>
          <a:p>
            <a:pPr marL="285750" indent="-285750">
              <a:buFont typeface="Wingdings" panose="05000000000000000000" pitchFamily="2" charset="2"/>
              <a:buChar char="ü"/>
            </a:pPr>
            <a:r>
              <a:rPr lang="es-ES" sz="1800" b="0" i="0" u="none" strike="noStrike" baseline="0" dirty="0" err="1">
                <a:solidFill>
                  <a:srgbClr val="000000"/>
                </a:solidFill>
                <a:latin typeface="Times New Roman" panose="02020603050405020304" pitchFamily="18" charset="0"/>
              </a:rPr>
              <a:t>ASP.Net</a:t>
            </a:r>
            <a:r>
              <a:rPr lang="es-ES" sz="1800" b="0" i="0" u="none" strike="noStrike" baseline="0" dirty="0">
                <a:solidFill>
                  <a:srgbClr val="000000"/>
                </a:solidFill>
                <a:latin typeface="Times New Roman" panose="02020603050405020304" pitchFamily="18" charset="0"/>
              </a:rPr>
              <a:t> es la arquitectura comercial propuesta por Microsoft para el desarrollo de aplicaciones. Es la parte de la plataforma </a:t>
            </a:r>
            <a:r>
              <a:rPr lang="es-ES" sz="1800" b="0" i="0" u="none" strike="noStrike" baseline="0" dirty="0" err="1">
                <a:solidFill>
                  <a:srgbClr val="000000"/>
                </a:solidFill>
                <a:latin typeface="Times New Roman" panose="02020603050405020304" pitchFamily="18" charset="0"/>
              </a:rPr>
              <a:t>.Net</a:t>
            </a:r>
            <a:r>
              <a:rPr lang="es-ES" sz="1800" b="0" i="0" u="none" strike="noStrike" baseline="0" dirty="0">
                <a:solidFill>
                  <a:srgbClr val="000000"/>
                </a:solidFill>
                <a:latin typeface="Times New Roman" panose="02020603050405020304" pitchFamily="18" charset="0"/>
              </a:rPr>
              <a:t> destinada a la generación de páginas web dinámicas. Proviene de la evolución de la anterior tecnología de Microsoft, ASP. </a:t>
            </a:r>
          </a:p>
        </p:txBody>
      </p:sp>
    </p:spTree>
    <p:extLst>
      <p:ext uri="{BB962C8B-B14F-4D97-AF65-F5344CB8AC3E}">
        <p14:creationId xmlns:p14="http://schemas.microsoft.com/office/powerpoint/2010/main" val="31373431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A8576BC-6659-D9B2-F131-8149193FCC7D}"/>
              </a:ext>
            </a:extLst>
          </p:cNvPr>
          <p:cNvSpPr>
            <a:spLocks noGrp="1"/>
          </p:cNvSpPr>
          <p:nvPr>
            <p:ph type="title"/>
          </p:nvPr>
        </p:nvSpPr>
        <p:spPr/>
        <p:txBody>
          <a:bodyPr/>
          <a:lstStyle/>
          <a:p>
            <a:pPr algn="ctr"/>
            <a:r>
              <a:rPr lang="es-ES" sz="4400" b="1" i="0" u="none" strike="noStrike" baseline="0" dirty="0">
                <a:solidFill>
                  <a:srgbClr val="000000"/>
                </a:solidFill>
                <a:latin typeface="Times New Roman" panose="02020603050405020304" pitchFamily="18" charset="0"/>
              </a:rPr>
              <a:t>3.- Lenguajes </a:t>
            </a:r>
            <a:endParaRPr lang="es-ES" dirty="0"/>
          </a:p>
        </p:txBody>
      </p:sp>
      <p:sp>
        <p:nvSpPr>
          <p:cNvPr id="3" name="CuadroTexto 2">
            <a:extLst>
              <a:ext uri="{FF2B5EF4-FFF2-40B4-BE49-F238E27FC236}">
                <a16:creationId xmlns:a16="http://schemas.microsoft.com/office/drawing/2014/main" id="{82DA49A2-4F20-D210-F872-C6A9D182CFAE}"/>
              </a:ext>
            </a:extLst>
          </p:cNvPr>
          <p:cNvSpPr txBox="1"/>
          <p:nvPr/>
        </p:nvSpPr>
        <p:spPr>
          <a:xfrm>
            <a:off x="874059" y="2070847"/>
            <a:ext cx="10555941" cy="4308872"/>
          </a:xfrm>
          <a:prstGeom prst="rect">
            <a:avLst/>
          </a:prstGeom>
          <a:noFill/>
        </p:spPr>
        <p:txBody>
          <a:bodyPr wrap="square" rtlCol="0">
            <a:spAutoFit/>
          </a:bodyPr>
          <a:lstStyle/>
          <a:p>
            <a:pPr algn="l"/>
            <a:endParaRPr lang="es-ES" sz="2000" b="0" i="0" u="none" strike="noStrike" baseline="0" dirty="0">
              <a:solidFill>
                <a:srgbClr val="000000"/>
              </a:solidFill>
              <a:latin typeface="Wingdings" panose="05000000000000000000" pitchFamily="2" charset="2"/>
            </a:endParaRPr>
          </a:p>
          <a:p>
            <a:r>
              <a:rPr lang="es-ES" sz="1800" b="0" i="0" u="none" strike="noStrike" baseline="0" dirty="0">
                <a:solidFill>
                  <a:srgbClr val="000000"/>
                </a:solidFill>
                <a:latin typeface="Wingdings" panose="05000000000000000000" pitchFamily="2" charset="2"/>
              </a:rPr>
              <a:t> </a:t>
            </a:r>
            <a:r>
              <a:rPr lang="es-ES" sz="1800" b="1" i="0" u="none" strike="noStrike" baseline="0" dirty="0">
                <a:solidFill>
                  <a:srgbClr val="000000"/>
                </a:solidFill>
                <a:latin typeface="Times New Roman" panose="02020603050405020304" pitchFamily="18" charset="0"/>
              </a:rPr>
              <a:t>Lenguajes de guiones (scripting)</a:t>
            </a:r>
            <a:r>
              <a:rPr lang="es-ES" sz="1800" b="0" i="0" u="none" strike="noStrike" baseline="0" dirty="0">
                <a:solidFill>
                  <a:srgbClr val="000000"/>
                </a:solidFill>
                <a:latin typeface="Times New Roman" panose="02020603050405020304" pitchFamily="18" charset="0"/>
              </a:rPr>
              <a:t>. Son aquellos en los que los programas se ejecutan directamente a partir de su código fuente original. Se almacenan normalmente en un fichero de texto plano. Cuando el servidor web necesita ejecutar código programado en un lenguaje de guiones, le pasa la petición a un intérprete, que procesa las líneas del programa y genera como resultado una página web. </a:t>
            </a:r>
          </a:p>
          <a:p>
            <a:endParaRPr lang="es-ES" sz="1800" b="0" i="0" u="none" strike="noStrike" baseline="0" dirty="0">
              <a:solidFill>
                <a:srgbClr val="000000"/>
              </a:solidFill>
              <a:latin typeface="Times New Roman" panose="02020603050405020304" pitchFamily="18" charset="0"/>
            </a:endParaRPr>
          </a:p>
          <a:p>
            <a:pPr marL="285750" indent="-285750">
              <a:buFont typeface="Wingdings" panose="05000000000000000000" pitchFamily="2" charset="2"/>
              <a:buChar char="ü"/>
            </a:pPr>
            <a:r>
              <a:rPr lang="es-ES" sz="1800" b="1" i="0" u="none" strike="noStrike" baseline="0" dirty="0">
                <a:solidFill>
                  <a:srgbClr val="000000"/>
                </a:solidFill>
                <a:latin typeface="Times New Roman" panose="02020603050405020304" pitchFamily="18" charset="0"/>
              </a:rPr>
              <a:t>Lenguajes compilados a código nativo</a:t>
            </a:r>
            <a:r>
              <a:rPr lang="es-ES" sz="1800" b="0" i="0" u="none" strike="noStrike" baseline="0" dirty="0">
                <a:solidFill>
                  <a:srgbClr val="000000"/>
                </a:solidFill>
                <a:latin typeface="Times New Roman" panose="02020603050405020304" pitchFamily="18" charset="0"/>
              </a:rPr>
              <a:t>. Son aquellos en los que el código fuente se traduce a código binario, dependiente del procesador, antes de ser ejecutado. El servidor web almacena los programas en su modo binario, que ejecuta directamente cuando se les invoca.</a:t>
            </a:r>
          </a:p>
          <a:p>
            <a:pPr marL="285750" indent="-285750">
              <a:buFont typeface="Wingdings" panose="05000000000000000000" pitchFamily="2" charset="2"/>
              <a:buChar char="ü"/>
            </a:pPr>
            <a:endParaRPr lang="es-ES" dirty="0">
              <a:solidFill>
                <a:srgbClr val="000000"/>
              </a:solidFill>
              <a:latin typeface="Times New Roman" panose="02020603050405020304" pitchFamily="18" charset="0"/>
            </a:endParaRPr>
          </a:p>
          <a:p>
            <a:pPr algn="l"/>
            <a:endParaRPr lang="es-ES" sz="2000" b="0" i="0" u="none" strike="noStrike" baseline="0" dirty="0">
              <a:solidFill>
                <a:srgbClr val="000000"/>
              </a:solidFill>
              <a:latin typeface="Wingdings" panose="05000000000000000000" pitchFamily="2" charset="2"/>
            </a:endParaRPr>
          </a:p>
          <a:p>
            <a:r>
              <a:rPr lang="es-ES" sz="1800" b="0" i="0" u="none" strike="noStrike" baseline="0" dirty="0">
                <a:solidFill>
                  <a:srgbClr val="000000"/>
                </a:solidFill>
                <a:latin typeface="Wingdings" panose="05000000000000000000" pitchFamily="2" charset="2"/>
              </a:rPr>
              <a:t> </a:t>
            </a:r>
            <a:r>
              <a:rPr lang="es-ES" sz="1800" b="1" i="0" u="none" strike="noStrike" baseline="0" dirty="0">
                <a:solidFill>
                  <a:srgbClr val="000000"/>
                </a:solidFill>
                <a:latin typeface="Times New Roman" panose="02020603050405020304" pitchFamily="18" charset="0"/>
              </a:rPr>
              <a:t>Lenguajes compilados a código intermedio</a:t>
            </a:r>
            <a:r>
              <a:rPr lang="es-ES" sz="1800" b="0" i="0" u="none" strike="noStrike" baseline="0" dirty="0">
                <a:solidFill>
                  <a:srgbClr val="000000"/>
                </a:solidFill>
                <a:latin typeface="Times New Roman" panose="02020603050405020304" pitchFamily="18" charset="0"/>
              </a:rPr>
              <a:t>. Son lenguajes en los que el código fuente original se traduce a un código intermedio, independiente del procesador, antes de ser ejecutado. Es la forma en la que se ejecutan por ejemplo las aplicaciones programadas en Java, y lo que hace que puedan ejecutarse en varias plataformas distintas. </a:t>
            </a:r>
          </a:p>
        </p:txBody>
      </p:sp>
    </p:spTree>
    <p:extLst>
      <p:ext uri="{BB962C8B-B14F-4D97-AF65-F5344CB8AC3E}">
        <p14:creationId xmlns:p14="http://schemas.microsoft.com/office/powerpoint/2010/main" val="23887071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4FC024A3-E3F0-8F85-5821-15358466CFAD}"/>
              </a:ext>
            </a:extLst>
          </p:cNvPr>
          <p:cNvSpPr txBox="1"/>
          <p:nvPr/>
        </p:nvSpPr>
        <p:spPr>
          <a:xfrm>
            <a:off x="416859" y="389965"/>
            <a:ext cx="11564470" cy="5632311"/>
          </a:xfrm>
          <a:prstGeom prst="rect">
            <a:avLst/>
          </a:prstGeom>
          <a:noFill/>
        </p:spPr>
        <p:txBody>
          <a:bodyPr wrap="square" rtlCol="0">
            <a:spAutoFit/>
          </a:bodyPr>
          <a:lstStyle/>
          <a:p>
            <a:r>
              <a:rPr lang="es-ES" sz="1800" b="0" i="0" u="none" strike="noStrike" baseline="0" dirty="0">
                <a:solidFill>
                  <a:srgbClr val="000000"/>
                </a:solidFill>
                <a:latin typeface="Calibri" panose="020F0502020204030204" pitchFamily="34" charset="0"/>
              </a:rPr>
              <a:t>IES Suárez de Figueroa. 13 </a:t>
            </a:r>
            <a:r>
              <a:rPr lang="es-ES" sz="1800" b="0" i="0" u="none" strike="noStrike" baseline="0" dirty="0">
                <a:solidFill>
                  <a:srgbClr val="000000"/>
                </a:solidFill>
                <a:latin typeface="Times New Roman" panose="02020603050405020304" pitchFamily="18" charset="0"/>
              </a:rPr>
              <a:t>El método principal para ejecutar programas binarios desde un servidor web es CGI. Utilizando CGI podemos hacer que el servidor web ejecute código programado en cualquier lenguaje de propósito general como puede ser C. </a:t>
            </a:r>
          </a:p>
          <a:p>
            <a:r>
              <a:rPr lang="es-ES" sz="1800" b="0" i="0" u="none" strike="noStrike" baseline="0" dirty="0">
                <a:solidFill>
                  <a:srgbClr val="000000"/>
                </a:solidFill>
                <a:latin typeface="Wingdings" panose="05000000000000000000" pitchFamily="2" charset="2"/>
              </a:rPr>
              <a:t> </a:t>
            </a:r>
            <a:r>
              <a:rPr lang="es-ES" sz="1800" b="1" i="0" u="none" strike="noStrike" baseline="0" dirty="0">
                <a:solidFill>
                  <a:srgbClr val="000000"/>
                </a:solidFill>
                <a:latin typeface="Times New Roman" panose="02020603050405020304" pitchFamily="18" charset="0"/>
              </a:rPr>
              <a:t>Lenguajes compilados a código intermedio</a:t>
            </a:r>
            <a:r>
              <a:rPr lang="es-ES" sz="1800" b="0" i="0" u="none" strike="noStrike" baseline="0" dirty="0">
                <a:solidFill>
                  <a:srgbClr val="000000"/>
                </a:solidFill>
                <a:latin typeface="Times New Roman" panose="02020603050405020304" pitchFamily="18" charset="0"/>
              </a:rPr>
              <a:t>. Son lenguajes en los que el código fuente original se traduce a un código intermedio, independiente del procesador, antes de ser ejecutado. Es la forma en la que se ejecutan por ejemplo las aplicaciones programadas en Java, y lo que hace que puedan ejecutarse en varias plataformas distintas. </a:t>
            </a:r>
          </a:p>
          <a:p>
            <a:endParaRPr lang="es-ES" sz="1800" b="0" i="0" u="none" strike="noStrike" baseline="0" dirty="0">
              <a:solidFill>
                <a:srgbClr val="000000"/>
              </a:solidFill>
              <a:latin typeface="Times New Roman" panose="02020603050405020304" pitchFamily="18" charset="0"/>
            </a:endParaRPr>
          </a:p>
          <a:p>
            <a:r>
              <a:rPr lang="es-ES" sz="1800" b="0" i="0" u="none" strike="noStrike" baseline="0" dirty="0">
                <a:solidFill>
                  <a:srgbClr val="000000"/>
                </a:solidFill>
                <a:latin typeface="Wingdings" panose="05000000000000000000" pitchFamily="2" charset="2"/>
              </a:rPr>
              <a:t> </a:t>
            </a:r>
            <a:r>
              <a:rPr lang="es-ES" sz="1800" b="0" i="0" u="none" strike="noStrike" baseline="0" dirty="0">
                <a:solidFill>
                  <a:srgbClr val="000000"/>
                </a:solidFill>
                <a:latin typeface="Times New Roman" panose="02020603050405020304" pitchFamily="18" charset="0"/>
              </a:rPr>
              <a:t>Los lenguajes de guiones tienen la ventaja de que no es necesario traducir el código fuente original para ser ejecutados, lo que aumenta su portabilidad. Si se necesita realizar alguna modificación a un programa, se puede hacer en el momento. Por el contrario, el proceso de interpretación ofrece un peor rendimiento que las otras alternativas. </a:t>
            </a:r>
          </a:p>
          <a:p>
            <a:endParaRPr lang="es-ES" sz="1800" b="0" i="0" u="none" strike="noStrike" baseline="0" dirty="0">
              <a:solidFill>
                <a:srgbClr val="000000"/>
              </a:solidFill>
              <a:latin typeface="Times New Roman" panose="02020603050405020304" pitchFamily="18" charset="0"/>
            </a:endParaRPr>
          </a:p>
          <a:p>
            <a:r>
              <a:rPr lang="es-ES" sz="1800" b="0" i="0" u="none" strike="noStrike" baseline="0" dirty="0">
                <a:solidFill>
                  <a:srgbClr val="000000"/>
                </a:solidFill>
                <a:latin typeface="Wingdings" panose="05000000000000000000" pitchFamily="2" charset="2"/>
              </a:rPr>
              <a:t> </a:t>
            </a:r>
            <a:r>
              <a:rPr lang="es-ES" sz="1800" b="0" i="0" u="none" strike="noStrike" baseline="0" dirty="0">
                <a:solidFill>
                  <a:srgbClr val="000000"/>
                </a:solidFill>
                <a:latin typeface="Times New Roman" panose="02020603050405020304" pitchFamily="18" charset="0"/>
              </a:rPr>
              <a:t>Los lenguajes compilados a código nativo son los de mayor velocidad de ejecución, pero tienen problemas en lo relativo a su integración con el servidor web. Son programas de propósito general que no están pensados para ejecutarse en el entorno de un servidor web. Por ejemplo, no se reutilizan los procesos para atender a varias peticiones: por cada petición que se haga al servidor web, se debe ejecutar un nuevo proceso. Además los programas no son portables entre distintas plataformas. </a:t>
            </a:r>
          </a:p>
          <a:p>
            <a:endParaRPr lang="es-ES" sz="1800" b="0" i="0" u="none" strike="noStrike" baseline="0" dirty="0">
              <a:solidFill>
                <a:srgbClr val="000000"/>
              </a:solidFill>
              <a:latin typeface="Times New Roman" panose="02020603050405020304" pitchFamily="18" charset="0"/>
            </a:endParaRPr>
          </a:p>
          <a:p>
            <a:r>
              <a:rPr lang="es-ES" sz="1800" b="0" i="0" u="none" strike="noStrike" baseline="0" dirty="0">
                <a:solidFill>
                  <a:srgbClr val="000000"/>
                </a:solidFill>
                <a:latin typeface="Wingdings" panose="05000000000000000000" pitchFamily="2" charset="2"/>
              </a:rPr>
              <a:t> </a:t>
            </a:r>
            <a:r>
              <a:rPr lang="es-ES" sz="1800" b="0" i="0" u="none" strike="noStrike" baseline="0" dirty="0">
                <a:solidFill>
                  <a:srgbClr val="000000"/>
                </a:solidFill>
                <a:latin typeface="Times New Roman" panose="02020603050405020304" pitchFamily="18" charset="0"/>
              </a:rPr>
              <a:t>Los lenguajes compilados a código intermedio ofrecen un equilibrio entre las dos opciones anteriores. Su rendimiento es muy bueno y pueden portarse entre distintas plataformas en las que exista una implementación de la arquitectura (como un contenedor de </a:t>
            </a:r>
            <a:r>
              <a:rPr lang="es-ES" sz="1800" b="0" i="0" u="none" strike="noStrike" baseline="0" dirty="0" err="1">
                <a:solidFill>
                  <a:srgbClr val="000000"/>
                </a:solidFill>
                <a:latin typeface="Times New Roman" panose="02020603050405020304" pitchFamily="18" charset="0"/>
              </a:rPr>
              <a:t>servlets</a:t>
            </a:r>
            <a:r>
              <a:rPr lang="es-ES" sz="1800" b="0" i="0" u="none" strike="noStrike" baseline="0" dirty="0">
                <a:solidFill>
                  <a:srgbClr val="000000"/>
                </a:solidFill>
                <a:latin typeface="Times New Roman" panose="02020603050405020304" pitchFamily="18" charset="0"/>
              </a:rPr>
              <a:t> o un servidor de aplicaciones Java EE). </a:t>
            </a:r>
          </a:p>
        </p:txBody>
      </p:sp>
    </p:spTree>
    <p:extLst>
      <p:ext uri="{BB962C8B-B14F-4D97-AF65-F5344CB8AC3E}">
        <p14:creationId xmlns:p14="http://schemas.microsoft.com/office/powerpoint/2010/main" val="11737871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CC3D92-00A6-516C-9EF1-05C37D4A4753}"/>
              </a:ext>
            </a:extLst>
          </p:cNvPr>
          <p:cNvSpPr>
            <a:spLocks noGrp="1"/>
          </p:cNvSpPr>
          <p:nvPr>
            <p:ph type="title"/>
          </p:nvPr>
        </p:nvSpPr>
        <p:spPr/>
        <p:txBody>
          <a:bodyPr/>
          <a:lstStyle/>
          <a:p>
            <a:pPr algn="ctr"/>
            <a:r>
              <a:rPr lang="es-ES" sz="4400" b="1" i="0" u="none" strike="noStrike" baseline="0" dirty="0">
                <a:solidFill>
                  <a:srgbClr val="000000"/>
                </a:solidFill>
                <a:latin typeface="Times New Roman" panose="02020603050405020304" pitchFamily="18" charset="0"/>
              </a:rPr>
              <a:t>3.1.- Código embebido en el lenguaje de marcas </a:t>
            </a:r>
            <a:endParaRPr lang="es-ES" b="1" dirty="0"/>
          </a:p>
        </p:txBody>
      </p:sp>
      <p:sp>
        <p:nvSpPr>
          <p:cNvPr id="3" name="CuadroTexto 2">
            <a:extLst>
              <a:ext uri="{FF2B5EF4-FFF2-40B4-BE49-F238E27FC236}">
                <a16:creationId xmlns:a16="http://schemas.microsoft.com/office/drawing/2014/main" id="{34719E27-EA93-0BB3-CD01-DC5E49C0129A}"/>
              </a:ext>
            </a:extLst>
          </p:cNvPr>
          <p:cNvSpPr txBox="1"/>
          <p:nvPr/>
        </p:nvSpPr>
        <p:spPr>
          <a:xfrm>
            <a:off x="1396252" y="2245659"/>
            <a:ext cx="9399495" cy="923330"/>
          </a:xfrm>
          <a:prstGeom prst="rect">
            <a:avLst/>
          </a:prstGeom>
          <a:noFill/>
        </p:spPr>
        <p:txBody>
          <a:bodyPr wrap="square" rtlCol="0">
            <a:spAutoFit/>
          </a:bodyPr>
          <a:lstStyle/>
          <a:p>
            <a:r>
              <a:rPr lang="es-ES" dirty="0">
                <a:solidFill>
                  <a:srgbClr val="000000"/>
                </a:solidFill>
                <a:latin typeface="Times New Roman" panose="02020603050405020304" pitchFamily="18" charset="0"/>
              </a:rPr>
              <a:t>C</a:t>
            </a:r>
            <a:r>
              <a:rPr lang="es-ES" sz="1800" b="0" i="0" u="none" strike="noStrike" baseline="0" dirty="0">
                <a:solidFill>
                  <a:srgbClr val="000000"/>
                </a:solidFill>
                <a:latin typeface="Times New Roman" panose="02020603050405020304" pitchFamily="18" charset="0"/>
              </a:rPr>
              <a:t>onsiste en </a:t>
            </a:r>
            <a:r>
              <a:rPr lang="es-ES" sz="1800" b="1" i="0" u="none" strike="noStrike" baseline="0" dirty="0">
                <a:solidFill>
                  <a:srgbClr val="000000"/>
                </a:solidFill>
                <a:latin typeface="Times New Roman" panose="02020603050405020304" pitchFamily="18" charset="0"/>
              </a:rPr>
              <a:t>integrar el código del programa en medio de las etiquetas HTML de la página web</a:t>
            </a:r>
            <a:r>
              <a:rPr lang="es-ES" sz="1800" b="0" i="0" u="none" strike="noStrike" baseline="0" dirty="0">
                <a:solidFill>
                  <a:srgbClr val="000000"/>
                </a:solidFill>
                <a:latin typeface="Times New Roman" panose="02020603050405020304" pitchFamily="18" charset="0"/>
              </a:rPr>
              <a:t>. De esta forma, el contenido que no varía de la página se puede introducir directamente en HTML, y el lenguaje de programación se utilizará para todo aquello que pueda variar de forma dinámica. </a:t>
            </a:r>
            <a:endParaRPr lang="es-ES" dirty="0"/>
          </a:p>
        </p:txBody>
      </p:sp>
    </p:spTree>
    <p:extLst>
      <p:ext uri="{BB962C8B-B14F-4D97-AF65-F5344CB8AC3E}">
        <p14:creationId xmlns:p14="http://schemas.microsoft.com/office/powerpoint/2010/main" val="3175533829"/>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138</TotalTime>
  <Words>1773</Words>
  <Application>Microsoft Office PowerPoint</Application>
  <PresentationFormat>Panorámica</PresentationFormat>
  <Paragraphs>79</Paragraphs>
  <Slides>13</Slides>
  <Notes>0</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13</vt:i4>
      </vt:variant>
    </vt:vector>
  </HeadingPairs>
  <TitlesOfParts>
    <vt:vector size="19" baseType="lpstr">
      <vt:lpstr>Arial</vt:lpstr>
      <vt:lpstr>Calibri</vt:lpstr>
      <vt:lpstr>Calibri Light</vt:lpstr>
      <vt:lpstr>Times New Roman</vt:lpstr>
      <vt:lpstr>Wingdings</vt:lpstr>
      <vt:lpstr>Tema de Office</vt:lpstr>
      <vt:lpstr>1.- Características de la programación web </vt:lpstr>
      <vt:lpstr>Presentación de PowerPoint</vt:lpstr>
      <vt:lpstr>1.1.- Páginas web estáticas y dinámicas</vt:lpstr>
      <vt:lpstr>TIPOS DE PÁGINAS WEB DINÁMICAS</vt:lpstr>
      <vt:lpstr>1.1.1.- Aplicaciones web </vt:lpstr>
      <vt:lpstr>1.2.- Ejecución de código en el servidor y en el cliente </vt:lpstr>
      <vt:lpstr>2.- Tecnologías para programación web del lado del servidor </vt:lpstr>
      <vt:lpstr>Presentación de PowerPoint</vt:lpstr>
      <vt:lpstr>2.1.- Arquitecturas y plataformas </vt:lpstr>
      <vt:lpstr>Presentación de PowerPoint</vt:lpstr>
      <vt:lpstr>3.- Lenguajes </vt:lpstr>
      <vt:lpstr>Presentación de PowerPoint</vt:lpstr>
      <vt:lpstr>3.1.- Código embebido en el lenguaje de marcas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 Características de la programación web </dc:title>
  <dc:creator>Alumno_ciclo</dc:creator>
  <cp:lastModifiedBy>Raúl López Sánchez</cp:lastModifiedBy>
  <cp:revision>8</cp:revision>
  <dcterms:created xsi:type="dcterms:W3CDTF">2026-09-15T16:13:54Z</dcterms:created>
  <dcterms:modified xsi:type="dcterms:W3CDTF">2026-09-17T10:38:56Z</dcterms:modified>
</cp:coreProperties>
</file>